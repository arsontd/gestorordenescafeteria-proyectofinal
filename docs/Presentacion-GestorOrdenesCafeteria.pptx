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92524"/>
                </a:solidFill>
                <a:latin typeface="Calibri"/>
              </a:defRPr>
            </a:pPr>
            <a:r>
              <a:rPr sz="1300" b="0" i="0" u="none" strike="noStrike">
                <a:solidFill>
                  <a:srgbClr val="292524"/>
                </a:solidFill>
                <a:latin typeface="Calibri"/>
              </a:rPr>
              <a:t>Líneas de código por capa del servidor</a:t>
            </a:r>
          </a:p>
        </c:rich>
      </c:tx>
      <c:layout/>
      <c:overlay val="0"/>
    </c:title>
    <c:autoTitleDeleted val="0"/>
    <c:plotArea>
      <c:layout/>
      <c:barChart>
        <c:barDir val="col"/>
        <c:grouping val="clustered"/>
        <c:varyColors val="0"/>
        <c:ser>
          <c:idx val="0"/>
          <c:order val="0"/>
          <c:tx>
            <c:strRef>
              <c:f>Sheet1!$B$1</c:f>
              <c:strCache>
                <c:ptCount val="1"/>
                <c:pt idx="0">
                  <c:v>Líneas de código</c:v>
                </c:pt>
              </c:strCache>
            </c:strRef>
          </c:tx>
          <c:spPr>
            <a:solidFill>
              <a:srgbClr val="D97706"/>
            </a:solidFill>
            <a:effectLst/>
          </c:spPr>
          <c:invertIfNegative val="0"/>
          <c:dLbls>
            <c:numFmt formatCode="#,##0" sourceLinked="0"/>
            <c:txPr>
              <a:bodyPr/>
              <a:lstStyle/>
              <a:p>
                <a:pPr>
                  <a:defRPr b="0" i="0" strike="noStrike" sz="1100" u="none">
                    <a:solidFill>
                      <a:srgbClr val="2925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Dominio</c:v>
                  </c:pt>
                  <c:pt idx="1">
                    <c:v>Aplicación</c:v>
                  </c:pt>
                  <c:pt idx="2">
                    <c:v>Infraestructura</c:v>
                  </c:pt>
                  <c:pt idx="3">
                    <c:v>API</c:v>
                  </c:pt>
                </c:lvl>
              </c:multiLvlStrCache>
            </c:multiLvlStrRef>
          </c:cat>
          <c:val>
            <c:numRef>
              <c:f>Sheet1!$B$2:$B$5</c:f>
              <c:numCache>
                <c:formatCode>General</c:formatCode>
                <c:ptCount val="4"/>
                <c:pt idx="0">
                  <c:v>112</c:v>
                </c:pt>
                <c:pt idx="1">
                  <c:v>513</c:v>
                </c:pt>
                <c:pt idx="2">
                  <c:v>367</c:v>
                </c:pt>
                <c:pt idx="3">
                  <c:v>155</c:v>
                </c:pt>
              </c:numCache>
            </c:numRef>
          </c:val>
        </c:ser>
        <c:dLbls>
          <c:numFmt formatCode="#,##0" sourceLinked="0"/>
          <c:txPr>
            <a:bodyPr/>
            <a:lstStyle/>
            <a:p>
              <a:pPr>
                <a:defRPr b="0" i="0" strike="noStrike" sz="1100" u="none">
                  <a:solidFill>
                    <a:srgbClr val="2925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8716C"/>
                </a:solidFill>
                <a:latin typeface="Calibri"/>
              </a:defRPr>
            </a:pPr>
            <a:endParaRPr lang="en-US"/>
          </a:p>
        </c:txPr>
        <c:crossAx val="2094734552"/>
        <c:crosses val="autoZero"/>
        <c:auto val="1"/>
        <c:lblAlgn val="ctr"/>
        <c:noMultiLvlLbl val="1"/>
      </c:catAx>
      <c:valAx>
        <c:axId val="2094734552"/>
        <c:scaling>
          <c:orientation val="minMax"/>
          <c:max val="600"/>
        </c:scaling>
        <c:delete val="0"/>
        <c:axPos val="l"/>
        <c:majorGridlines>
          <c:spPr>
            <a:ln w="12700" cap="flat">
              <a:solidFill>
                <a:srgbClr val="E7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8716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Mi proyecto final es un Gestor de Órdenes para Cafetería.
Antes de entrar en el código quiero encuadrar una cosa: esto no es un CRUD de práctica. Es el reemplazo de un objeto físico concreto, la libreta donde una cafetería de barrio apunta los pedidos. Todo lo que van a ver a continuación existe porque resuelve un problema que esa libreta no puede resolver.
El sistema son tres procesos que corren por separado y se hablan por red: un cliente web hecho en React con TypeScript, un servidor de API en .NET 10 con C#, y una base de datos PostgreSQL. En el servidor el código está partido en cuatro capas con dependencias en un solo sentido.
En los próximos minutos voy por este orden: primero el problema, después la solución y los módulos, luego la arquitectura, después cómo se aplica la Programación Orientada a Objetos, y cierro con las reglas de negocio y los números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Empiezo por el problema, porque es lo que justifica cada decisión técnica que viene después.
Hablé con el escenario de una cafetería que atiende entre setenta y ciento veinte clientes al día, concentrados en dos picos: el desayuno y la media tarde. Las órdenes se apuntan en una libreta y el total se calcula a mano.
De ahí salen cuatro problemas. El primero, errores de suma: cada uno es dinero. El segundo, comandas perdidas: en hora pico dos personas escriben en la misma libreta y un pedido se cae. El tercero, precios inconsistentes: cada empleado recuerda una lista distinta. Y el cuarto, que para mí es el más grave a mediano plazo: no queda historial. Al cerrar la caja no se sabe qué se vendió.
Fíjense en un detalle: los cuatro son problemas de información, no de esfuerzo. Nadie los arregla trabajando más rápido. Por eso la solución es un sistema, no una libreta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central de todo el proyecto, y si se llevan una sola diapositiva, es esta.
El cajero solo captura dos cosas: qué producto y cuánta cantidad. Todo lo demás lo decide el sistema.
Primero: el total no se escribe. Se deriva de las líneas. No hay un campo de total editable, así que un error de suma es imposible por construcción.
Segundo: el precio queda congelado. Cuando creo la orden copio el precio del catálogo a la línea. Si mañana subo el café de noventa a cien pesos, la orden de hoy sigue diciendo noventa. Eso hace que el historial cuadre.
Tercero: los estados no se saltan. Y cuarto: nada entra sin validarse.
Y a la derecha está la decisión de arquitectura: las dieciséis reglas viven en el servidor, no en el navegador. Eso importa porque el navegador es código que el usuario controla. Si yo validara ahí, cualquiera con las herramientas de desarrollo podría crear una orden con cantidad negativa. Validando en el servidor, la regla se cumple venga la petición de donde venga.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tres módulos de la interfaz. Corresponden uno a uno con los tres recursos de la API.
Órdenes es el módulo principal, y es donde vive casi toda la lógica. El cajero abre el formulario, elige el cliente, y va agregando líneas: producto y cantidad, tantas como haga falta. Mientras escribe, la pantalla le muestra el total calculado en vivo. Quiero aclarar una cosa: ese total en vivo es solo retroalimentación visual para el cajero. El importe que se guarda es siempre el que calcula el servidor. Si los dos no coincidieran, el que manda es el del servidor.
Productos es el catálogo. Lo importante aquí es la marca de disponibilidad: cuando se acaba el cheesecake no se borra el producto, se marca como no disponible. Deja de aparecer en órdenes nuevas pero el historial queda intacto.
Clientes es el más simple. Trae un Cliente General predefinido para las ventas de mostrador, cuando la persona no quiere dar su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parte de arquitectura distribuida del requerimiento, y quiero ser preciso con la palabra.
Distribuido no significa "organizado en carpetas". Significa que son procesos separados, con memoria separada, que se comunican por red. Si mato el proceso del servidor, el navegador sigue abierto y me muestra un error de conexión, no se cierra. Si reinicio PostgreSQL, el servidor sigue vivo. Cada pieza se puede reiniciar, mover a otra máquina o reemplazar sin recompilar las otras dos.
Los tres nodos son: el navegador con React en el puerto 5173, el servidor .NET en el 5288, y PostgreSQL en el 5432. Entre el primero y el segundo se habla HTTP con mensajes JSON. Entre el segundo y el tercero, el protocolo nativo de PostgreSQL a través del driver Npgsql.
Y la consecuencia práctica está abajo: el navegador no conoce la base de datos. No tiene su dirección ni sus credenciales. Por eso mañana podría hacer una app de Android contra la misma API sin tocar el servidor.
Un detalle de implementación: para que el navegador pueda llamar al servidor desde otro puerto tuve que configurar CORS explícitamente, autorizando solo el origen del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separación de capas. Son cuatro proyectos de C# dentro de una misma solución, y lo importante no es que existan, sino la dirección de las flechas.
El Dominio, arriba, es el núcleo. Contiene las cuatro entidades del negocio, dos enumerados y el contrato de repositorio. Miren la última columna: depende de nada. Su archivo de proyecto no tiene ni una sola referencia externa. No sabe que existe HTTP, no sabe que existe SQL, no sabe que existe PostgreSQL. Y eso no es una convención que yo prometo respetar: es una restricción que el compilador verifica. Si mañana alguien intenta usar Entity Framework dentro del Dominio, el proyecto no compila.
La Aplicación tiene los casos de uso y es donde viven las dieciséis reglas de negocio. La Infraestructura tiene Entity Framework, el mapeo a tablas y las migraciones. Y la Presentación son los controladores REST.
¿Para qué sirve esto en la práctica? Si mañana la cafetería quiere cambiar de PostgreSQL a SQL Server, toco un proyecto: Infraestructura. El Dominio y la Aplicación no se enteran, porque hablan con interfaces, no con 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la Programación Orientada a Objetos. Tengo cuatro clases abstractas, una en cada capa, y ninguna está ahí para cumplir un requisito: cada una eliminó código repetido.
BaseEntity, en el Dominio, es la más simple: aporta la propiedad Id. Las cuatro entidades heredan de ella.
BaseRepository es la más interesante y quiero detenerme. Está declarada así: clase abstracta genérica de TEntity, con la restricción "where TEntity : BaseEntity". Esa restricción usa la clase abstracta como garantía de tipo: el compilador solo acepta como TEntity algo que herede de BaseEntity, lo que me asegura que toda entidad que pase por ahí tiene un Id. Gracias a eso puedo escribir el método ExistsAsync comparando e.Id contra el id, sin saber si estoy hablando de un cliente o de una orden. El resultado: seis operaciones CRUD escritas una vez, y mis tres repositorios concretos quedan en cinco líneas cada uno. Sin esto tendría dieciocho métodos en lugar de seis.
BaseService aporta ExecuteAsync, que envuelve toda operación en un try-catch, así ninguna excepción técnica llega al usuario. Y ApiControllerBase aporta ToResponse, que traduce el resultado al código HTTP.
Si me preguntan por métodos abstractos puros: aquí uso métodos virtuales en lugar de abstractos, porque las derivadas heredan una implementación que ya sirve. Donde sí sobrescribo es en OnModelCreating del contexto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otros tres pilares, en una diapositiva.
Herencia. Tengo tres jerarquías de clases: las entidades, los repositorios y los servicios con los controladores. Pero quiero destacar la cuarta línea, que es distinta: IOrdenRepository hereda de IBaseRepository de Orden y le añade dos consultas propias, las que cargan la orden con su cliente, sus líneas y sus productos. Eso es herencia entre interfaces, no entre clases. El contrato base se especializa sin tocarlo.
Interfaces: siete en total. Y hay una decisión de diseño que quiero que noten. IBaseRepository, el contrato de acceso a datos, está en el Dominio, no en Infraestructura. Eso significa que el núcleo del negocio declara cómo quiere ser persistido, y la Infraestructura obedece. Es la inversión de dependencias: la flecha apunta hacia adentro, no hacia afuera.
Encapsulamiento: gradué la visibilidad según quién debe ver cada cosa. Las dependencias son private readonly, así nadie las cambia después. Los campos de BaseRepository son protected, para que las hijas escriban sus propias consultas sin que el exterior los vea. Y ServiceResult solo se puede construir con Ok, Fail o NotFound, lo que hace imposible un objeto que diga "éxito" y traiga un mensaje de error al mismo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datos son cuatro tablas, y la cadena se lee así: un cliente tiene muchas órdenes, una orden tiene muchas líneas de detalle, y cada línea apunta a un producto.
Dos detalles del esquema que valen la pena.
Primero, la línea de detalle guarda PrecioUnitario y Subtotal como columnas propias. Alguien podría decir que eso es redundante, que el precio ya está en Productos. No lo es: es el precio congelado del que hablé antes. Si lo leyera de Productos cada vez, cambiar un precio reescribiría la historia de todas las ventas pasadas.
Segundo, y aquí está la decisión que más me gusta de todo el modelo: las políticas de borrado. Miren las tres tarjetas de abajo. De Orden a Detalles usé Cascade: si borro la orden, sus líneas se van con ella, porque una línea sin orden no significa nada. Pero de Cliente a Órdenes y de Producto a Detalles usé Restrict. Es decir: el motor de base de datos me prohíbe borrar un producto que aparezca en alguna venta.
¿Por qué? Porque si al eliminar el cheesecake desaparecieran las líneas que lo mencionan, los totales de órdenes pasadas dejarían de cuadrar con la suma de sus líneas. El historial de ventas es un registro contable. Para retirar un producto de la venta existe la marca de disponibilidad, que no toca el pasado.
Todo esto está en una migración de Entity Framework, versionada en el repositorio: cualquiera clona y reconstruye la base con un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caso de uso donde más se nota que las reglas están en el servidor.
Una orden tiene tres estados: Pendiente, Pagada y Cancelada. Nace siempre en Pendiente. Desde ahí hay exactamente dos salidas: o se cobra, y pasa a Pagada; o se cancela, y pasa a Cancelada. Las dos son finales, no hay regreso.
Para cobrar exijo un método de pago válido y sello la fecha y hora en UTC. Uso UTC a propósito, no la hora local: si el servidor se moviera de zona horaria, las órdenes viejas seguirían siendo comparables entre sí.
Y noten la decisión sobre Cancelada: cancelar no borra la orden, la marca. Queda en el historial. Si al final del mes hay muchas canceladas, alguien puede investigar por qué.
Abajo está lo que el servidor rechaza, y con un mensaje que explica el motivo, no un error genérico. No se puede cobrar algo ya cobrado. No se puede cancelar algo ya pagado, porque el dinero ya entró y la vuelta atrás sería una devolución, que es otra operación distinta. Y no se puede cancelar dos veces.
Esto está escrito una sola vez, en el servicio de órdenes. Si mañana hago la app móvil, no tengo que reimplementar nada de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dieciséis reglas, estas cinco son las que responden directamente al primer problema que planteé: los errores de dinero.
La primera ya la mencioné, pero la repito porque es la más importante: no hay campo de total. El total es una consecuencia de las líneas, no un dato que se captura. Un error de suma no es improbable, es imposible.
La segunda, el precio congelado.
La tercera es una regla de coherencia: si el producto está agotado, rechazo la orden completa y digo cuál fue. No la acepto a medias.
La cuarta es técnica pero importante. Los importes se guardan como decimal de diez dígitos con dos decimales, no como número de punto flotante. Si usara punto flotante, ciento veinte más noventa podría darme doscientos nueve con noventa y nueve, porque el binario no representa exactamente los decimales. Con decimal eso no pasa. Cuando se habla de dinero, el tipo de dato es una decisión de negocio, no un detalle.
Y la quinta es la política de borrado restrictivo de la que hablé en el modelo de datos.
Todas estas viven en la capa de Aplicación, en los servicios. Son código puro, sin base de datos ni HTTP encima, y por eso son el lugar natural para escribir pruebas unitarias, que es lo próximo que quiero añadir.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contrato completo de la API: dieciséis operaciones sobre tres recursos. Está documentado con OpenAPI, así que en desarrollo se puede consultar y probar desde el navegador.
Clientes y Productos son CRUD estándar: listar, consultar uno, crear, actualizar, borrar.
Órdenes tiene seis, y las tres últimas son las interesantes. Fíjense en que "pagar" y "cancelar" son POST a una subruta, no un PUT sobre la orden. Esa fue una decisión consciente y la puedo defender.
Si hubiera puesto un PUT sobre la orden completa, el cliente me mandaría el objeto entero con el estado que quisiera, y yo tendría que adivinar qué intentó hacer. Un cliente malicioso, o simplemente con un bug, podría escribir el estado Pagada directamente sin pasar por la validación del método de pago.
Con POST barra pagar, la ruta expresa la intención del negocio. El servidor sabe exactamente qué se le está pidiendo y puede validar: ¿está pendiente? ¿el método de pago es válido? Si algo falla, devuelve 400 con el motivo.
Los códigos que uso son tres: 200 cuando sale bien, 400 cuando se violó una regla de negocio, y 404 cuando el recurso no existe. Esa traducción está en un solo lugar, ToResponse en ApiControllerBase, así que es imposible que dos controladores respondan distinto ante el mismo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repaso rápido del stack, con la justificación de cada pieza. No voy a leerlo todo, solo las tres decisiones que defiendo.
La primera: C# sobre .NET 10. Lo elegí porque el requerimiento pedía demostrar Programación Orientada a Objetos, y C# tiene el modelo completo: clases abstractas, genéricos con restricciones, interfaces, propiedades con visibilidad graduada. En un lenguaje más permisivo habría tenido que simular varias de esas cosas.
La segunda: Entity Framework Core con enfoque Code First. Eso significa que yo no escribí SQL para crear las tablas. Escribí las clases de C#, y el esquema de la base de datos se derivó de ellas mediante una migración. La ventaja práctica es que el modelo de objetos es la única fuente de verdad, y la migración queda versionada en Git: cualquiera clona el repositorio, corre un comando y tiene la base idéntica.
La tercera: TypeScript en el cliente, no JavaScript. Definí las interfaces de la respuesta de la API en un archivo de tipos, así que si mañana cambio el nombre de un campo en el servidor y olvido actualizar el cliente, la compilación falla antes de que el error llegue a un usuario.
Y PostgreSQL sobre otros motores, por los tipos decimales exactos de los que hablé.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Unos números para cerrar la parte técnica.
El proyecto son unas dos mil cuatrocientas líneas: mil ciento cuarenta y siete de C# en el servidor y mil trescientas dos de TypeScript en el cliente, repartidas en cincuenta archivos.
Pero la gráfica es lo que quiero comentar, porque dice algo sobre el diseño. Miren dónde está el peso: la capa de Aplicación es la más grande, con quinientas trece líneas. Ahí viven los casos de uso y las dieciséis reglas de negocio. Es exactamente donde debería estar el peso de un sistema de gestión.
Y miren el Dominio: ciento doce líneas. Es la capa más pequeña de las cuatro. Cuatro entidades, dos enumerados y un contrato de repositorio. Eso también es una señal buena: el núcleo del negocio es simple y no está contaminado con detalles de infraestructura.
La API, ciento cincuenta y cinco líneas para dieciséis endpoints, son unas diez líneas por operación. Eso es porque los controladores no hacen nada más que recibir, delegar al servicio y traducir el resultado. Toda la lógica está una capa más abajo.
A la derecha, el resumen: cuatro capas, tres procesos, dieciséis endpoints, dieciséis reglas, cuatro clases abstractas y siete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lo que no hice, porque creo que reconocer los límites es parte de presentar un proyecto honesto.
No hay autenticación. Ahora mismo cualquiera con acceso a la red puede consumir la API. Para un punto de venta en la red local de la cafetería eso es tolerable; para producción, no. Sería lo primero que añadiría, con dos roles: cajero y administrador.
No hay ITBIS ni comprobantes fiscales. Eso significa que el sistema sirve para control interno, no para facturación oficial. Es una decisión de alcance, no un olvido: la facturación fiscal dominicana tiene reglas de secuencia de NCF que merecen su propio módulo.
No hay pruebas automatizadas, y esa es la que más me pesa. Toda la verificación de las dieciséis reglas la hice a mano. La buena noticia es que la arquitectura lo hace fácil: los servicios son código puro, sin base de datos ni HTTP encima, así que se pueden probar en aislamiento con dependencias simuladas. Ese es el próximo paso concreto.
Y una nota de seguridad que quiero mencionar yo antes de que alguien la encuentre: la cadena de conexión con la contraseña de PostgreSQL está en el archivo de configuración dentro del repositorio público. Eso hay que moverlo a variables de entorno y rotar la contraseña.
El repositorio está público con todo el código, la migración y el documento de requerimientos. Muchas gracias, quedo abierto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9052560" y="4114800"/>
            <a:ext cx="4480560" cy="4480560"/>
          </a:xfrm>
          <a:prstGeom prst="ellipse">
            <a:avLst/>
          </a:prstGeom>
          <a:solidFill>
            <a:srgbClr val="D97706">
              <a:alpha val="12000"/>
            </a:srgbClr>
          </a:solidFill>
          <a:ln w="12700">
            <a:solidFill>
              <a:srgbClr val="333333"/>
            </a:solidFill>
            <a:prstDash val="solid"/>
          </a:ln>
        </p:spPr>
      </p:sp>
      <p:sp>
        <p:nvSpPr>
          <p:cNvPr id="3" name="Text 1"/>
          <p:cNvSpPr/>
          <p:nvPr/>
        </p:nvSpPr>
        <p:spPr>
          <a:xfrm>
            <a:off x="914400" y="1280160"/>
            <a:ext cx="10058400" cy="292608"/>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PROYECTO FINAL  ·  PROGRAMACIÓN ORIENTADA A OBJETOS</a:t>
            </a:r>
            <a:endParaRPr lang="en-US" sz="1200" dirty="0"/>
          </a:p>
        </p:txBody>
      </p:sp>
      <p:sp>
        <p:nvSpPr>
          <p:cNvPr id="4" name="Text 2"/>
          <p:cNvSpPr/>
          <p:nvPr/>
        </p:nvSpPr>
        <p:spPr>
          <a:xfrm>
            <a:off x="914400" y="1664208"/>
            <a:ext cx="1033272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Gestor de Órdenes</a:t>
            </a:r>
            <a:endParaRPr lang="en-US" sz="5000" dirty="0"/>
          </a:p>
        </p:txBody>
      </p:sp>
      <p:sp>
        <p:nvSpPr>
          <p:cNvPr id="5" name="Text 3"/>
          <p:cNvSpPr/>
          <p:nvPr/>
        </p:nvSpPr>
        <p:spPr>
          <a:xfrm>
            <a:off x="914400" y="2487168"/>
            <a:ext cx="10332720" cy="868680"/>
          </a:xfrm>
          <a:prstGeom prst="rect">
            <a:avLst/>
          </a:prstGeom>
          <a:noFill/>
          <a:ln/>
        </p:spPr>
        <p:txBody>
          <a:bodyPr wrap="square" lIns="0" tIns="0" rIns="0" bIns="0" rtlCol="0" anchor="ctr"/>
          <a:lstStyle/>
          <a:p>
            <a:pPr indent="0" marL="0">
              <a:buNone/>
            </a:pPr>
            <a:r>
              <a:rPr lang="en-US" sz="5000" b="1" dirty="0">
                <a:solidFill>
                  <a:srgbClr val="F59E0B"/>
                </a:solidFill>
                <a:latin typeface="Cambria" pitchFamily="34" charset="0"/>
                <a:ea typeface="Cambria" pitchFamily="34" charset="-122"/>
                <a:cs typeface="Cambria" pitchFamily="34" charset="-120"/>
              </a:rPr>
              <a:t>para Cafetería</a:t>
            </a:r>
            <a:endParaRPr lang="en-US" sz="5000" dirty="0"/>
          </a:p>
        </p:txBody>
      </p:sp>
      <p:sp>
        <p:nvSpPr>
          <p:cNvPr id="6" name="Text 4"/>
          <p:cNvSpPr/>
          <p:nvPr/>
        </p:nvSpPr>
        <p:spPr>
          <a:xfrm>
            <a:off x="914400" y="3566160"/>
            <a:ext cx="8046720" cy="777240"/>
          </a:xfrm>
          <a:prstGeom prst="rect">
            <a:avLst/>
          </a:prstGeom>
          <a:noFill/>
          <a:ln/>
        </p:spPr>
        <p:txBody>
          <a:bodyPr wrap="square" lIns="0" tIns="0" rIns="0" bIns="0" rtlCol="0" anchor="t"/>
          <a:lstStyle/>
          <a:p>
            <a:pPr indent="0" marL="0">
              <a:buNone/>
            </a:pPr>
            <a:r>
              <a:rPr lang="en-US" sz="1600" dirty="0">
                <a:solidFill>
                  <a:srgbClr val="E7DED8"/>
                </a:solidFill>
                <a:latin typeface="Calibri" pitchFamily="34" charset="0"/>
                <a:ea typeface="Calibri" pitchFamily="34" charset="-122"/>
                <a:cs typeface="Calibri" pitchFamily="34" charset="-120"/>
              </a:rPr>
              <a:t>Una aplicación web distribuida que reemplaza la libreta de la caja por un registro digital con las reglas del negocio dentro.</a:t>
            </a:r>
            <a:endParaRPr lang="en-US" sz="1600" dirty="0"/>
          </a:p>
        </p:txBody>
      </p:sp>
      <p:sp>
        <p:nvSpPr>
          <p:cNvPr id="7" name="Shape 5"/>
          <p:cNvSpPr/>
          <p:nvPr/>
        </p:nvSpPr>
        <p:spPr>
          <a:xfrm>
            <a:off x="914400" y="4617720"/>
            <a:ext cx="2606040" cy="402336"/>
          </a:xfrm>
          <a:prstGeom prst="roundRect">
            <a:avLst>
              <a:gd name="adj" fmla="val 22727"/>
            </a:avLst>
          </a:prstGeom>
          <a:solidFill>
            <a:srgbClr val="3E2A1D"/>
          </a:solidFill>
          <a:ln w="12700">
            <a:solidFill>
              <a:srgbClr val="5A4032"/>
            </a:solidFill>
            <a:prstDash val="solid"/>
          </a:ln>
        </p:spPr>
      </p:sp>
      <p:sp>
        <p:nvSpPr>
          <p:cNvPr id="8" name="Text 6"/>
          <p:cNvSpPr/>
          <p:nvPr/>
        </p:nvSpPr>
        <p:spPr>
          <a:xfrm>
            <a:off x="914400" y="4617720"/>
            <a:ext cx="2606040" cy="402336"/>
          </a:xfrm>
          <a:prstGeom prst="rect">
            <a:avLst/>
          </a:prstGeom>
          <a:noFill/>
          <a:ln/>
        </p:spPr>
        <p:txBody>
          <a:bodyPr wrap="square" lIns="0" tIns="0" rIns="0" bIns="0" rtlCol="0" anchor="ctr"/>
          <a:lstStyle/>
          <a:p>
            <a:pPr algn="ctr" indent="0" marL="0">
              <a:buNone/>
            </a:pPr>
            <a:r>
              <a:rPr lang="en-US" sz="1150" b="1" dirty="0">
                <a:solidFill>
                  <a:srgbClr val="E7DED8"/>
                </a:solidFill>
                <a:latin typeface="Calibri" pitchFamily="34" charset="0"/>
                <a:ea typeface="Calibri" pitchFamily="34" charset="-122"/>
                <a:cs typeface="Calibri" pitchFamily="34" charset="-120"/>
              </a:rPr>
              <a:t>.NET 10  ·  C#</a:t>
            </a:r>
            <a:endParaRPr lang="en-US" sz="1150" dirty="0"/>
          </a:p>
        </p:txBody>
      </p:sp>
      <p:sp>
        <p:nvSpPr>
          <p:cNvPr id="9" name="Shape 7"/>
          <p:cNvSpPr/>
          <p:nvPr/>
        </p:nvSpPr>
        <p:spPr>
          <a:xfrm>
            <a:off x="3703320" y="4617720"/>
            <a:ext cx="2606040" cy="402336"/>
          </a:xfrm>
          <a:prstGeom prst="roundRect">
            <a:avLst>
              <a:gd name="adj" fmla="val 22727"/>
            </a:avLst>
          </a:prstGeom>
          <a:solidFill>
            <a:srgbClr val="3E2A1D"/>
          </a:solidFill>
          <a:ln w="12700">
            <a:solidFill>
              <a:srgbClr val="5A4032"/>
            </a:solidFill>
            <a:prstDash val="solid"/>
          </a:ln>
        </p:spPr>
      </p:sp>
      <p:sp>
        <p:nvSpPr>
          <p:cNvPr id="10" name="Text 8"/>
          <p:cNvSpPr/>
          <p:nvPr/>
        </p:nvSpPr>
        <p:spPr>
          <a:xfrm>
            <a:off x="3703320" y="4617720"/>
            <a:ext cx="2606040" cy="402336"/>
          </a:xfrm>
          <a:prstGeom prst="rect">
            <a:avLst/>
          </a:prstGeom>
          <a:noFill/>
          <a:ln/>
        </p:spPr>
        <p:txBody>
          <a:bodyPr wrap="square" lIns="0" tIns="0" rIns="0" bIns="0" rtlCol="0" anchor="ctr"/>
          <a:lstStyle/>
          <a:p>
            <a:pPr algn="ctr" indent="0" marL="0">
              <a:buNone/>
            </a:pPr>
            <a:r>
              <a:rPr lang="en-US" sz="1150" b="1" dirty="0">
                <a:solidFill>
                  <a:srgbClr val="E7DED8"/>
                </a:solidFill>
                <a:latin typeface="Calibri" pitchFamily="34" charset="0"/>
                <a:ea typeface="Calibri" pitchFamily="34" charset="-122"/>
                <a:cs typeface="Calibri" pitchFamily="34" charset="-120"/>
              </a:rPr>
              <a:t>PostgreSQL  ·  EF Core</a:t>
            </a:r>
            <a:endParaRPr lang="en-US" sz="1150" dirty="0"/>
          </a:p>
        </p:txBody>
      </p:sp>
      <p:sp>
        <p:nvSpPr>
          <p:cNvPr id="11" name="Shape 9"/>
          <p:cNvSpPr/>
          <p:nvPr/>
        </p:nvSpPr>
        <p:spPr>
          <a:xfrm>
            <a:off x="6492240" y="4617720"/>
            <a:ext cx="2606040" cy="402336"/>
          </a:xfrm>
          <a:prstGeom prst="roundRect">
            <a:avLst>
              <a:gd name="adj" fmla="val 22727"/>
            </a:avLst>
          </a:prstGeom>
          <a:solidFill>
            <a:srgbClr val="3E2A1D"/>
          </a:solidFill>
          <a:ln w="12700">
            <a:solidFill>
              <a:srgbClr val="5A4032"/>
            </a:solidFill>
            <a:prstDash val="solid"/>
          </a:ln>
        </p:spPr>
      </p:sp>
      <p:sp>
        <p:nvSpPr>
          <p:cNvPr id="12" name="Text 10"/>
          <p:cNvSpPr/>
          <p:nvPr/>
        </p:nvSpPr>
        <p:spPr>
          <a:xfrm>
            <a:off x="6492240" y="4617720"/>
            <a:ext cx="2606040" cy="402336"/>
          </a:xfrm>
          <a:prstGeom prst="rect">
            <a:avLst/>
          </a:prstGeom>
          <a:noFill/>
          <a:ln/>
        </p:spPr>
        <p:txBody>
          <a:bodyPr wrap="square" lIns="0" tIns="0" rIns="0" bIns="0" rtlCol="0" anchor="ctr"/>
          <a:lstStyle/>
          <a:p>
            <a:pPr algn="ctr" indent="0" marL="0">
              <a:buNone/>
            </a:pPr>
            <a:r>
              <a:rPr lang="en-US" sz="1150" b="1" dirty="0">
                <a:solidFill>
                  <a:srgbClr val="E7DED8"/>
                </a:solidFill>
                <a:latin typeface="Calibri" pitchFamily="34" charset="0"/>
                <a:ea typeface="Calibri" pitchFamily="34" charset="-122"/>
                <a:cs typeface="Calibri" pitchFamily="34" charset="-120"/>
              </a:rPr>
              <a:t>React 19  ·  TypeScript</a:t>
            </a:r>
            <a:endParaRPr lang="en-US" sz="1150" dirty="0"/>
          </a:p>
        </p:txBody>
      </p:sp>
      <p:sp>
        <p:nvSpPr>
          <p:cNvPr id="13" name="Text 11"/>
          <p:cNvSpPr/>
          <p:nvPr/>
        </p:nvSpPr>
        <p:spPr>
          <a:xfrm>
            <a:off x="914400" y="5897880"/>
            <a:ext cx="10332720" cy="320040"/>
          </a:xfrm>
          <a:prstGeom prst="rect">
            <a:avLst/>
          </a:prstGeom>
          <a:noFill/>
          <a:ln/>
        </p:spPr>
        <p:txBody>
          <a:bodyPr wrap="square" lIns="0" tIns="0" rIns="0" bIns="0" rtlCol="0" anchor="ctr"/>
          <a:lstStyle/>
          <a:p>
            <a:pPr indent="0" marL="0">
              <a:buNone/>
            </a:pPr>
            <a:r>
              <a:rPr lang="en-US" sz="1100" dirty="0">
                <a:solidFill>
                  <a:srgbClr val="A89588"/>
                </a:solidFill>
                <a:latin typeface="Calibri" pitchFamily="34" charset="0"/>
                <a:ea typeface="Calibri" pitchFamily="34" charset="-122"/>
                <a:cs typeface="Calibri" pitchFamily="34" charset="-120"/>
              </a:rPr>
              <a:t>Anderson Tejeda   ·   github.com/ArsonTD/GestorOrdenesCafeteria-PROYECTOFINAL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Cuatro problemas que la libreta no resuelve</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El punto de partida: cómo se toman hoy las órdenes en una cafetería de barrio.</a:t>
            </a:r>
            <a:endParaRPr lang="en-US" sz="1400" dirty="0"/>
          </a:p>
        </p:txBody>
      </p:sp>
      <p:sp>
        <p:nvSpPr>
          <p:cNvPr id="4" name="Shape 2"/>
          <p:cNvSpPr/>
          <p:nvPr/>
        </p:nvSpPr>
        <p:spPr>
          <a:xfrm>
            <a:off x="566928" y="1783080"/>
            <a:ext cx="5413248" cy="2029968"/>
          </a:xfrm>
          <a:prstGeom prst="roundRect">
            <a:avLst>
              <a:gd name="adj" fmla="val 4054"/>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Shape 3"/>
          <p:cNvSpPr/>
          <p:nvPr/>
        </p:nvSpPr>
        <p:spPr>
          <a:xfrm>
            <a:off x="859536" y="2057400"/>
            <a:ext cx="365760" cy="365760"/>
          </a:xfrm>
          <a:prstGeom prst="ellipse">
            <a:avLst/>
          </a:prstGeom>
          <a:solidFill>
            <a:srgbClr val="D97706"/>
          </a:solidFill>
          <a:ln w="12700">
            <a:solidFill>
              <a:srgbClr val="D97706"/>
            </a:solidFill>
            <a:prstDash val="solid"/>
          </a:ln>
        </p:spPr>
      </p:sp>
      <p:sp>
        <p:nvSpPr>
          <p:cNvPr id="6" name="Text 4"/>
          <p:cNvSpPr/>
          <p:nvPr/>
        </p:nvSpPr>
        <p:spPr>
          <a:xfrm>
            <a:off x="859536" y="20574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2039112"/>
            <a:ext cx="4297680" cy="411480"/>
          </a:xfrm>
          <a:prstGeom prst="rect">
            <a:avLst/>
          </a:prstGeom>
          <a:noFill/>
          <a:ln/>
        </p:spPr>
        <p:txBody>
          <a:bodyPr wrap="square" lIns="0" tIns="0" rIns="0" bIns="0" rtlCol="0" anchor="ctr"/>
          <a:lstStyle/>
          <a:p>
            <a:pPr indent="0" marL="0">
              <a:buNone/>
            </a:pPr>
            <a:r>
              <a:rPr lang="en-US" sz="1700" b="1" dirty="0">
                <a:solidFill>
                  <a:srgbClr val="292524"/>
                </a:solidFill>
                <a:latin typeface="Calibri" pitchFamily="34" charset="0"/>
                <a:ea typeface="Calibri" pitchFamily="34" charset="-122"/>
                <a:cs typeface="Calibri" pitchFamily="34" charset="-120"/>
              </a:rPr>
              <a:t>Errores de suma</a:t>
            </a:r>
            <a:endParaRPr lang="en-US" sz="1700" dirty="0"/>
          </a:p>
        </p:txBody>
      </p:sp>
      <p:sp>
        <p:nvSpPr>
          <p:cNvPr id="8" name="Text 6"/>
          <p:cNvSpPr/>
          <p:nvPr/>
        </p:nvSpPr>
        <p:spPr>
          <a:xfrm>
            <a:off x="877824" y="2624328"/>
            <a:ext cx="4809744" cy="1051560"/>
          </a:xfrm>
          <a:prstGeom prst="rect">
            <a:avLst/>
          </a:prstGeom>
          <a:noFill/>
          <a:ln/>
        </p:spPr>
        <p:txBody>
          <a:bodyPr wrap="square" lIns="0" tIns="0" rIns="0" bIns="0" rtlCol="0" anchor="t"/>
          <a:lstStyle/>
          <a:p>
            <a:pPr indent="0" marL="0">
              <a:buNone/>
            </a:pPr>
            <a:r>
              <a:rPr lang="en-US" sz="1300" dirty="0">
                <a:solidFill>
                  <a:srgbClr val="78716C"/>
                </a:solidFill>
                <a:latin typeface="Calibri" pitchFamily="34" charset="0"/>
                <a:ea typeface="Calibri" pitchFamily="34" charset="-122"/>
                <a:cs typeface="Calibri" pitchFamily="34" charset="-120"/>
              </a:rPr>
              <a:t>El cobro se calcula de memoria o con calculadora de mano. Cada equivocación es dinero perdido, o un cliente molesto en la barra.</a:t>
            </a:r>
            <a:endParaRPr lang="en-US" sz="1300" dirty="0"/>
          </a:p>
        </p:txBody>
      </p:sp>
      <p:sp>
        <p:nvSpPr>
          <p:cNvPr id="9" name="Shape 7"/>
          <p:cNvSpPr/>
          <p:nvPr/>
        </p:nvSpPr>
        <p:spPr>
          <a:xfrm>
            <a:off x="6208776" y="1783080"/>
            <a:ext cx="5413248" cy="2029968"/>
          </a:xfrm>
          <a:prstGeom prst="roundRect">
            <a:avLst>
              <a:gd name="adj" fmla="val 4054"/>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0" name="Shape 8"/>
          <p:cNvSpPr/>
          <p:nvPr/>
        </p:nvSpPr>
        <p:spPr>
          <a:xfrm>
            <a:off x="6501384" y="2057400"/>
            <a:ext cx="365760" cy="365760"/>
          </a:xfrm>
          <a:prstGeom prst="ellipse">
            <a:avLst/>
          </a:prstGeom>
          <a:solidFill>
            <a:srgbClr val="D97706"/>
          </a:solidFill>
          <a:ln w="12700">
            <a:solidFill>
              <a:srgbClr val="D97706"/>
            </a:solidFill>
            <a:prstDash val="solid"/>
          </a:ln>
        </p:spPr>
      </p:sp>
      <p:sp>
        <p:nvSpPr>
          <p:cNvPr id="11" name="Text 9"/>
          <p:cNvSpPr/>
          <p:nvPr/>
        </p:nvSpPr>
        <p:spPr>
          <a:xfrm>
            <a:off x="6501384" y="20574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13448" y="2039112"/>
            <a:ext cx="4297680" cy="411480"/>
          </a:xfrm>
          <a:prstGeom prst="rect">
            <a:avLst/>
          </a:prstGeom>
          <a:noFill/>
          <a:ln/>
        </p:spPr>
        <p:txBody>
          <a:bodyPr wrap="square" lIns="0" tIns="0" rIns="0" bIns="0" rtlCol="0" anchor="ctr"/>
          <a:lstStyle/>
          <a:p>
            <a:pPr indent="0" marL="0">
              <a:buNone/>
            </a:pPr>
            <a:r>
              <a:rPr lang="en-US" sz="1700" b="1" dirty="0">
                <a:solidFill>
                  <a:srgbClr val="292524"/>
                </a:solidFill>
                <a:latin typeface="Calibri" pitchFamily="34" charset="0"/>
                <a:ea typeface="Calibri" pitchFamily="34" charset="-122"/>
                <a:cs typeface="Calibri" pitchFamily="34" charset="-120"/>
              </a:rPr>
              <a:t>Comandas perdidas</a:t>
            </a:r>
            <a:endParaRPr lang="en-US" sz="1700" dirty="0"/>
          </a:p>
        </p:txBody>
      </p:sp>
      <p:sp>
        <p:nvSpPr>
          <p:cNvPr id="13" name="Text 11"/>
          <p:cNvSpPr/>
          <p:nvPr/>
        </p:nvSpPr>
        <p:spPr>
          <a:xfrm>
            <a:off x="6519672" y="2624328"/>
            <a:ext cx="4809744" cy="1051560"/>
          </a:xfrm>
          <a:prstGeom prst="rect">
            <a:avLst/>
          </a:prstGeom>
          <a:noFill/>
          <a:ln/>
        </p:spPr>
        <p:txBody>
          <a:bodyPr wrap="square" lIns="0" tIns="0" rIns="0" bIns="0" rtlCol="0" anchor="t"/>
          <a:lstStyle/>
          <a:p>
            <a:pPr indent="0" marL="0">
              <a:buNone/>
            </a:pPr>
            <a:r>
              <a:rPr lang="en-US" sz="1300" dirty="0">
                <a:solidFill>
                  <a:srgbClr val="78716C"/>
                </a:solidFill>
                <a:latin typeface="Calibri" pitchFamily="34" charset="0"/>
                <a:ea typeface="Calibri" pitchFamily="34" charset="-122"/>
                <a:cs typeface="Calibri" pitchFamily="34" charset="-120"/>
              </a:rPr>
              <a:t>En hora pico dos personas escriben en la misma libreta. Un pedido se salta y el cliente espera algo que nadie está preparando.</a:t>
            </a:r>
            <a:endParaRPr lang="en-US" sz="1300" dirty="0"/>
          </a:p>
        </p:txBody>
      </p:sp>
      <p:sp>
        <p:nvSpPr>
          <p:cNvPr id="14" name="Shape 12"/>
          <p:cNvSpPr/>
          <p:nvPr/>
        </p:nvSpPr>
        <p:spPr>
          <a:xfrm>
            <a:off x="566928" y="3995928"/>
            <a:ext cx="5413248" cy="2029968"/>
          </a:xfrm>
          <a:prstGeom prst="roundRect">
            <a:avLst>
              <a:gd name="adj" fmla="val 4054"/>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Shape 13"/>
          <p:cNvSpPr/>
          <p:nvPr/>
        </p:nvSpPr>
        <p:spPr>
          <a:xfrm>
            <a:off x="859536" y="4270248"/>
            <a:ext cx="365760" cy="365760"/>
          </a:xfrm>
          <a:prstGeom prst="ellipse">
            <a:avLst/>
          </a:prstGeom>
          <a:solidFill>
            <a:srgbClr val="D97706"/>
          </a:solidFill>
          <a:ln w="12700">
            <a:solidFill>
              <a:srgbClr val="D97706"/>
            </a:solidFill>
            <a:prstDash val="solid"/>
          </a:ln>
        </p:spPr>
      </p:sp>
      <p:sp>
        <p:nvSpPr>
          <p:cNvPr id="16" name="Text 14"/>
          <p:cNvSpPr/>
          <p:nvPr/>
        </p:nvSpPr>
        <p:spPr>
          <a:xfrm>
            <a:off x="859536" y="4270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71600" y="4251960"/>
            <a:ext cx="4297680" cy="411480"/>
          </a:xfrm>
          <a:prstGeom prst="rect">
            <a:avLst/>
          </a:prstGeom>
          <a:noFill/>
          <a:ln/>
        </p:spPr>
        <p:txBody>
          <a:bodyPr wrap="square" lIns="0" tIns="0" rIns="0" bIns="0" rtlCol="0" anchor="ctr"/>
          <a:lstStyle/>
          <a:p>
            <a:pPr indent="0" marL="0">
              <a:buNone/>
            </a:pPr>
            <a:r>
              <a:rPr lang="en-US" sz="1700" b="1" dirty="0">
                <a:solidFill>
                  <a:srgbClr val="292524"/>
                </a:solidFill>
                <a:latin typeface="Calibri" pitchFamily="34" charset="0"/>
                <a:ea typeface="Calibri" pitchFamily="34" charset="-122"/>
                <a:cs typeface="Calibri" pitchFamily="34" charset="-120"/>
              </a:rPr>
              <a:t>Precios inconsistentes</a:t>
            </a:r>
            <a:endParaRPr lang="en-US" sz="1700" dirty="0"/>
          </a:p>
        </p:txBody>
      </p:sp>
      <p:sp>
        <p:nvSpPr>
          <p:cNvPr id="18" name="Text 16"/>
          <p:cNvSpPr/>
          <p:nvPr/>
        </p:nvSpPr>
        <p:spPr>
          <a:xfrm>
            <a:off x="877824" y="4837176"/>
            <a:ext cx="4809744" cy="1051560"/>
          </a:xfrm>
          <a:prstGeom prst="rect">
            <a:avLst/>
          </a:prstGeom>
          <a:noFill/>
          <a:ln/>
        </p:spPr>
        <p:txBody>
          <a:bodyPr wrap="square" lIns="0" tIns="0" rIns="0" bIns="0" rtlCol="0" anchor="t"/>
          <a:lstStyle/>
          <a:p>
            <a:pPr indent="0" marL="0">
              <a:buNone/>
            </a:pPr>
            <a:r>
              <a:rPr lang="en-US" sz="1300" dirty="0">
                <a:solidFill>
                  <a:srgbClr val="78716C"/>
                </a:solidFill>
                <a:latin typeface="Calibri" pitchFamily="34" charset="0"/>
                <a:ea typeface="Calibri" pitchFamily="34" charset="-122"/>
                <a:cs typeface="Calibri" pitchFamily="34" charset="-120"/>
              </a:rPr>
              <a:t>Cada empleado recuerda una lista distinta, y las promociones vencidas se siguen cobrando porque nadie las retiró a tiempo.</a:t>
            </a:r>
            <a:endParaRPr lang="en-US" sz="1300" dirty="0"/>
          </a:p>
        </p:txBody>
      </p:sp>
      <p:sp>
        <p:nvSpPr>
          <p:cNvPr id="19" name="Shape 17"/>
          <p:cNvSpPr/>
          <p:nvPr/>
        </p:nvSpPr>
        <p:spPr>
          <a:xfrm>
            <a:off x="6208776" y="3995928"/>
            <a:ext cx="5413248" cy="2029968"/>
          </a:xfrm>
          <a:prstGeom prst="roundRect">
            <a:avLst>
              <a:gd name="adj" fmla="val 4054"/>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0" name="Shape 18"/>
          <p:cNvSpPr/>
          <p:nvPr/>
        </p:nvSpPr>
        <p:spPr>
          <a:xfrm>
            <a:off x="6501384" y="4270248"/>
            <a:ext cx="365760" cy="365760"/>
          </a:xfrm>
          <a:prstGeom prst="ellipse">
            <a:avLst/>
          </a:prstGeom>
          <a:solidFill>
            <a:srgbClr val="D97706"/>
          </a:solidFill>
          <a:ln w="12700">
            <a:solidFill>
              <a:srgbClr val="D97706"/>
            </a:solidFill>
            <a:prstDash val="solid"/>
          </a:ln>
        </p:spPr>
      </p:sp>
      <p:sp>
        <p:nvSpPr>
          <p:cNvPr id="21" name="Text 19"/>
          <p:cNvSpPr/>
          <p:nvPr/>
        </p:nvSpPr>
        <p:spPr>
          <a:xfrm>
            <a:off x="6501384" y="4270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13448" y="4251960"/>
            <a:ext cx="4297680" cy="411480"/>
          </a:xfrm>
          <a:prstGeom prst="rect">
            <a:avLst/>
          </a:prstGeom>
          <a:noFill/>
          <a:ln/>
        </p:spPr>
        <p:txBody>
          <a:bodyPr wrap="square" lIns="0" tIns="0" rIns="0" bIns="0" rtlCol="0" anchor="ctr"/>
          <a:lstStyle/>
          <a:p>
            <a:pPr indent="0" marL="0">
              <a:buNone/>
            </a:pPr>
            <a:r>
              <a:rPr lang="en-US" sz="1700" b="1" dirty="0">
                <a:solidFill>
                  <a:srgbClr val="292524"/>
                </a:solidFill>
                <a:latin typeface="Calibri" pitchFamily="34" charset="0"/>
                <a:ea typeface="Calibri" pitchFamily="34" charset="-122"/>
                <a:cs typeface="Calibri" pitchFamily="34" charset="-120"/>
              </a:rPr>
              <a:t>Cero historial</a:t>
            </a:r>
            <a:endParaRPr lang="en-US" sz="1700" dirty="0"/>
          </a:p>
        </p:txBody>
      </p:sp>
      <p:sp>
        <p:nvSpPr>
          <p:cNvPr id="23" name="Text 21"/>
          <p:cNvSpPr/>
          <p:nvPr/>
        </p:nvSpPr>
        <p:spPr>
          <a:xfrm>
            <a:off x="6519672" y="4837176"/>
            <a:ext cx="4809744" cy="1051560"/>
          </a:xfrm>
          <a:prstGeom prst="rect">
            <a:avLst/>
          </a:prstGeom>
          <a:noFill/>
          <a:ln/>
        </p:spPr>
        <p:txBody>
          <a:bodyPr wrap="square" lIns="0" tIns="0" rIns="0" bIns="0" rtlCol="0" anchor="t"/>
          <a:lstStyle/>
          <a:p>
            <a:pPr indent="0" marL="0">
              <a:buNone/>
            </a:pPr>
            <a:r>
              <a:rPr lang="en-US" sz="1300" dirty="0">
                <a:solidFill>
                  <a:srgbClr val="78716C"/>
                </a:solidFill>
                <a:latin typeface="Calibri" pitchFamily="34" charset="0"/>
                <a:ea typeface="Calibri" pitchFamily="34" charset="-122"/>
                <a:cs typeface="Calibri" pitchFamily="34" charset="-120"/>
              </a:rPr>
              <a:t>Al cerrar no se sabe qué se vendió, cuál fue el producto más pedido, ni cuánto entró por tarjeta y cuánto en efectivo.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La solución: las reglas viven en el servidor</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El cajero captura qué y cuánto. Todo lo demás lo decide el sistema.</a:t>
            </a:r>
            <a:endParaRPr lang="en-US" sz="1400" dirty="0"/>
          </a:p>
        </p:txBody>
      </p:sp>
      <p:sp>
        <p:nvSpPr>
          <p:cNvPr id="4" name="Shape 2"/>
          <p:cNvSpPr/>
          <p:nvPr/>
        </p:nvSpPr>
        <p:spPr>
          <a:xfrm>
            <a:off x="566928" y="1837944"/>
            <a:ext cx="329184" cy="329184"/>
          </a:xfrm>
          <a:prstGeom prst="ellipse">
            <a:avLst/>
          </a:prstGeom>
          <a:solidFill>
            <a:srgbClr val="D97706"/>
          </a:solidFill>
          <a:ln w="12700">
            <a:solidFill>
              <a:srgbClr val="D97706"/>
            </a:solidFill>
            <a:prstDash val="solid"/>
          </a:ln>
        </p:spPr>
      </p:sp>
      <p:sp>
        <p:nvSpPr>
          <p:cNvPr id="5" name="Text 3"/>
          <p:cNvSpPr/>
          <p:nvPr/>
        </p:nvSpPr>
        <p:spPr>
          <a:xfrm>
            <a:off x="566928" y="183794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42416" y="1783080"/>
            <a:ext cx="5486400" cy="384048"/>
          </a:xfrm>
          <a:prstGeom prst="rect">
            <a:avLst/>
          </a:prstGeom>
          <a:noFill/>
          <a:ln/>
        </p:spPr>
        <p:txBody>
          <a:bodyPr wrap="square" lIns="0" tIns="0" rIns="0" bIns="0" rtlCol="0" anchor="ctr"/>
          <a:lstStyle/>
          <a:p>
            <a:pPr indent="0" marL="0">
              <a:buNone/>
            </a:pPr>
            <a:r>
              <a:rPr lang="en-US" sz="1550" b="1" dirty="0">
                <a:solidFill>
                  <a:srgbClr val="292524"/>
                </a:solidFill>
                <a:latin typeface="Calibri" pitchFamily="34" charset="0"/>
                <a:ea typeface="Calibri" pitchFamily="34" charset="-122"/>
                <a:cs typeface="Calibri" pitchFamily="34" charset="-120"/>
              </a:rPr>
              <a:t>El total no se escribe</a:t>
            </a:r>
            <a:endParaRPr lang="en-US" sz="1550" dirty="0"/>
          </a:p>
        </p:txBody>
      </p:sp>
      <p:sp>
        <p:nvSpPr>
          <p:cNvPr id="7" name="Text 5"/>
          <p:cNvSpPr/>
          <p:nvPr/>
        </p:nvSpPr>
        <p:spPr>
          <a:xfrm>
            <a:off x="1042416" y="2167128"/>
            <a:ext cx="5486400" cy="566928"/>
          </a:xfrm>
          <a:prstGeom prst="rect">
            <a:avLst/>
          </a:prstGeom>
          <a:noFill/>
          <a:ln/>
        </p:spPr>
        <p:txBody>
          <a:bodyPr wrap="square" lIns="0" tIns="0" rIns="0" bIns="0" rtlCol="0" anchor="t"/>
          <a:lstStyle/>
          <a:p>
            <a:pPr indent="0" marL="0">
              <a:buNone/>
            </a:pPr>
            <a:r>
              <a:rPr lang="en-US" sz="1250" dirty="0">
                <a:solidFill>
                  <a:srgbClr val="78716C"/>
                </a:solidFill>
                <a:latin typeface="Calibri" pitchFamily="34" charset="0"/>
                <a:ea typeface="Calibri" pitchFamily="34" charset="-122"/>
                <a:cs typeface="Calibri" pitchFamily="34" charset="-120"/>
              </a:rPr>
              <a:t>Se deriva de las líneas: precio unitario por cantidad, sumado por el servidor. No existe un campo de total editable.</a:t>
            </a:r>
            <a:endParaRPr lang="en-US" sz="1250" dirty="0"/>
          </a:p>
        </p:txBody>
      </p:sp>
      <p:sp>
        <p:nvSpPr>
          <p:cNvPr id="8" name="Shape 6"/>
          <p:cNvSpPr/>
          <p:nvPr/>
        </p:nvSpPr>
        <p:spPr>
          <a:xfrm>
            <a:off x="566928" y="2898648"/>
            <a:ext cx="329184" cy="329184"/>
          </a:xfrm>
          <a:prstGeom prst="ellipse">
            <a:avLst/>
          </a:prstGeom>
          <a:solidFill>
            <a:srgbClr val="D97706"/>
          </a:solidFill>
          <a:ln w="12700">
            <a:solidFill>
              <a:srgbClr val="D97706"/>
            </a:solidFill>
            <a:prstDash val="solid"/>
          </a:ln>
        </p:spPr>
      </p:sp>
      <p:sp>
        <p:nvSpPr>
          <p:cNvPr id="9" name="Text 7"/>
          <p:cNvSpPr/>
          <p:nvPr/>
        </p:nvSpPr>
        <p:spPr>
          <a:xfrm>
            <a:off x="566928" y="28986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42416" y="2843784"/>
            <a:ext cx="5486400" cy="384048"/>
          </a:xfrm>
          <a:prstGeom prst="rect">
            <a:avLst/>
          </a:prstGeom>
          <a:noFill/>
          <a:ln/>
        </p:spPr>
        <p:txBody>
          <a:bodyPr wrap="square" lIns="0" tIns="0" rIns="0" bIns="0" rtlCol="0" anchor="ctr"/>
          <a:lstStyle/>
          <a:p>
            <a:pPr indent="0" marL="0">
              <a:buNone/>
            </a:pPr>
            <a:r>
              <a:rPr lang="en-US" sz="1550" b="1" dirty="0">
                <a:solidFill>
                  <a:srgbClr val="292524"/>
                </a:solidFill>
                <a:latin typeface="Calibri" pitchFamily="34" charset="0"/>
                <a:ea typeface="Calibri" pitchFamily="34" charset="-122"/>
                <a:cs typeface="Calibri" pitchFamily="34" charset="-120"/>
              </a:rPr>
              <a:t>El precio queda congelado</a:t>
            </a:r>
            <a:endParaRPr lang="en-US" sz="1550" dirty="0"/>
          </a:p>
        </p:txBody>
      </p:sp>
      <p:sp>
        <p:nvSpPr>
          <p:cNvPr id="11" name="Text 9"/>
          <p:cNvSpPr/>
          <p:nvPr/>
        </p:nvSpPr>
        <p:spPr>
          <a:xfrm>
            <a:off x="1042416" y="3227832"/>
            <a:ext cx="5486400" cy="566928"/>
          </a:xfrm>
          <a:prstGeom prst="rect">
            <a:avLst/>
          </a:prstGeom>
          <a:noFill/>
          <a:ln/>
        </p:spPr>
        <p:txBody>
          <a:bodyPr wrap="square" lIns="0" tIns="0" rIns="0" bIns="0" rtlCol="0" anchor="t"/>
          <a:lstStyle/>
          <a:p>
            <a:pPr indent="0" marL="0">
              <a:buNone/>
            </a:pPr>
            <a:r>
              <a:rPr lang="en-US" sz="1250" dirty="0">
                <a:solidFill>
                  <a:srgbClr val="78716C"/>
                </a:solidFill>
                <a:latin typeface="Calibri" pitchFamily="34" charset="0"/>
                <a:ea typeface="Calibri" pitchFamily="34" charset="-122"/>
                <a:cs typeface="Calibri" pitchFamily="34" charset="-120"/>
              </a:rPr>
              <a:t>Se copia del catálogo al crear la orden. Si mañana sube el café, lo que se cobró hoy no cambia.</a:t>
            </a:r>
            <a:endParaRPr lang="en-US" sz="1250" dirty="0"/>
          </a:p>
        </p:txBody>
      </p:sp>
      <p:sp>
        <p:nvSpPr>
          <p:cNvPr id="12" name="Shape 10"/>
          <p:cNvSpPr/>
          <p:nvPr/>
        </p:nvSpPr>
        <p:spPr>
          <a:xfrm>
            <a:off x="566928" y="3959352"/>
            <a:ext cx="329184" cy="329184"/>
          </a:xfrm>
          <a:prstGeom prst="ellipse">
            <a:avLst/>
          </a:prstGeom>
          <a:solidFill>
            <a:srgbClr val="D97706"/>
          </a:solidFill>
          <a:ln w="12700">
            <a:solidFill>
              <a:srgbClr val="D97706"/>
            </a:solidFill>
            <a:prstDash val="solid"/>
          </a:ln>
        </p:spPr>
      </p:sp>
      <p:sp>
        <p:nvSpPr>
          <p:cNvPr id="13" name="Text 11"/>
          <p:cNvSpPr/>
          <p:nvPr/>
        </p:nvSpPr>
        <p:spPr>
          <a:xfrm>
            <a:off x="566928" y="3959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42416" y="3904488"/>
            <a:ext cx="5486400" cy="384048"/>
          </a:xfrm>
          <a:prstGeom prst="rect">
            <a:avLst/>
          </a:prstGeom>
          <a:noFill/>
          <a:ln/>
        </p:spPr>
        <p:txBody>
          <a:bodyPr wrap="square" lIns="0" tIns="0" rIns="0" bIns="0" rtlCol="0" anchor="ctr"/>
          <a:lstStyle/>
          <a:p>
            <a:pPr indent="0" marL="0">
              <a:buNone/>
            </a:pPr>
            <a:r>
              <a:rPr lang="en-US" sz="1550" b="1" dirty="0">
                <a:solidFill>
                  <a:srgbClr val="292524"/>
                </a:solidFill>
                <a:latin typeface="Calibri" pitchFamily="34" charset="0"/>
                <a:ea typeface="Calibri" pitchFamily="34" charset="-122"/>
                <a:cs typeface="Calibri" pitchFamily="34" charset="-120"/>
              </a:rPr>
              <a:t>Los estados no se saltan</a:t>
            </a:r>
            <a:endParaRPr lang="en-US" sz="1550" dirty="0"/>
          </a:p>
        </p:txBody>
      </p:sp>
      <p:sp>
        <p:nvSpPr>
          <p:cNvPr id="15" name="Text 13"/>
          <p:cNvSpPr/>
          <p:nvPr/>
        </p:nvSpPr>
        <p:spPr>
          <a:xfrm>
            <a:off x="1042416" y="4288536"/>
            <a:ext cx="5486400" cy="566928"/>
          </a:xfrm>
          <a:prstGeom prst="rect">
            <a:avLst/>
          </a:prstGeom>
          <a:noFill/>
          <a:ln/>
        </p:spPr>
        <p:txBody>
          <a:bodyPr wrap="square" lIns="0" tIns="0" rIns="0" bIns="0" rtlCol="0" anchor="t"/>
          <a:lstStyle/>
          <a:p>
            <a:pPr indent="0" marL="0">
              <a:buNone/>
            </a:pPr>
            <a:r>
              <a:rPr lang="en-US" sz="1250" dirty="0">
                <a:solidFill>
                  <a:srgbClr val="78716C"/>
                </a:solidFill>
                <a:latin typeface="Calibri" pitchFamily="34" charset="0"/>
                <a:ea typeface="Calibri" pitchFamily="34" charset="-122"/>
                <a:cs typeface="Calibri" pitchFamily="34" charset="-120"/>
              </a:rPr>
              <a:t>Una orden pagada no se puede cancelar, y una cancelada no se puede cobrar.</a:t>
            </a:r>
            <a:endParaRPr lang="en-US" sz="1250" dirty="0"/>
          </a:p>
        </p:txBody>
      </p:sp>
      <p:sp>
        <p:nvSpPr>
          <p:cNvPr id="16" name="Shape 14"/>
          <p:cNvSpPr/>
          <p:nvPr/>
        </p:nvSpPr>
        <p:spPr>
          <a:xfrm>
            <a:off x="566928" y="5020056"/>
            <a:ext cx="329184" cy="329184"/>
          </a:xfrm>
          <a:prstGeom prst="ellipse">
            <a:avLst/>
          </a:prstGeom>
          <a:solidFill>
            <a:srgbClr val="D97706"/>
          </a:solidFill>
          <a:ln w="12700">
            <a:solidFill>
              <a:srgbClr val="D97706"/>
            </a:solidFill>
            <a:prstDash val="solid"/>
          </a:ln>
        </p:spPr>
      </p:sp>
      <p:sp>
        <p:nvSpPr>
          <p:cNvPr id="17" name="Text 15"/>
          <p:cNvSpPr/>
          <p:nvPr/>
        </p:nvSpPr>
        <p:spPr>
          <a:xfrm>
            <a:off x="566928" y="502005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42416" y="4965192"/>
            <a:ext cx="5486400" cy="384048"/>
          </a:xfrm>
          <a:prstGeom prst="rect">
            <a:avLst/>
          </a:prstGeom>
          <a:noFill/>
          <a:ln/>
        </p:spPr>
        <p:txBody>
          <a:bodyPr wrap="square" lIns="0" tIns="0" rIns="0" bIns="0" rtlCol="0" anchor="ctr"/>
          <a:lstStyle/>
          <a:p>
            <a:pPr indent="0" marL="0">
              <a:buNone/>
            </a:pPr>
            <a:r>
              <a:rPr lang="en-US" sz="1550" b="1" dirty="0">
                <a:solidFill>
                  <a:srgbClr val="292524"/>
                </a:solidFill>
                <a:latin typeface="Calibri" pitchFamily="34" charset="0"/>
                <a:ea typeface="Calibri" pitchFamily="34" charset="-122"/>
                <a:cs typeface="Calibri" pitchFamily="34" charset="-120"/>
              </a:rPr>
              <a:t>Nada entra sin validarse</a:t>
            </a:r>
            <a:endParaRPr lang="en-US" sz="1550" dirty="0"/>
          </a:p>
        </p:txBody>
      </p:sp>
      <p:sp>
        <p:nvSpPr>
          <p:cNvPr id="19" name="Text 17"/>
          <p:cNvSpPr/>
          <p:nvPr/>
        </p:nvSpPr>
        <p:spPr>
          <a:xfrm>
            <a:off x="1042416" y="5349240"/>
            <a:ext cx="5486400" cy="566928"/>
          </a:xfrm>
          <a:prstGeom prst="rect">
            <a:avLst/>
          </a:prstGeom>
          <a:noFill/>
          <a:ln/>
        </p:spPr>
        <p:txBody>
          <a:bodyPr wrap="square" lIns="0" tIns="0" rIns="0" bIns="0" rtlCol="0" anchor="t"/>
          <a:lstStyle/>
          <a:p>
            <a:pPr indent="0" marL="0">
              <a:buNone/>
            </a:pPr>
            <a:r>
              <a:rPr lang="en-US" sz="1250" dirty="0">
                <a:solidFill>
                  <a:srgbClr val="78716C"/>
                </a:solidFill>
                <a:latin typeface="Calibri" pitchFamily="34" charset="0"/>
                <a:ea typeface="Calibri" pitchFamily="34" charset="-122"/>
                <a:cs typeface="Calibri" pitchFamily="34" charset="-120"/>
              </a:rPr>
              <a:t>Cliente inexistente, producto agotado o cantidad en cero: la orden se rechaza con el motivo exacto.</a:t>
            </a:r>
            <a:endParaRPr lang="en-US" sz="1250" dirty="0"/>
          </a:p>
        </p:txBody>
      </p:sp>
      <p:sp>
        <p:nvSpPr>
          <p:cNvPr id="20" name="Shape 18"/>
          <p:cNvSpPr/>
          <p:nvPr/>
        </p:nvSpPr>
        <p:spPr>
          <a:xfrm>
            <a:off x="6903720" y="1783080"/>
            <a:ext cx="4718304" cy="4160520"/>
          </a:xfrm>
          <a:prstGeom prst="roundRect">
            <a:avLst>
              <a:gd name="adj" fmla="val 1978"/>
            </a:avLst>
          </a:prstGeom>
          <a:solidFill>
            <a:srgbClr val="2B1B12"/>
          </a:solidFill>
          <a:ln w="12700">
            <a:solidFill>
              <a:srgbClr val="2B1B12"/>
            </a:solidFill>
            <a:prstDash val="solid"/>
          </a:ln>
          <a:effectLst>
            <a:outerShdw sx="100000" sy="100000" kx="0" ky="0" algn="bl" rotWithShape="0" blurRad="114300" dist="19050" dir="5400000">
              <a:srgbClr val="000000">
                <a:alpha val="8000"/>
              </a:srgbClr>
            </a:outerShdw>
          </a:effectLst>
        </p:spPr>
      </p:sp>
      <p:sp>
        <p:nvSpPr>
          <p:cNvPr id="21" name="Text 19"/>
          <p:cNvSpPr/>
          <p:nvPr/>
        </p:nvSpPr>
        <p:spPr>
          <a:xfrm>
            <a:off x="7178040" y="2057400"/>
            <a:ext cx="4114800" cy="1051560"/>
          </a:xfrm>
          <a:prstGeom prst="rect">
            <a:avLst/>
          </a:prstGeom>
          <a:noFill/>
          <a:ln/>
        </p:spPr>
        <p:txBody>
          <a:bodyPr wrap="square" lIns="0" tIns="0" rIns="0" bIns="0" rtlCol="0" anchor="ctr"/>
          <a:lstStyle/>
          <a:p>
            <a:pPr indent="0" marL="0">
              <a:buNone/>
            </a:pPr>
            <a:r>
              <a:rPr lang="en-US" sz="6200" b="1" dirty="0">
                <a:solidFill>
                  <a:srgbClr val="F59E0B"/>
                </a:solidFill>
                <a:latin typeface="Cambria" pitchFamily="34" charset="0"/>
                <a:ea typeface="Cambria" pitchFamily="34" charset="-122"/>
                <a:cs typeface="Cambria" pitchFamily="34" charset="-120"/>
              </a:rPr>
              <a:t>16</a:t>
            </a:r>
            <a:endParaRPr lang="en-US" sz="6200" dirty="0"/>
          </a:p>
        </p:txBody>
      </p:sp>
      <p:sp>
        <p:nvSpPr>
          <p:cNvPr id="22" name="Text 20"/>
          <p:cNvSpPr/>
          <p:nvPr/>
        </p:nvSpPr>
        <p:spPr>
          <a:xfrm>
            <a:off x="7178040" y="3127248"/>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reglas de negocio</a:t>
            </a:r>
            <a:endParaRPr lang="en-US" sz="1700" dirty="0"/>
          </a:p>
        </p:txBody>
      </p:sp>
      <p:sp>
        <p:nvSpPr>
          <p:cNvPr id="23" name="Text 21"/>
          <p:cNvSpPr/>
          <p:nvPr/>
        </p:nvSpPr>
        <p:spPr>
          <a:xfrm>
            <a:off x="7178040" y="3547872"/>
            <a:ext cx="4114800" cy="1051560"/>
          </a:xfrm>
          <a:prstGeom prst="rect">
            <a:avLst/>
          </a:prstGeom>
          <a:noFill/>
          <a:ln/>
        </p:spPr>
        <p:txBody>
          <a:bodyPr wrap="square" lIns="0" tIns="0" rIns="0" bIns="0" rtlCol="0" anchor="t"/>
          <a:lstStyle/>
          <a:p>
            <a:pPr indent="0" marL="0">
              <a:buNone/>
            </a:pPr>
            <a:r>
              <a:rPr lang="en-US" sz="1250" dirty="0">
                <a:solidFill>
                  <a:srgbClr val="E7DED8"/>
                </a:solidFill>
                <a:latin typeface="Calibri" pitchFamily="34" charset="0"/>
                <a:ea typeface="Calibri" pitchFamily="34" charset="-122"/>
                <a:cs typeface="Calibri" pitchFamily="34" charset="-120"/>
              </a:rPr>
              <a:t>Todas se verifican en el servidor, en la capa de Aplicación, antes de escribir en la base de datos. Ninguna depende de una validación del navegador.</a:t>
            </a:r>
            <a:endParaRPr lang="en-US" sz="1250" dirty="0"/>
          </a:p>
        </p:txBody>
      </p:sp>
      <p:sp>
        <p:nvSpPr>
          <p:cNvPr id="24" name="Text 22"/>
          <p:cNvSpPr/>
          <p:nvPr/>
        </p:nvSpPr>
        <p:spPr>
          <a:xfrm>
            <a:off x="7178040" y="4846320"/>
            <a:ext cx="4114800" cy="777240"/>
          </a:xfrm>
          <a:prstGeom prst="rect">
            <a:avLst/>
          </a:prstGeom>
          <a:noFill/>
          <a:ln/>
        </p:spPr>
        <p:txBody>
          <a:bodyPr wrap="square" lIns="0" tIns="0" rIns="0" bIns="0" rtlCol="0" anchor="t"/>
          <a:lstStyle/>
          <a:p>
            <a:pPr indent="0" marL="0">
              <a:buNone/>
            </a:pPr>
            <a:r>
              <a:rPr lang="en-US" sz="1250" i="1" dirty="0">
                <a:solidFill>
                  <a:srgbClr val="F59E0B"/>
                </a:solidFill>
                <a:latin typeface="Calibri" pitchFamily="34" charset="0"/>
                <a:ea typeface="Calibri" pitchFamily="34" charset="-122"/>
                <a:cs typeface="Calibri" pitchFamily="34" charset="-120"/>
              </a:rPr>
              <a:t>Cambiar la interfaz web por una app móvil no cambiaría una sola regla.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Tres módulos, una sola fuente de verdad</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Lo que el usuario ve, y lo que cada pantalla le permite hacer.</a:t>
            </a:r>
            <a:endParaRPr lang="en-US" sz="1400" dirty="0"/>
          </a:p>
        </p:txBody>
      </p:sp>
      <p:sp>
        <p:nvSpPr>
          <p:cNvPr id="4" name="Shape 2"/>
          <p:cNvSpPr/>
          <p:nvPr/>
        </p:nvSpPr>
        <p:spPr>
          <a:xfrm>
            <a:off x="566928" y="1783080"/>
            <a:ext cx="3520440" cy="416052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Shape 3"/>
          <p:cNvSpPr/>
          <p:nvPr/>
        </p:nvSpPr>
        <p:spPr>
          <a:xfrm>
            <a:off x="841248" y="2029968"/>
            <a:ext cx="347472" cy="347472"/>
          </a:xfrm>
          <a:prstGeom prst="ellipse">
            <a:avLst/>
          </a:prstGeom>
          <a:solidFill>
            <a:srgbClr val="D97706"/>
          </a:solidFill>
          <a:ln w="12700">
            <a:solidFill>
              <a:srgbClr val="D97706"/>
            </a:solidFill>
            <a:prstDash val="solid"/>
          </a:ln>
        </p:spPr>
      </p:sp>
      <p:sp>
        <p:nvSpPr>
          <p:cNvPr id="6" name="Text 4"/>
          <p:cNvSpPr/>
          <p:nvPr/>
        </p:nvSpPr>
        <p:spPr>
          <a:xfrm>
            <a:off x="841248" y="20299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98448" y="2011680"/>
            <a:ext cx="2560320" cy="384048"/>
          </a:xfrm>
          <a:prstGeom prst="rect">
            <a:avLst/>
          </a:prstGeom>
          <a:noFill/>
          <a:ln/>
        </p:spPr>
        <p:txBody>
          <a:bodyPr wrap="square" lIns="0" tIns="0" rIns="0" bIns="0" rtlCol="0" anchor="ctr"/>
          <a:lstStyle/>
          <a:p>
            <a:pPr indent="0" marL="0">
              <a:buNone/>
            </a:pPr>
            <a:r>
              <a:rPr lang="en-US" sz="2000" b="1" dirty="0">
                <a:solidFill>
                  <a:srgbClr val="292524"/>
                </a:solidFill>
                <a:latin typeface="Cambria" pitchFamily="34" charset="0"/>
                <a:ea typeface="Cambria" pitchFamily="34" charset="-122"/>
                <a:cs typeface="Cambria" pitchFamily="34" charset="-120"/>
              </a:rPr>
              <a:t>Órdenes</a:t>
            </a:r>
            <a:endParaRPr lang="en-US" sz="2000" dirty="0"/>
          </a:p>
        </p:txBody>
      </p:sp>
      <p:sp>
        <p:nvSpPr>
          <p:cNvPr id="8" name="Text 6"/>
          <p:cNvSpPr/>
          <p:nvPr/>
        </p:nvSpPr>
        <p:spPr>
          <a:xfrm>
            <a:off x="877824" y="2606040"/>
            <a:ext cx="2926080" cy="315468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Crear con líneas dinámicas</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Total en vivo mientras se captura</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Cobrar: efectivo, tarjeta o transferencia</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Cancelar o eliminar, con confirmación</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Historial de la más reciente a la más antigua</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Color por estado en cada fila</a:t>
            </a:r>
            <a:endParaRPr lang="en-US" sz="1250" dirty="0"/>
          </a:p>
        </p:txBody>
      </p:sp>
      <p:sp>
        <p:nvSpPr>
          <p:cNvPr id="9" name="Shape 7"/>
          <p:cNvSpPr/>
          <p:nvPr/>
        </p:nvSpPr>
        <p:spPr>
          <a:xfrm>
            <a:off x="4279392" y="1783080"/>
            <a:ext cx="3520440" cy="416052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0" name="Shape 8"/>
          <p:cNvSpPr/>
          <p:nvPr/>
        </p:nvSpPr>
        <p:spPr>
          <a:xfrm>
            <a:off x="4553712" y="2029968"/>
            <a:ext cx="347472" cy="347472"/>
          </a:xfrm>
          <a:prstGeom prst="ellipse">
            <a:avLst/>
          </a:prstGeom>
          <a:solidFill>
            <a:srgbClr val="D97706"/>
          </a:solidFill>
          <a:ln w="12700">
            <a:solidFill>
              <a:srgbClr val="D97706"/>
            </a:solidFill>
            <a:prstDash val="solid"/>
          </a:ln>
        </p:spPr>
      </p:sp>
      <p:sp>
        <p:nvSpPr>
          <p:cNvPr id="11" name="Text 9"/>
          <p:cNvSpPr/>
          <p:nvPr/>
        </p:nvSpPr>
        <p:spPr>
          <a:xfrm>
            <a:off x="4553712" y="20299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010912" y="2011680"/>
            <a:ext cx="2560320" cy="384048"/>
          </a:xfrm>
          <a:prstGeom prst="rect">
            <a:avLst/>
          </a:prstGeom>
          <a:noFill/>
          <a:ln/>
        </p:spPr>
        <p:txBody>
          <a:bodyPr wrap="square" lIns="0" tIns="0" rIns="0" bIns="0" rtlCol="0" anchor="ctr"/>
          <a:lstStyle/>
          <a:p>
            <a:pPr indent="0" marL="0">
              <a:buNone/>
            </a:pPr>
            <a:r>
              <a:rPr lang="en-US" sz="2000" b="1" dirty="0">
                <a:solidFill>
                  <a:srgbClr val="292524"/>
                </a:solidFill>
                <a:latin typeface="Cambria" pitchFamily="34" charset="0"/>
                <a:ea typeface="Cambria" pitchFamily="34" charset="-122"/>
                <a:cs typeface="Cambria" pitchFamily="34" charset="-120"/>
              </a:rPr>
              <a:t>Productos</a:t>
            </a:r>
            <a:endParaRPr lang="en-US" sz="2000" dirty="0"/>
          </a:p>
        </p:txBody>
      </p:sp>
      <p:sp>
        <p:nvSpPr>
          <p:cNvPr id="13" name="Text 11"/>
          <p:cNvSpPr/>
          <p:nvPr/>
        </p:nvSpPr>
        <p:spPr>
          <a:xfrm>
            <a:off x="4590288" y="2606040"/>
            <a:ext cx="2926080" cy="315468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Alta, edición y baja del catálogo</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Precio en pesos dominicanos</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Marca de disponibilidad</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Un producto agotado no entra en órdenes nuevas</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Orden alfabético automático</a:t>
            </a:r>
            <a:endParaRPr lang="en-US" sz="1250" dirty="0"/>
          </a:p>
        </p:txBody>
      </p:sp>
      <p:sp>
        <p:nvSpPr>
          <p:cNvPr id="14" name="Shape 12"/>
          <p:cNvSpPr/>
          <p:nvPr/>
        </p:nvSpPr>
        <p:spPr>
          <a:xfrm>
            <a:off x="7991856" y="1783080"/>
            <a:ext cx="3520440" cy="416052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Shape 13"/>
          <p:cNvSpPr/>
          <p:nvPr/>
        </p:nvSpPr>
        <p:spPr>
          <a:xfrm>
            <a:off x="8266176" y="2029968"/>
            <a:ext cx="347472" cy="347472"/>
          </a:xfrm>
          <a:prstGeom prst="ellipse">
            <a:avLst/>
          </a:prstGeom>
          <a:solidFill>
            <a:srgbClr val="D97706"/>
          </a:solidFill>
          <a:ln w="12700">
            <a:solidFill>
              <a:srgbClr val="D97706"/>
            </a:solidFill>
            <a:prstDash val="solid"/>
          </a:ln>
        </p:spPr>
      </p:sp>
      <p:sp>
        <p:nvSpPr>
          <p:cNvPr id="16" name="Text 14"/>
          <p:cNvSpPr/>
          <p:nvPr/>
        </p:nvSpPr>
        <p:spPr>
          <a:xfrm>
            <a:off x="8266176" y="20299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723376" y="2011680"/>
            <a:ext cx="2560320" cy="384048"/>
          </a:xfrm>
          <a:prstGeom prst="rect">
            <a:avLst/>
          </a:prstGeom>
          <a:noFill/>
          <a:ln/>
        </p:spPr>
        <p:txBody>
          <a:bodyPr wrap="square" lIns="0" tIns="0" rIns="0" bIns="0" rtlCol="0" anchor="ctr"/>
          <a:lstStyle/>
          <a:p>
            <a:pPr indent="0" marL="0">
              <a:buNone/>
            </a:pPr>
            <a:r>
              <a:rPr lang="en-US" sz="2000" b="1" dirty="0">
                <a:solidFill>
                  <a:srgbClr val="292524"/>
                </a:solidFill>
                <a:latin typeface="Cambria" pitchFamily="34" charset="0"/>
                <a:ea typeface="Cambria" pitchFamily="34" charset="-122"/>
                <a:cs typeface="Cambria" pitchFamily="34" charset="-120"/>
              </a:rPr>
              <a:t>Clientes</a:t>
            </a:r>
            <a:endParaRPr lang="en-US" sz="2000" dirty="0"/>
          </a:p>
        </p:txBody>
      </p:sp>
      <p:sp>
        <p:nvSpPr>
          <p:cNvPr id="18" name="Text 16"/>
          <p:cNvSpPr/>
          <p:nvPr/>
        </p:nvSpPr>
        <p:spPr>
          <a:xfrm>
            <a:off x="8302752" y="2606040"/>
            <a:ext cx="2926080" cy="315468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Alta, edición y baja</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Nombre obligatorio, teléfono opcional</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Cliente General para ventas de mostrador</a:t>
            </a:r>
            <a:endParaRPr lang="en-US" sz="1250" dirty="0"/>
          </a:p>
          <a:p>
            <a:pPr marL="342900" indent="-342900">
              <a:lnSpc>
                <a:spcPct val="102000"/>
              </a:lnSpc>
              <a:spcAft>
                <a:spcPts val="900"/>
              </a:spcAft>
              <a:buSzPct val="100000"/>
              <a:buChar char="•"/>
            </a:pPr>
            <a:r>
              <a:rPr lang="en-US" sz="1250" dirty="0">
                <a:solidFill>
                  <a:srgbClr val="78716C"/>
                </a:solidFill>
                <a:latin typeface="Calibri" pitchFamily="34" charset="0"/>
                <a:ea typeface="Calibri" pitchFamily="34" charset="-122"/>
                <a:cs typeface="Calibri" pitchFamily="34" charset="-120"/>
              </a:rPr>
              <a:t>No se puede borrar si tiene órdenes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1B12"/>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Arquitectura distribuida: tres procesos</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A89588"/>
                </a:solidFill>
                <a:latin typeface="Calibri" pitchFamily="34" charset="0"/>
                <a:ea typeface="Calibri" pitchFamily="34" charset="-122"/>
                <a:cs typeface="Calibri" pitchFamily="34" charset="-120"/>
              </a:rPr>
              <a:t>No es un programa dividido en carpetas. Son tres programas distintos que se hablan por red.</a:t>
            </a:r>
            <a:endParaRPr lang="en-US" sz="1400" dirty="0"/>
          </a:p>
        </p:txBody>
      </p:sp>
      <p:sp>
        <p:nvSpPr>
          <p:cNvPr id="4" name="Shape 2"/>
          <p:cNvSpPr/>
          <p:nvPr/>
        </p:nvSpPr>
        <p:spPr>
          <a:xfrm>
            <a:off x="566928" y="2103120"/>
            <a:ext cx="3246120" cy="2240280"/>
          </a:xfrm>
          <a:prstGeom prst="roundRect">
            <a:avLst>
              <a:gd name="adj" fmla="val 3673"/>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04672" y="2286000"/>
            <a:ext cx="2788920" cy="457200"/>
          </a:xfrm>
          <a:prstGeom prst="rect">
            <a:avLst/>
          </a:prstGeom>
          <a:noFill/>
          <a:ln/>
        </p:spPr>
        <p:txBody>
          <a:bodyPr wrap="square" lIns="0" tIns="0" rIns="0" bIns="0" rtlCol="0" anchor="ctr"/>
          <a:lstStyle/>
          <a:p>
            <a:pPr indent="0" marL="0">
              <a:buNone/>
            </a:pPr>
            <a:r>
              <a:rPr lang="en-US" sz="1200" b="1" spc="150" kern="0" dirty="0">
                <a:solidFill>
                  <a:srgbClr val="F59E0B"/>
                </a:solidFill>
                <a:latin typeface="Calibri" pitchFamily="34" charset="0"/>
                <a:ea typeface="Calibri" pitchFamily="34" charset="-122"/>
                <a:cs typeface="Calibri" pitchFamily="34" charset="-120"/>
              </a:rPr>
              <a:t>CLIENTE</a:t>
            </a:r>
            <a:endParaRPr lang="en-US" sz="1200" dirty="0"/>
          </a:p>
        </p:txBody>
      </p:sp>
      <p:sp>
        <p:nvSpPr>
          <p:cNvPr id="6" name="Text 4"/>
          <p:cNvSpPr/>
          <p:nvPr/>
        </p:nvSpPr>
        <p:spPr>
          <a:xfrm>
            <a:off x="804672" y="2761488"/>
            <a:ext cx="278892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React 19 + TypeScript</a:t>
            </a:r>
            <a:endParaRPr lang="en-US" sz="1500" dirty="0"/>
          </a:p>
        </p:txBody>
      </p:sp>
      <p:sp>
        <p:nvSpPr>
          <p:cNvPr id="7" name="Text 5"/>
          <p:cNvSpPr/>
          <p:nvPr/>
        </p:nvSpPr>
        <p:spPr>
          <a:xfrm>
            <a:off x="804672" y="3127248"/>
            <a:ext cx="2788920" cy="292608"/>
          </a:xfrm>
          <a:prstGeom prst="rect">
            <a:avLst/>
          </a:prstGeom>
          <a:noFill/>
          <a:ln/>
        </p:spPr>
        <p:txBody>
          <a:bodyPr wrap="square" lIns="0" tIns="0" rIns="0" bIns="0" rtlCol="0" anchor="ctr"/>
          <a:lstStyle/>
          <a:p>
            <a:pPr indent="0" marL="0">
              <a:buNone/>
            </a:pPr>
            <a:r>
              <a:rPr lang="en-US" sz="1100" dirty="0">
                <a:solidFill>
                  <a:srgbClr val="A89588"/>
                </a:solidFill>
                <a:latin typeface="Courier New" pitchFamily="34" charset="0"/>
                <a:ea typeface="Courier New" pitchFamily="34" charset="-122"/>
                <a:cs typeface="Courier New" pitchFamily="34" charset="-120"/>
              </a:rPr>
              <a:t>localhost:5173</a:t>
            </a:r>
            <a:endParaRPr lang="en-US" sz="1100" dirty="0"/>
          </a:p>
        </p:txBody>
      </p:sp>
      <p:sp>
        <p:nvSpPr>
          <p:cNvPr id="8" name="Text 6"/>
          <p:cNvSpPr/>
          <p:nvPr/>
        </p:nvSpPr>
        <p:spPr>
          <a:xfrm>
            <a:off x="804672" y="3493008"/>
            <a:ext cx="2788920" cy="685800"/>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Presentación y validación de forma</a:t>
            </a:r>
            <a:endParaRPr lang="en-US" sz="1200" dirty="0"/>
          </a:p>
        </p:txBody>
      </p:sp>
      <p:sp>
        <p:nvSpPr>
          <p:cNvPr id="9" name="Shape 7"/>
          <p:cNvSpPr/>
          <p:nvPr/>
        </p:nvSpPr>
        <p:spPr>
          <a:xfrm>
            <a:off x="4471416" y="2103120"/>
            <a:ext cx="3246120" cy="2240280"/>
          </a:xfrm>
          <a:prstGeom prst="roundRect">
            <a:avLst>
              <a:gd name="adj" fmla="val 3673"/>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10" name="Text 8"/>
          <p:cNvSpPr/>
          <p:nvPr/>
        </p:nvSpPr>
        <p:spPr>
          <a:xfrm>
            <a:off x="4709160" y="2286000"/>
            <a:ext cx="2788920" cy="457200"/>
          </a:xfrm>
          <a:prstGeom prst="rect">
            <a:avLst/>
          </a:prstGeom>
          <a:noFill/>
          <a:ln/>
        </p:spPr>
        <p:txBody>
          <a:bodyPr wrap="square" lIns="0" tIns="0" rIns="0" bIns="0" rtlCol="0" anchor="ctr"/>
          <a:lstStyle/>
          <a:p>
            <a:pPr indent="0" marL="0">
              <a:buNone/>
            </a:pPr>
            <a:r>
              <a:rPr lang="en-US" sz="1200" b="1" spc="150" kern="0" dirty="0">
                <a:solidFill>
                  <a:srgbClr val="F59E0B"/>
                </a:solidFill>
                <a:latin typeface="Calibri" pitchFamily="34" charset="0"/>
                <a:ea typeface="Calibri" pitchFamily="34" charset="-122"/>
                <a:cs typeface="Calibri" pitchFamily="34" charset="-120"/>
              </a:rPr>
              <a:t>SERVIDOR DE APLICACIÓN</a:t>
            </a:r>
            <a:endParaRPr lang="en-US" sz="1200" dirty="0"/>
          </a:p>
        </p:txBody>
      </p:sp>
      <p:sp>
        <p:nvSpPr>
          <p:cNvPr id="11" name="Text 9"/>
          <p:cNvSpPr/>
          <p:nvPr/>
        </p:nvSpPr>
        <p:spPr>
          <a:xfrm>
            <a:off x="4709160" y="2761488"/>
            <a:ext cx="278892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ASP.NET Core Web API</a:t>
            </a:r>
            <a:endParaRPr lang="en-US" sz="1500" dirty="0"/>
          </a:p>
        </p:txBody>
      </p:sp>
      <p:sp>
        <p:nvSpPr>
          <p:cNvPr id="12" name="Text 10"/>
          <p:cNvSpPr/>
          <p:nvPr/>
        </p:nvSpPr>
        <p:spPr>
          <a:xfrm>
            <a:off x="4709160" y="3127248"/>
            <a:ext cx="2788920" cy="292608"/>
          </a:xfrm>
          <a:prstGeom prst="rect">
            <a:avLst/>
          </a:prstGeom>
          <a:noFill/>
          <a:ln/>
        </p:spPr>
        <p:txBody>
          <a:bodyPr wrap="square" lIns="0" tIns="0" rIns="0" bIns="0" rtlCol="0" anchor="ctr"/>
          <a:lstStyle/>
          <a:p>
            <a:pPr indent="0" marL="0">
              <a:buNone/>
            </a:pPr>
            <a:r>
              <a:rPr lang="en-US" sz="1100" dirty="0">
                <a:solidFill>
                  <a:srgbClr val="A89588"/>
                </a:solidFill>
                <a:latin typeface="Courier New" pitchFamily="34" charset="0"/>
                <a:ea typeface="Courier New" pitchFamily="34" charset="-122"/>
                <a:cs typeface="Courier New" pitchFamily="34" charset="-120"/>
              </a:rPr>
              <a:t>localhost:5288</a:t>
            </a:r>
            <a:endParaRPr lang="en-US" sz="1100" dirty="0"/>
          </a:p>
        </p:txBody>
      </p:sp>
      <p:sp>
        <p:nvSpPr>
          <p:cNvPr id="13" name="Text 11"/>
          <p:cNvSpPr/>
          <p:nvPr/>
        </p:nvSpPr>
        <p:spPr>
          <a:xfrm>
            <a:off x="4709160" y="3493008"/>
            <a:ext cx="2788920" cy="685800"/>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Reglas de negocio y orquestación</a:t>
            </a:r>
            <a:endParaRPr lang="en-US" sz="1200" dirty="0"/>
          </a:p>
        </p:txBody>
      </p:sp>
      <p:sp>
        <p:nvSpPr>
          <p:cNvPr id="14" name="Shape 12"/>
          <p:cNvSpPr/>
          <p:nvPr/>
        </p:nvSpPr>
        <p:spPr>
          <a:xfrm>
            <a:off x="8375904" y="2103120"/>
            <a:ext cx="3246120" cy="2240280"/>
          </a:xfrm>
          <a:prstGeom prst="roundRect">
            <a:avLst>
              <a:gd name="adj" fmla="val 3673"/>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15" name="Text 13"/>
          <p:cNvSpPr/>
          <p:nvPr/>
        </p:nvSpPr>
        <p:spPr>
          <a:xfrm>
            <a:off x="8613648" y="2286000"/>
            <a:ext cx="2788920" cy="457200"/>
          </a:xfrm>
          <a:prstGeom prst="rect">
            <a:avLst/>
          </a:prstGeom>
          <a:noFill/>
          <a:ln/>
        </p:spPr>
        <p:txBody>
          <a:bodyPr wrap="square" lIns="0" tIns="0" rIns="0" bIns="0" rtlCol="0" anchor="ctr"/>
          <a:lstStyle/>
          <a:p>
            <a:pPr indent="0" marL="0">
              <a:buNone/>
            </a:pPr>
            <a:r>
              <a:rPr lang="en-US" sz="1200" b="1" spc="150" kern="0" dirty="0">
                <a:solidFill>
                  <a:srgbClr val="F59E0B"/>
                </a:solidFill>
                <a:latin typeface="Calibri" pitchFamily="34" charset="0"/>
                <a:ea typeface="Calibri" pitchFamily="34" charset="-122"/>
                <a:cs typeface="Calibri" pitchFamily="34" charset="-120"/>
              </a:rPr>
              <a:t>BASE DE DATOS</a:t>
            </a:r>
            <a:endParaRPr lang="en-US" sz="1200" dirty="0"/>
          </a:p>
        </p:txBody>
      </p:sp>
      <p:sp>
        <p:nvSpPr>
          <p:cNvPr id="16" name="Text 14"/>
          <p:cNvSpPr/>
          <p:nvPr/>
        </p:nvSpPr>
        <p:spPr>
          <a:xfrm>
            <a:off x="8613648" y="2761488"/>
            <a:ext cx="278892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PostgreSQL</a:t>
            </a:r>
            <a:endParaRPr lang="en-US" sz="1500" dirty="0"/>
          </a:p>
        </p:txBody>
      </p:sp>
      <p:sp>
        <p:nvSpPr>
          <p:cNvPr id="17" name="Text 15"/>
          <p:cNvSpPr/>
          <p:nvPr/>
        </p:nvSpPr>
        <p:spPr>
          <a:xfrm>
            <a:off x="8613648" y="3127248"/>
            <a:ext cx="2788920" cy="292608"/>
          </a:xfrm>
          <a:prstGeom prst="rect">
            <a:avLst/>
          </a:prstGeom>
          <a:noFill/>
          <a:ln/>
        </p:spPr>
        <p:txBody>
          <a:bodyPr wrap="square" lIns="0" tIns="0" rIns="0" bIns="0" rtlCol="0" anchor="ctr"/>
          <a:lstStyle/>
          <a:p>
            <a:pPr indent="0" marL="0">
              <a:buNone/>
            </a:pPr>
            <a:r>
              <a:rPr lang="en-US" sz="1100" dirty="0">
                <a:solidFill>
                  <a:srgbClr val="A89588"/>
                </a:solidFill>
                <a:latin typeface="Courier New" pitchFamily="34" charset="0"/>
                <a:ea typeface="Courier New" pitchFamily="34" charset="-122"/>
                <a:cs typeface="Courier New" pitchFamily="34" charset="-120"/>
              </a:rPr>
              <a:t>puerto 5432</a:t>
            </a:r>
            <a:endParaRPr lang="en-US" sz="1100" dirty="0"/>
          </a:p>
        </p:txBody>
      </p:sp>
      <p:sp>
        <p:nvSpPr>
          <p:cNvPr id="18" name="Text 16"/>
          <p:cNvSpPr/>
          <p:nvPr/>
        </p:nvSpPr>
        <p:spPr>
          <a:xfrm>
            <a:off x="8613648" y="3493008"/>
            <a:ext cx="2788920" cy="685800"/>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Persistencia e integridad referencial</a:t>
            </a:r>
            <a:endParaRPr lang="en-US" sz="1200" dirty="0"/>
          </a:p>
        </p:txBody>
      </p:sp>
      <p:sp>
        <p:nvSpPr>
          <p:cNvPr id="19" name="Shape 17"/>
          <p:cNvSpPr/>
          <p:nvPr/>
        </p:nvSpPr>
        <p:spPr>
          <a:xfrm>
            <a:off x="3950208" y="3090672"/>
            <a:ext cx="420624" cy="274320"/>
          </a:xfrm>
          <a:prstGeom prst="rightArrow">
            <a:avLst/>
          </a:prstGeom>
          <a:solidFill>
            <a:srgbClr val="D97706"/>
          </a:solidFill>
          <a:ln w="12700">
            <a:solidFill>
              <a:srgbClr val="333333"/>
            </a:solidFill>
            <a:prstDash val="solid"/>
          </a:ln>
        </p:spPr>
      </p:sp>
      <p:sp>
        <p:nvSpPr>
          <p:cNvPr id="20" name="Text 18"/>
          <p:cNvSpPr/>
          <p:nvPr/>
        </p:nvSpPr>
        <p:spPr>
          <a:xfrm>
            <a:off x="3675888" y="2670048"/>
            <a:ext cx="969264" cy="292608"/>
          </a:xfrm>
          <a:prstGeom prst="rect">
            <a:avLst/>
          </a:prstGeom>
          <a:noFill/>
          <a:ln/>
        </p:spPr>
        <p:txBody>
          <a:bodyPr wrap="square" lIns="0" tIns="0" rIns="0" bIns="0"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HTTP / JSON</a:t>
            </a:r>
            <a:endParaRPr lang="en-US" sz="950" dirty="0"/>
          </a:p>
        </p:txBody>
      </p:sp>
      <p:sp>
        <p:nvSpPr>
          <p:cNvPr id="21" name="Shape 19"/>
          <p:cNvSpPr/>
          <p:nvPr/>
        </p:nvSpPr>
        <p:spPr>
          <a:xfrm>
            <a:off x="7854696" y="3090672"/>
            <a:ext cx="420624" cy="274320"/>
          </a:xfrm>
          <a:prstGeom prst="rightArrow">
            <a:avLst/>
          </a:prstGeom>
          <a:solidFill>
            <a:srgbClr val="D97706"/>
          </a:solidFill>
          <a:ln w="12700">
            <a:solidFill>
              <a:srgbClr val="333333"/>
            </a:solidFill>
            <a:prstDash val="solid"/>
          </a:ln>
        </p:spPr>
      </p:sp>
      <p:sp>
        <p:nvSpPr>
          <p:cNvPr id="22" name="Text 20"/>
          <p:cNvSpPr/>
          <p:nvPr/>
        </p:nvSpPr>
        <p:spPr>
          <a:xfrm>
            <a:off x="7580376" y="2670048"/>
            <a:ext cx="969264" cy="292608"/>
          </a:xfrm>
          <a:prstGeom prst="rect">
            <a:avLst/>
          </a:prstGeom>
          <a:noFill/>
          <a:ln/>
        </p:spPr>
        <p:txBody>
          <a:bodyPr wrap="square" lIns="0" tIns="0" rIns="0" bIns="0"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TCP 5432</a:t>
            </a:r>
            <a:endParaRPr lang="en-US" sz="950" dirty="0"/>
          </a:p>
        </p:txBody>
      </p:sp>
      <p:sp>
        <p:nvSpPr>
          <p:cNvPr id="23" name="Text 21"/>
          <p:cNvSpPr/>
          <p:nvPr/>
        </p:nvSpPr>
        <p:spPr>
          <a:xfrm>
            <a:off x="566928" y="4800600"/>
            <a:ext cx="11055096" cy="1005840"/>
          </a:xfrm>
          <a:prstGeom prst="rect">
            <a:avLst/>
          </a:prstGeom>
          <a:noFill/>
          <a:ln/>
        </p:spPr>
        <p:txBody>
          <a:bodyPr wrap="square" lIns="0" tIns="0" rIns="0" bIns="0" rtlCol="0" anchor="t"/>
          <a:lstStyle/>
          <a:p>
            <a:pPr indent="0" marL="0">
              <a:buNone/>
            </a:pPr>
            <a:r>
              <a:rPr lang="en-US" sz="1400" dirty="0">
                <a:solidFill>
                  <a:srgbClr val="E7DED8"/>
                </a:solidFill>
                <a:latin typeface="Calibri" pitchFamily="34" charset="0"/>
                <a:ea typeface="Calibri" pitchFamily="34" charset="-122"/>
                <a:cs typeface="Calibri" pitchFamily="34" charset="-120"/>
              </a:rPr>
              <a:t>El navegador nunca conoce la base de datos: no tiene su dirección, ni sus credenciales, ni su esquema. Solo conoce una URL base y un conjunto de rutas. Esa es la propiedad que permite sustituir la interfaz web por una app móvil o un punto de venta físico sin tocar una línea del servidor.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Cuatro capas, dependencias en un solo sentido</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Si el Dominio intentara conocer la base de datos, el proyecto no compilaría.</a:t>
            </a:r>
            <a:endParaRPr lang="en-US" sz="1400" dirty="0"/>
          </a:p>
        </p:txBody>
      </p:sp>
      <p:sp>
        <p:nvSpPr>
          <p:cNvPr id="4" name="Text 2"/>
          <p:cNvSpPr/>
          <p:nvPr/>
        </p:nvSpPr>
        <p:spPr>
          <a:xfrm>
            <a:off x="841248" y="1572768"/>
            <a:ext cx="2194560" cy="256032"/>
          </a:xfrm>
          <a:prstGeom prst="rect">
            <a:avLst/>
          </a:prstGeom>
          <a:noFill/>
          <a:ln/>
        </p:spPr>
        <p:txBody>
          <a:bodyPr wrap="square" lIns="0" tIns="0" rIns="0" bIns="0" rtlCol="0" anchor="ctr"/>
          <a:lstStyle/>
          <a:p>
            <a:pPr indent="0" marL="0">
              <a:buNone/>
            </a:pPr>
            <a:r>
              <a:rPr lang="en-US" sz="950" b="1" spc="120" kern="0" dirty="0">
                <a:solidFill>
                  <a:srgbClr val="78716C"/>
                </a:solidFill>
                <a:latin typeface="Calibri" pitchFamily="34" charset="0"/>
                <a:ea typeface="Calibri" pitchFamily="34" charset="-122"/>
                <a:cs typeface="Calibri" pitchFamily="34" charset="-120"/>
              </a:rPr>
              <a:t>CAPA</a:t>
            </a:r>
            <a:endParaRPr lang="en-US" sz="950" dirty="0"/>
          </a:p>
        </p:txBody>
      </p:sp>
      <p:sp>
        <p:nvSpPr>
          <p:cNvPr id="5" name="Text 3"/>
          <p:cNvSpPr/>
          <p:nvPr/>
        </p:nvSpPr>
        <p:spPr>
          <a:xfrm>
            <a:off x="3172968" y="1572768"/>
            <a:ext cx="2331720" cy="256032"/>
          </a:xfrm>
          <a:prstGeom prst="rect">
            <a:avLst/>
          </a:prstGeom>
          <a:noFill/>
          <a:ln/>
        </p:spPr>
        <p:txBody>
          <a:bodyPr wrap="square" lIns="0" tIns="0" rIns="0" bIns="0" rtlCol="0" anchor="ctr"/>
          <a:lstStyle/>
          <a:p>
            <a:pPr indent="0" marL="0">
              <a:buNone/>
            </a:pPr>
            <a:r>
              <a:rPr lang="en-US" sz="950" b="1" spc="120" kern="0" dirty="0">
                <a:solidFill>
                  <a:srgbClr val="78716C"/>
                </a:solidFill>
                <a:latin typeface="Calibri" pitchFamily="34" charset="0"/>
                <a:ea typeface="Calibri" pitchFamily="34" charset="-122"/>
                <a:cs typeface="Calibri" pitchFamily="34" charset="-120"/>
              </a:rPr>
              <a:t>PROYECTO</a:t>
            </a:r>
            <a:endParaRPr lang="en-US" sz="950" dirty="0"/>
          </a:p>
        </p:txBody>
      </p:sp>
      <p:sp>
        <p:nvSpPr>
          <p:cNvPr id="6" name="Text 4"/>
          <p:cNvSpPr/>
          <p:nvPr/>
        </p:nvSpPr>
        <p:spPr>
          <a:xfrm>
            <a:off x="5641848" y="1572768"/>
            <a:ext cx="3931920" cy="256032"/>
          </a:xfrm>
          <a:prstGeom prst="rect">
            <a:avLst/>
          </a:prstGeom>
          <a:noFill/>
          <a:ln/>
        </p:spPr>
        <p:txBody>
          <a:bodyPr wrap="square" lIns="0" tIns="0" rIns="0" bIns="0" rtlCol="0" anchor="ctr"/>
          <a:lstStyle/>
          <a:p>
            <a:pPr indent="0" marL="0">
              <a:buNone/>
            </a:pPr>
            <a:r>
              <a:rPr lang="en-US" sz="950" b="1" spc="120" kern="0" dirty="0">
                <a:solidFill>
                  <a:srgbClr val="78716C"/>
                </a:solidFill>
                <a:latin typeface="Calibri" pitchFamily="34" charset="0"/>
                <a:ea typeface="Calibri" pitchFamily="34" charset="-122"/>
                <a:cs typeface="Calibri" pitchFamily="34" charset="-120"/>
              </a:rPr>
              <a:t>RESPONSABILIDAD</a:t>
            </a:r>
            <a:endParaRPr lang="en-US" sz="950" dirty="0"/>
          </a:p>
        </p:txBody>
      </p:sp>
      <p:sp>
        <p:nvSpPr>
          <p:cNvPr id="7" name="Text 5"/>
          <p:cNvSpPr/>
          <p:nvPr/>
        </p:nvSpPr>
        <p:spPr>
          <a:xfrm>
            <a:off x="9710928" y="1572768"/>
            <a:ext cx="1691640" cy="256032"/>
          </a:xfrm>
          <a:prstGeom prst="rect">
            <a:avLst/>
          </a:prstGeom>
          <a:noFill/>
          <a:ln/>
        </p:spPr>
        <p:txBody>
          <a:bodyPr wrap="square" lIns="0" tIns="0" rIns="0" bIns="0" rtlCol="0" anchor="ctr"/>
          <a:lstStyle/>
          <a:p>
            <a:pPr indent="0" marL="0">
              <a:buNone/>
            </a:pPr>
            <a:r>
              <a:rPr lang="en-US" sz="950" b="1" spc="120" kern="0" dirty="0">
                <a:solidFill>
                  <a:srgbClr val="78716C"/>
                </a:solidFill>
                <a:latin typeface="Calibri" pitchFamily="34" charset="0"/>
                <a:ea typeface="Calibri" pitchFamily="34" charset="-122"/>
                <a:cs typeface="Calibri" pitchFamily="34" charset="-120"/>
              </a:rPr>
              <a:t>DEPENDE DE</a:t>
            </a:r>
            <a:endParaRPr lang="en-US" sz="950" dirty="0"/>
          </a:p>
        </p:txBody>
      </p:sp>
      <p:sp>
        <p:nvSpPr>
          <p:cNvPr id="8" name="Shape 6"/>
          <p:cNvSpPr/>
          <p:nvPr/>
        </p:nvSpPr>
        <p:spPr>
          <a:xfrm>
            <a:off x="566928" y="1874520"/>
            <a:ext cx="11055096" cy="914400"/>
          </a:xfrm>
          <a:prstGeom prst="roundRect">
            <a:avLst>
              <a:gd name="adj" fmla="val 900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9" name="Text 7"/>
          <p:cNvSpPr/>
          <p:nvPr/>
        </p:nvSpPr>
        <p:spPr>
          <a:xfrm>
            <a:off x="841248" y="1874520"/>
            <a:ext cx="2194560" cy="914400"/>
          </a:xfrm>
          <a:prstGeom prst="rect">
            <a:avLst/>
          </a:prstGeom>
          <a:noFill/>
          <a:ln/>
        </p:spPr>
        <p:txBody>
          <a:bodyPr wrap="square" lIns="0" tIns="0" rIns="0" bIns="0" rtlCol="0" anchor="ctr"/>
          <a:lstStyle/>
          <a:p>
            <a:pPr indent="0" marL="0">
              <a:buNone/>
            </a:pPr>
            <a:r>
              <a:rPr lang="en-US" sz="1600" b="1" dirty="0">
                <a:solidFill>
                  <a:srgbClr val="292524"/>
                </a:solidFill>
                <a:latin typeface="Cambria" pitchFamily="34" charset="0"/>
                <a:ea typeface="Cambria" pitchFamily="34" charset="-122"/>
                <a:cs typeface="Cambria" pitchFamily="34" charset="-120"/>
              </a:rPr>
              <a:t>Dominio</a:t>
            </a:r>
            <a:endParaRPr lang="en-US" sz="1600" dirty="0"/>
          </a:p>
        </p:txBody>
      </p:sp>
      <p:sp>
        <p:nvSpPr>
          <p:cNvPr id="10" name="Text 8"/>
          <p:cNvSpPr/>
          <p:nvPr/>
        </p:nvSpPr>
        <p:spPr>
          <a:xfrm>
            <a:off x="3172968" y="1874520"/>
            <a:ext cx="2331720" cy="914400"/>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Cafeteria.Domain</a:t>
            </a:r>
            <a:endParaRPr lang="en-US" sz="1050" dirty="0"/>
          </a:p>
        </p:txBody>
      </p:sp>
      <p:sp>
        <p:nvSpPr>
          <p:cNvPr id="11" name="Text 9"/>
          <p:cNvSpPr/>
          <p:nvPr/>
        </p:nvSpPr>
        <p:spPr>
          <a:xfrm>
            <a:off x="5641848" y="1874520"/>
            <a:ext cx="3931920" cy="914400"/>
          </a:xfrm>
          <a:prstGeom prst="rect">
            <a:avLst/>
          </a:prstGeom>
          <a:noFill/>
          <a:ln/>
        </p:spPr>
        <p:txBody>
          <a:bodyPr wrap="square" lIns="0" tIns="0" rIns="0" bIns="0" rtlCol="0" anchor="ctr"/>
          <a:lstStyle/>
          <a:p>
            <a:pPr indent="0" marL="0">
              <a:buNone/>
            </a:pPr>
            <a:r>
              <a:rPr lang="en-US" sz="1200" dirty="0">
                <a:solidFill>
                  <a:srgbClr val="78716C"/>
                </a:solidFill>
                <a:latin typeface="Calibri" pitchFamily="34" charset="0"/>
                <a:ea typeface="Calibri" pitchFamily="34" charset="-122"/>
                <a:cs typeface="Calibri" pitchFamily="34" charset="-120"/>
              </a:rPr>
              <a:t>Entidades, enumerados y el contrato genérico de repositorio. No sabe que existen HTTP ni SQL.</a:t>
            </a:r>
            <a:endParaRPr lang="en-US" sz="1200" dirty="0"/>
          </a:p>
        </p:txBody>
      </p:sp>
      <p:sp>
        <p:nvSpPr>
          <p:cNvPr id="12" name="Text 10"/>
          <p:cNvSpPr/>
          <p:nvPr/>
        </p:nvSpPr>
        <p:spPr>
          <a:xfrm>
            <a:off x="9710928" y="1874520"/>
            <a:ext cx="1691640" cy="914400"/>
          </a:xfrm>
          <a:prstGeom prst="rect">
            <a:avLst/>
          </a:prstGeom>
          <a:noFill/>
          <a:ln/>
        </p:spPr>
        <p:txBody>
          <a:bodyPr wrap="square" lIns="0" tIns="0" rIns="0" bIns="0" rtlCol="0" anchor="ctr"/>
          <a:lstStyle/>
          <a:p>
            <a:pPr indent="0" marL="0">
              <a:buNone/>
            </a:pPr>
            <a:r>
              <a:rPr lang="en-US" sz="1100" b="1" dirty="0">
                <a:solidFill>
                  <a:srgbClr val="15803D"/>
                </a:solidFill>
                <a:latin typeface="Calibri" pitchFamily="34" charset="0"/>
                <a:ea typeface="Calibri" pitchFamily="34" charset="-122"/>
                <a:cs typeface="Calibri" pitchFamily="34" charset="-120"/>
              </a:rPr>
              <a:t>nada</a:t>
            </a:r>
            <a:endParaRPr lang="en-US" sz="1100" dirty="0"/>
          </a:p>
        </p:txBody>
      </p:sp>
      <p:sp>
        <p:nvSpPr>
          <p:cNvPr id="13" name="Shape 11"/>
          <p:cNvSpPr/>
          <p:nvPr/>
        </p:nvSpPr>
        <p:spPr>
          <a:xfrm>
            <a:off x="566928" y="2880360"/>
            <a:ext cx="11055096" cy="914400"/>
          </a:xfrm>
          <a:prstGeom prst="roundRect">
            <a:avLst>
              <a:gd name="adj" fmla="val 900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4" name="Text 12"/>
          <p:cNvSpPr/>
          <p:nvPr/>
        </p:nvSpPr>
        <p:spPr>
          <a:xfrm>
            <a:off x="841248" y="2880360"/>
            <a:ext cx="2194560" cy="914400"/>
          </a:xfrm>
          <a:prstGeom prst="rect">
            <a:avLst/>
          </a:prstGeom>
          <a:noFill/>
          <a:ln/>
        </p:spPr>
        <p:txBody>
          <a:bodyPr wrap="square" lIns="0" tIns="0" rIns="0" bIns="0" rtlCol="0" anchor="ctr"/>
          <a:lstStyle/>
          <a:p>
            <a:pPr indent="0" marL="0">
              <a:buNone/>
            </a:pPr>
            <a:r>
              <a:rPr lang="en-US" sz="1600" b="1" dirty="0">
                <a:solidFill>
                  <a:srgbClr val="292524"/>
                </a:solidFill>
                <a:latin typeface="Cambria" pitchFamily="34" charset="0"/>
                <a:ea typeface="Cambria" pitchFamily="34" charset="-122"/>
                <a:cs typeface="Cambria" pitchFamily="34" charset="-120"/>
              </a:rPr>
              <a:t>Aplicación</a:t>
            </a:r>
            <a:endParaRPr lang="en-US" sz="1600" dirty="0"/>
          </a:p>
        </p:txBody>
      </p:sp>
      <p:sp>
        <p:nvSpPr>
          <p:cNvPr id="15" name="Text 13"/>
          <p:cNvSpPr/>
          <p:nvPr/>
        </p:nvSpPr>
        <p:spPr>
          <a:xfrm>
            <a:off x="3172968" y="2880360"/>
            <a:ext cx="2331720" cy="914400"/>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Cafeteria.Application</a:t>
            </a:r>
            <a:endParaRPr lang="en-US" sz="1050" dirty="0"/>
          </a:p>
        </p:txBody>
      </p:sp>
      <p:sp>
        <p:nvSpPr>
          <p:cNvPr id="16" name="Text 14"/>
          <p:cNvSpPr/>
          <p:nvPr/>
        </p:nvSpPr>
        <p:spPr>
          <a:xfrm>
            <a:off x="5641848" y="2880360"/>
            <a:ext cx="3931920" cy="914400"/>
          </a:xfrm>
          <a:prstGeom prst="rect">
            <a:avLst/>
          </a:prstGeom>
          <a:noFill/>
          <a:ln/>
        </p:spPr>
        <p:txBody>
          <a:bodyPr wrap="square" lIns="0" tIns="0" rIns="0" bIns="0" rtlCol="0" anchor="ctr"/>
          <a:lstStyle/>
          <a:p>
            <a:pPr indent="0" marL="0">
              <a:buNone/>
            </a:pPr>
            <a:r>
              <a:rPr lang="en-US" sz="1200" dirty="0">
                <a:solidFill>
                  <a:srgbClr val="78716C"/>
                </a:solidFill>
                <a:latin typeface="Calibri" pitchFamily="34" charset="0"/>
                <a:ea typeface="Calibri" pitchFamily="34" charset="-122"/>
                <a:cs typeface="Calibri" pitchFamily="34" charset="-120"/>
              </a:rPr>
              <a:t>Casos de uso, DTOs y validación de las 16 reglas de negocio del sistema.</a:t>
            </a:r>
            <a:endParaRPr lang="en-US" sz="1200" dirty="0"/>
          </a:p>
        </p:txBody>
      </p:sp>
      <p:sp>
        <p:nvSpPr>
          <p:cNvPr id="17" name="Text 15"/>
          <p:cNvSpPr/>
          <p:nvPr/>
        </p:nvSpPr>
        <p:spPr>
          <a:xfrm>
            <a:off x="9710928" y="2880360"/>
            <a:ext cx="1691640" cy="914400"/>
          </a:xfrm>
          <a:prstGeom prst="rect">
            <a:avLst/>
          </a:prstGeom>
          <a:noFill/>
          <a:ln/>
        </p:spPr>
        <p:txBody>
          <a:bodyPr wrap="square" lIns="0" tIns="0" rIns="0" bIns="0" rtlCol="0" anchor="ctr"/>
          <a:lstStyle/>
          <a:p>
            <a:pPr indent="0" marL="0">
              <a:buNone/>
            </a:pPr>
            <a:r>
              <a:rPr lang="en-US" sz="1100" b="1" dirty="0">
                <a:solidFill>
                  <a:srgbClr val="292524"/>
                </a:solidFill>
                <a:latin typeface="Calibri" pitchFamily="34" charset="0"/>
                <a:ea typeface="Calibri" pitchFamily="34" charset="-122"/>
                <a:cs typeface="Calibri" pitchFamily="34" charset="-120"/>
              </a:rPr>
              <a:t>Dominio,</a:t>
            </a:r>
            <a:endParaRPr lang="en-US" sz="1100" dirty="0"/>
          </a:p>
          <a:p>
            <a:pPr indent="0" marL="0">
              <a:buNone/>
            </a:pPr>
            <a:r>
              <a:rPr lang="en-US" sz="1100" b="1" dirty="0">
                <a:solidFill>
                  <a:srgbClr val="292524"/>
                </a:solidFill>
                <a:latin typeface="Calibri" pitchFamily="34" charset="0"/>
                <a:ea typeface="Calibri" pitchFamily="34" charset="-122"/>
                <a:cs typeface="Calibri" pitchFamily="34" charset="-120"/>
              </a:rPr>
              <a:t>Infraestructura</a:t>
            </a:r>
            <a:endParaRPr lang="en-US" sz="1100" dirty="0"/>
          </a:p>
        </p:txBody>
      </p:sp>
      <p:sp>
        <p:nvSpPr>
          <p:cNvPr id="18" name="Shape 16"/>
          <p:cNvSpPr/>
          <p:nvPr/>
        </p:nvSpPr>
        <p:spPr>
          <a:xfrm>
            <a:off x="566928" y="3886200"/>
            <a:ext cx="11055096" cy="914400"/>
          </a:xfrm>
          <a:prstGeom prst="roundRect">
            <a:avLst>
              <a:gd name="adj" fmla="val 900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9" name="Text 17"/>
          <p:cNvSpPr/>
          <p:nvPr/>
        </p:nvSpPr>
        <p:spPr>
          <a:xfrm>
            <a:off x="841248" y="3886200"/>
            <a:ext cx="2194560" cy="914400"/>
          </a:xfrm>
          <a:prstGeom prst="rect">
            <a:avLst/>
          </a:prstGeom>
          <a:noFill/>
          <a:ln/>
        </p:spPr>
        <p:txBody>
          <a:bodyPr wrap="square" lIns="0" tIns="0" rIns="0" bIns="0" rtlCol="0" anchor="ctr"/>
          <a:lstStyle/>
          <a:p>
            <a:pPr indent="0" marL="0">
              <a:buNone/>
            </a:pPr>
            <a:r>
              <a:rPr lang="en-US" sz="1600" b="1" dirty="0">
                <a:solidFill>
                  <a:srgbClr val="292524"/>
                </a:solidFill>
                <a:latin typeface="Cambria" pitchFamily="34" charset="0"/>
                <a:ea typeface="Cambria" pitchFamily="34" charset="-122"/>
                <a:cs typeface="Cambria" pitchFamily="34" charset="-120"/>
              </a:rPr>
              <a:t>Infraestructura</a:t>
            </a:r>
            <a:endParaRPr lang="en-US" sz="1600" dirty="0"/>
          </a:p>
        </p:txBody>
      </p:sp>
      <p:sp>
        <p:nvSpPr>
          <p:cNvPr id="20" name="Text 18"/>
          <p:cNvSpPr/>
          <p:nvPr/>
        </p:nvSpPr>
        <p:spPr>
          <a:xfrm>
            <a:off x="3172968" y="3886200"/>
            <a:ext cx="2331720" cy="914400"/>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Cafeteria.Infraestructure</a:t>
            </a:r>
            <a:endParaRPr lang="en-US" sz="1050" dirty="0"/>
          </a:p>
        </p:txBody>
      </p:sp>
      <p:sp>
        <p:nvSpPr>
          <p:cNvPr id="21" name="Text 19"/>
          <p:cNvSpPr/>
          <p:nvPr/>
        </p:nvSpPr>
        <p:spPr>
          <a:xfrm>
            <a:off x="5641848" y="3886200"/>
            <a:ext cx="3931920" cy="914400"/>
          </a:xfrm>
          <a:prstGeom prst="rect">
            <a:avLst/>
          </a:prstGeom>
          <a:noFill/>
          <a:ln/>
        </p:spPr>
        <p:txBody>
          <a:bodyPr wrap="square" lIns="0" tIns="0" rIns="0" bIns="0" rtlCol="0" anchor="ctr"/>
          <a:lstStyle/>
          <a:p>
            <a:pPr indent="0" marL="0">
              <a:buNone/>
            </a:pPr>
            <a:r>
              <a:rPr lang="en-US" sz="1200" dirty="0">
                <a:solidFill>
                  <a:srgbClr val="78716C"/>
                </a:solidFill>
                <a:latin typeface="Calibri" pitchFamily="34" charset="0"/>
                <a:ea typeface="Calibri" pitchFamily="34" charset="-122"/>
                <a:cs typeface="Calibri" pitchFamily="34" charset="-120"/>
              </a:rPr>
              <a:t>EF Core, mapeo relacional, repositorios concretos y migraciones versionadas.</a:t>
            </a:r>
            <a:endParaRPr lang="en-US" sz="1200" dirty="0"/>
          </a:p>
        </p:txBody>
      </p:sp>
      <p:sp>
        <p:nvSpPr>
          <p:cNvPr id="22" name="Text 20"/>
          <p:cNvSpPr/>
          <p:nvPr/>
        </p:nvSpPr>
        <p:spPr>
          <a:xfrm>
            <a:off x="9710928" y="3886200"/>
            <a:ext cx="1691640" cy="914400"/>
          </a:xfrm>
          <a:prstGeom prst="rect">
            <a:avLst/>
          </a:prstGeom>
          <a:noFill/>
          <a:ln/>
        </p:spPr>
        <p:txBody>
          <a:bodyPr wrap="square" lIns="0" tIns="0" rIns="0" bIns="0" rtlCol="0" anchor="ctr"/>
          <a:lstStyle/>
          <a:p>
            <a:pPr indent="0" marL="0">
              <a:buNone/>
            </a:pPr>
            <a:r>
              <a:rPr lang="en-US" sz="1100" b="1" dirty="0">
                <a:solidFill>
                  <a:srgbClr val="292524"/>
                </a:solidFill>
                <a:latin typeface="Calibri" pitchFamily="34" charset="0"/>
                <a:ea typeface="Calibri" pitchFamily="34" charset="-122"/>
                <a:cs typeface="Calibri" pitchFamily="34" charset="-120"/>
              </a:rPr>
              <a:t>Dominio</a:t>
            </a:r>
            <a:endParaRPr lang="en-US" sz="1100" dirty="0"/>
          </a:p>
        </p:txBody>
      </p:sp>
      <p:sp>
        <p:nvSpPr>
          <p:cNvPr id="23" name="Shape 21"/>
          <p:cNvSpPr/>
          <p:nvPr/>
        </p:nvSpPr>
        <p:spPr>
          <a:xfrm>
            <a:off x="566928" y="4892040"/>
            <a:ext cx="11055096" cy="914400"/>
          </a:xfrm>
          <a:prstGeom prst="roundRect">
            <a:avLst>
              <a:gd name="adj" fmla="val 900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4" name="Text 22"/>
          <p:cNvSpPr/>
          <p:nvPr/>
        </p:nvSpPr>
        <p:spPr>
          <a:xfrm>
            <a:off x="841248" y="4892040"/>
            <a:ext cx="2194560" cy="914400"/>
          </a:xfrm>
          <a:prstGeom prst="rect">
            <a:avLst/>
          </a:prstGeom>
          <a:noFill/>
          <a:ln/>
        </p:spPr>
        <p:txBody>
          <a:bodyPr wrap="square" lIns="0" tIns="0" rIns="0" bIns="0" rtlCol="0" anchor="ctr"/>
          <a:lstStyle/>
          <a:p>
            <a:pPr indent="0" marL="0">
              <a:buNone/>
            </a:pPr>
            <a:r>
              <a:rPr lang="en-US" sz="1600" b="1" dirty="0">
                <a:solidFill>
                  <a:srgbClr val="292524"/>
                </a:solidFill>
                <a:latin typeface="Cambria" pitchFamily="34" charset="0"/>
                <a:ea typeface="Cambria" pitchFamily="34" charset="-122"/>
                <a:cs typeface="Cambria" pitchFamily="34" charset="-120"/>
              </a:rPr>
              <a:t>Presentación</a:t>
            </a:r>
            <a:endParaRPr lang="en-US" sz="1600" dirty="0"/>
          </a:p>
        </p:txBody>
      </p:sp>
      <p:sp>
        <p:nvSpPr>
          <p:cNvPr id="25" name="Text 23"/>
          <p:cNvSpPr/>
          <p:nvPr/>
        </p:nvSpPr>
        <p:spPr>
          <a:xfrm>
            <a:off x="3172968" y="4892040"/>
            <a:ext cx="2331720" cy="914400"/>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GestorCafeteria.API</a:t>
            </a:r>
            <a:endParaRPr lang="en-US" sz="1050" dirty="0"/>
          </a:p>
        </p:txBody>
      </p:sp>
      <p:sp>
        <p:nvSpPr>
          <p:cNvPr id="26" name="Text 24"/>
          <p:cNvSpPr/>
          <p:nvPr/>
        </p:nvSpPr>
        <p:spPr>
          <a:xfrm>
            <a:off x="5641848" y="4892040"/>
            <a:ext cx="3931920" cy="914400"/>
          </a:xfrm>
          <a:prstGeom prst="rect">
            <a:avLst/>
          </a:prstGeom>
          <a:noFill/>
          <a:ln/>
        </p:spPr>
        <p:txBody>
          <a:bodyPr wrap="square" lIns="0" tIns="0" rIns="0" bIns="0" rtlCol="0" anchor="ctr"/>
          <a:lstStyle/>
          <a:p>
            <a:pPr indent="0" marL="0">
              <a:buNone/>
            </a:pPr>
            <a:r>
              <a:rPr lang="en-US" sz="1200" dirty="0">
                <a:solidFill>
                  <a:srgbClr val="78716C"/>
                </a:solidFill>
                <a:latin typeface="Calibri" pitchFamily="34" charset="0"/>
                <a:ea typeface="Calibri" pitchFamily="34" charset="-122"/>
                <a:cs typeface="Calibri" pitchFamily="34" charset="-120"/>
              </a:rPr>
              <a:t>Controladores REST, política CORS, inyección de dependencias y códigos HTTP.</a:t>
            </a:r>
            <a:endParaRPr lang="en-US" sz="1200" dirty="0"/>
          </a:p>
        </p:txBody>
      </p:sp>
      <p:sp>
        <p:nvSpPr>
          <p:cNvPr id="27" name="Text 25"/>
          <p:cNvSpPr/>
          <p:nvPr/>
        </p:nvSpPr>
        <p:spPr>
          <a:xfrm>
            <a:off x="9710928" y="4892040"/>
            <a:ext cx="1691640" cy="914400"/>
          </a:xfrm>
          <a:prstGeom prst="rect">
            <a:avLst/>
          </a:prstGeom>
          <a:noFill/>
          <a:ln/>
        </p:spPr>
        <p:txBody>
          <a:bodyPr wrap="square" lIns="0" tIns="0" rIns="0" bIns="0" rtlCol="0" anchor="ctr"/>
          <a:lstStyle/>
          <a:p>
            <a:pPr indent="0" marL="0">
              <a:buNone/>
            </a:pPr>
            <a:r>
              <a:rPr lang="en-US" sz="1100" b="1" dirty="0">
                <a:solidFill>
                  <a:srgbClr val="292524"/>
                </a:solidFill>
                <a:latin typeface="Calibri" pitchFamily="34" charset="0"/>
                <a:ea typeface="Calibri" pitchFamily="34" charset="-122"/>
                <a:cs typeface="Calibri" pitchFamily="34" charset="-120"/>
              </a:rPr>
              <a:t>Aplicación,</a:t>
            </a:r>
            <a:endParaRPr lang="en-US" sz="1100" dirty="0"/>
          </a:p>
          <a:p>
            <a:pPr indent="0" marL="0">
              <a:buNone/>
            </a:pPr>
            <a:r>
              <a:rPr lang="en-US" sz="1100" b="1" dirty="0">
                <a:solidFill>
                  <a:srgbClr val="292524"/>
                </a:solidFill>
                <a:latin typeface="Calibri" pitchFamily="34" charset="0"/>
                <a:ea typeface="Calibri" pitchFamily="34" charset="-122"/>
                <a:cs typeface="Calibri" pitchFamily="34" charset="-120"/>
              </a:rPr>
              <a:t>Infraestructura</a:t>
            </a:r>
            <a:endParaRPr lang="en-US" sz="1100" dirty="0"/>
          </a:p>
        </p:txBody>
      </p:sp>
      <p:sp>
        <p:nvSpPr>
          <p:cNvPr id="28" name="Text 26"/>
          <p:cNvSpPr/>
          <p:nvPr/>
        </p:nvSpPr>
        <p:spPr>
          <a:xfrm>
            <a:off x="566928" y="5989320"/>
            <a:ext cx="11055096" cy="365760"/>
          </a:xfrm>
          <a:prstGeom prst="rect">
            <a:avLst/>
          </a:prstGeom>
          <a:noFill/>
          <a:ln/>
        </p:spPr>
        <p:txBody>
          <a:bodyPr wrap="square" lIns="0" tIns="0" rIns="0" bIns="0" rtlCol="0" anchor="ctr"/>
          <a:lstStyle/>
          <a:p>
            <a:pPr indent="0" marL="0">
              <a:buNone/>
            </a:pPr>
            <a:r>
              <a:rPr lang="en-US" sz="1250" i="1" dirty="0">
                <a:solidFill>
                  <a:srgbClr val="78716C"/>
                </a:solidFill>
                <a:latin typeface="Calibri" pitchFamily="34" charset="0"/>
                <a:ea typeface="Calibri" pitchFamily="34" charset="-122"/>
                <a:cs typeface="Calibri" pitchFamily="34" charset="-120"/>
              </a:rPr>
              <a:t>El cliente web es un quinto módulo, en otro proceso: no referencia ninguna capa, solo la red.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Cuatro clases abstractas, una por capa</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Ninguna se puede instanciar. Existen para que sus derivadas hereden comportamiento, y para que el compilador impida el uso incorrecto.</a:t>
            </a:r>
            <a:endParaRPr lang="en-US" sz="1400" dirty="0"/>
          </a:p>
        </p:txBody>
      </p:sp>
      <p:sp>
        <p:nvSpPr>
          <p:cNvPr id="4" name="Shape 2"/>
          <p:cNvSpPr/>
          <p:nvPr/>
        </p:nvSpPr>
        <p:spPr>
          <a:xfrm>
            <a:off x="566928" y="1965960"/>
            <a:ext cx="5413248" cy="1901952"/>
          </a:xfrm>
          <a:prstGeom prst="roundRect">
            <a:avLst>
              <a:gd name="adj" fmla="val 432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59536" y="2130552"/>
            <a:ext cx="3840480" cy="329184"/>
          </a:xfrm>
          <a:prstGeom prst="rect">
            <a:avLst/>
          </a:prstGeom>
          <a:noFill/>
          <a:ln/>
        </p:spPr>
        <p:txBody>
          <a:bodyPr wrap="square" lIns="0" tIns="0" rIns="0" bIns="0" rtlCol="0" anchor="ctr"/>
          <a:lstStyle/>
          <a:p>
            <a:pPr indent="0" marL="0">
              <a:buNone/>
            </a:pPr>
            <a:r>
              <a:rPr lang="en-US" sz="1350" b="1" dirty="0">
                <a:solidFill>
                  <a:srgbClr val="292524"/>
                </a:solidFill>
                <a:latin typeface="Courier New" pitchFamily="34" charset="0"/>
                <a:ea typeface="Courier New" pitchFamily="34" charset="-122"/>
                <a:cs typeface="Courier New" pitchFamily="34" charset="-120"/>
              </a:rPr>
              <a:t>BaseEntity</a:t>
            </a:r>
            <a:endParaRPr lang="en-US" sz="1350" dirty="0"/>
          </a:p>
        </p:txBody>
      </p:sp>
      <p:sp>
        <p:nvSpPr>
          <p:cNvPr id="6" name="Text 4"/>
          <p:cNvSpPr/>
          <p:nvPr/>
        </p:nvSpPr>
        <p:spPr>
          <a:xfrm>
            <a:off x="4270248" y="2130552"/>
            <a:ext cx="1417320" cy="329184"/>
          </a:xfrm>
          <a:prstGeom prst="rect">
            <a:avLst/>
          </a:prstGeom>
          <a:noFill/>
          <a:ln/>
        </p:spPr>
        <p:txBody>
          <a:bodyPr wrap="square" lIns="0" tIns="0" rIns="0" bIns="0" rtlCol="0" anchor="ctr"/>
          <a:lstStyle/>
          <a:p>
            <a:pPr algn="r" indent="0" marL="0">
              <a:buNone/>
            </a:pPr>
            <a:r>
              <a:rPr lang="en-US" sz="1050" b="1" dirty="0">
                <a:solidFill>
                  <a:srgbClr val="D97706"/>
                </a:solidFill>
                <a:latin typeface="Calibri" pitchFamily="34" charset="0"/>
                <a:ea typeface="Calibri" pitchFamily="34" charset="-122"/>
                <a:cs typeface="Calibri" pitchFamily="34" charset="-120"/>
              </a:rPr>
              <a:t>Dominio</a:t>
            </a:r>
            <a:endParaRPr lang="en-US" sz="1050" dirty="0"/>
          </a:p>
        </p:txBody>
      </p:sp>
      <p:sp>
        <p:nvSpPr>
          <p:cNvPr id="7" name="Text 5"/>
          <p:cNvSpPr/>
          <p:nvPr/>
        </p:nvSpPr>
        <p:spPr>
          <a:xfrm>
            <a:off x="859536" y="2532888"/>
            <a:ext cx="4828032" cy="822960"/>
          </a:xfrm>
          <a:prstGeom prst="rect">
            <a:avLst/>
          </a:prstGeom>
          <a:noFill/>
          <a:ln/>
        </p:spPr>
        <p:txBody>
          <a:bodyPr wrap="square" lIns="0" tIns="0" rIns="0" bIns="0" rtlCol="0" anchor="t"/>
          <a:lstStyle/>
          <a:p>
            <a:pPr indent="0" marL="0">
              <a:buNone/>
            </a:pPr>
            <a:r>
              <a:rPr lang="en-US" sz="1200" dirty="0">
                <a:solidFill>
                  <a:srgbClr val="78716C"/>
                </a:solidFill>
                <a:latin typeface="Calibri" pitchFamily="34" charset="0"/>
                <a:ea typeface="Calibri" pitchFamily="34" charset="-122"/>
                <a:cs typeface="Calibri" pitchFamily="34" charset="-120"/>
              </a:rPr>
              <a:t>Aporta la identidad: la propiedad Id que toda entidad persistible necesita. Sirve además como restricción genérica de tipo.</a:t>
            </a:r>
            <a:endParaRPr lang="en-US" sz="1200" dirty="0"/>
          </a:p>
        </p:txBody>
      </p:sp>
      <p:sp>
        <p:nvSpPr>
          <p:cNvPr id="8" name="Text 6"/>
          <p:cNvSpPr/>
          <p:nvPr/>
        </p:nvSpPr>
        <p:spPr>
          <a:xfrm>
            <a:off x="859536" y="3410712"/>
            <a:ext cx="4828032" cy="310896"/>
          </a:xfrm>
          <a:prstGeom prst="rect">
            <a:avLst/>
          </a:prstGeom>
          <a:noFill/>
          <a:ln/>
        </p:spPr>
        <p:txBody>
          <a:bodyPr wrap="square" lIns="0" tIns="0" rIns="0" bIns="0" rtlCol="0" anchor="ctr"/>
          <a:lstStyle/>
          <a:p>
            <a:pPr indent="0" marL="0">
              <a:buNone/>
            </a:pPr>
            <a:r>
              <a:rPr lang="en-US" sz="1000" b="1" dirty="0">
                <a:solidFill>
                  <a:srgbClr val="292524"/>
                </a:solidFill>
                <a:latin typeface="Calibri" pitchFamily="34" charset="0"/>
                <a:ea typeface="Calibri" pitchFamily="34" charset="-122"/>
                <a:cs typeface="Calibri" pitchFamily="34" charset="-120"/>
              </a:rPr>
              <a:t>Cliente · Producto · Orden · DetalleOrden</a:t>
            </a:r>
            <a:endParaRPr lang="en-US" sz="1000" dirty="0"/>
          </a:p>
        </p:txBody>
      </p:sp>
      <p:sp>
        <p:nvSpPr>
          <p:cNvPr id="9" name="Shape 7"/>
          <p:cNvSpPr/>
          <p:nvPr/>
        </p:nvSpPr>
        <p:spPr>
          <a:xfrm>
            <a:off x="6208776" y="1965960"/>
            <a:ext cx="5413248" cy="1901952"/>
          </a:xfrm>
          <a:prstGeom prst="roundRect">
            <a:avLst>
              <a:gd name="adj" fmla="val 432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0" name="Text 8"/>
          <p:cNvSpPr/>
          <p:nvPr/>
        </p:nvSpPr>
        <p:spPr>
          <a:xfrm>
            <a:off x="6501384" y="2130552"/>
            <a:ext cx="3840480" cy="329184"/>
          </a:xfrm>
          <a:prstGeom prst="rect">
            <a:avLst/>
          </a:prstGeom>
          <a:noFill/>
          <a:ln/>
        </p:spPr>
        <p:txBody>
          <a:bodyPr wrap="square" lIns="0" tIns="0" rIns="0" bIns="0" rtlCol="0" anchor="ctr"/>
          <a:lstStyle/>
          <a:p>
            <a:pPr indent="0" marL="0">
              <a:buNone/>
            </a:pPr>
            <a:r>
              <a:rPr lang="en-US" sz="1350" b="1" dirty="0">
                <a:solidFill>
                  <a:srgbClr val="292524"/>
                </a:solidFill>
                <a:latin typeface="Courier New" pitchFamily="34" charset="0"/>
                <a:ea typeface="Courier New" pitchFamily="34" charset="-122"/>
                <a:cs typeface="Courier New" pitchFamily="34" charset="-120"/>
              </a:rPr>
              <a:t>BaseRepository&lt;TEntity&gt;</a:t>
            </a:r>
            <a:endParaRPr lang="en-US" sz="1350" dirty="0"/>
          </a:p>
        </p:txBody>
      </p:sp>
      <p:sp>
        <p:nvSpPr>
          <p:cNvPr id="11" name="Text 9"/>
          <p:cNvSpPr/>
          <p:nvPr/>
        </p:nvSpPr>
        <p:spPr>
          <a:xfrm>
            <a:off x="9912096" y="2130552"/>
            <a:ext cx="1417320" cy="329184"/>
          </a:xfrm>
          <a:prstGeom prst="rect">
            <a:avLst/>
          </a:prstGeom>
          <a:noFill/>
          <a:ln/>
        </p:spPr>
        <p:txBody>
          <a:bodyPr wrap="square" lIns="0" tIns="0" rIns="0" bIns="0" rtlCol="0" anchor="ctr"/>
          <a:lstStyle/>
          <a:p>
            <a:pPr algn="r" indent="0" marL="0">
              <a:buNone/>
            </a:pPr>
            <a:r>
              <a:rPr lang="en-US" sz="1050" b="1" dirty="0">
                <a:solidFill>
                  <a:srgbClr val="D97706"/>
                </a:solidFill>
                <a:latin typeface="Calibri" pitchFamily="34" charset="0"/>
                <a:ea typeface="Calibri" pitchFamily="34" charset="-122"/>
                <a:cs typeface="Calibri" pitchFamily="34" charset="-120"/>
              </a:rPr>
              <a:t>Infraestructura</a:t>
            </a:r>
            <a:endParaRPr lang="en-US" sz="1050" dirty="0"/>
          </a:p>
        </p:txBody>
      </p:sp>
      <p:sp>
        <p:nvSpPr>
          <p:cNvPr id="12" name="Text 10"/>
          <p:cNvSpPr/>
          <p:nvPr/>
        </p:nvSpPr>
        <p:spPr>
          <a:xfrm>
            <a:off x="6501384" y="2532888"/>
            <a:ext cx="4828032" cy="822960"/>
          </a:xfrm>
          <a:prstGeom prst="rect">
            <a:avLst/>
          </a:prstGeom>
          <a:noFill/>
          <a:ln/>
        </p:spPr>
        <p:txBody>
          <a:bodyPr wrap="square" lIns="0" tIns="0" rIns="0" bIns="0" rtlCol="0" anchor="t"/>
          <a:lstStyle/>
          <a:p>
            <a:pPr indent="0" marL="0">
              <a:buNone/>
            </a:pPr>
            <a:r>
              <a:rPr lang="en-US" sz="1200" dirty="0">
                <a:solidFill>
                  <a:srgbClr val="78716C"/>
                </a:solidFill>
                <a:latin typeface="Calibri" pitchFamily="34" charset="0"/>
                <a:ea typeface="Calibri" pitchFamily="34" charset="-122"/>
                <a:cs typeface="Calibri" pitchFamily="34" charset="-120"/>
              </a:rPr>
              <a:t>Un CRUD asíncrono de seis operaciones, escrito una sola vez. Todos sus métodos son virtuales, así que cualquier hija puede redefinirlos.</a:t>
            </a:r>
            <a:endParaRPr lang="en-US" sz="1200" dirty="0"/>
          </a:p>
        </p:txBody>
      </p:sp>
      <p:sp>
        <p:nvSpPr>
          <p:cNvPr id="13" name="Text 11"/>
          <p:cNvSpPr/>
          <p:nvPr/>
        </p:nvSpPr>
        <p:spPr>
          <a:xfrm>
            <a:off x="6501384" y="3410712"/>
            <a:ext cx="4828032" cy="310896"/>
          </a:xfrm>
          <a:prstGeom prst="rect">
            <a:avLst/>
          </a:prstGeom>
          <a:noFill/>
          <a:ln/>
        </p:spPr>
        <p:txBody>
          <a:bodyPr wrap="square" lIns="0" tIns="0" rIns="0" bIns="0" rtlCol="0" anchor="ctr"/>
          <a:lstStyle/>
          <a:p>
            <a:pPr indent="0" marL="0">
              <a:buNone/>
            </a:pPr>
            <a:r>
              <a:rPr lang="en-US" sz="1000" b="1" dirty="0">
                <a:solidFill>
                  <a:srgbClr val="292524"/>
                </a:solidFill>
                <a:latin typeface="Calibri" pitchFamily="34" charset="0"/>
                <a:ea typeface="Calibri" pitchFamily="34" charset="-122"/>
                <a:cs typeface="Calibri" pitchFamily="34" charset="-120"/>
              </a:rPr>
              <a:t>ClienteRepository · ProductoRepository · OrdenRepository</a:t>
            </a:r>
            <a:endParaRPr lang="en-US" sz="1000" dirty="0"/>
          </a:p>
        </p:txBody>
      </p:sp>
      <p:sp>
        <p:nvSpPr>
          <p:cNvPr id="14" name="Shape 12"/>
          <p:cNvSpPr/>
          <p:nvPr/>
        </p:nvSpPr>
        <p:spPr>
          <a:xfrm>
            <a:off x="566928" y="4050792"/>
            <a:ext cx="5413248" cy="1901952"/>
          </a:xfrm>
          <a:prstGeom prst="roundRect">
            <a:avLst>
              <a:gd name="adj" fmla="val 432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Text 13"/>
          <p:cNvSpPr/>
          <p:nvPr/>
        </p:nvSpPr>
        <p:spPr>
          <a:xfrm>
            <a:off x="859536" y="4215384"/>
            <a:ext cx="3840480" cy="329184"/>
          </a:xfrm>
          <a:prstGeom prst="rect">
            <a:avLst/>
          </a:prstGeom>
          <a:noFill/>
          <a:ln/>
        </p:spPr>
        <p:txBody>
          <a:bodyPr wrap="square" lIns="0" tIns="0" rIns="0" bIns="0" rtlCol="0" anchor="ctr"/>
          <a:lstStyle/>
          <a:p>
            <a:pPr indent="0" marL="0">
              <a:buNone/>
            </a:pPr>
            <a:r>
              <a:rPr lang="en-US" sz="1350" b="1" dirty="0">
                <a:solidFill>
                  <a:srgbClr val="292524"/>
                </a:solidFill>
                <a:latin typeface="Courier New" pitchFamily="34" charset="0"/>
                <a:ea typeface="Courier New" pitchFamily="34" charset="-122"/>
                <a:cs typeface="Courier New" pitchFamily="34" charset="-120"/>
              </a:rPr>
              <a:t>BaseService</a:t>
            </a:r>
            <a:endParaRPr lang="en-US" sz="1350" dirty="0"/>
          </a:p>
        </p:txBody>
      </p:sp>
      <p:sp>
        <p:nvSpPr>
          <p:cNvPr id="16" name="Text 14"/>
          <p:cNvSpPr/>
          <p:nvPr/>
        </p:nvSpPr>
        <p:spPr>
          <a:xfrm>
            <a:off x="4270248" y="4215384"/>
            <a:ext cx="1417320" cy="329184"/>
          </a:xfrm>
          <a:prstGeom prst="rect">
            <a:avLst/>
          </a:prstGeom>
          <a:noFill/>
          <a:ln/>
        </p:spPr>
        <p:txBody>
          <a:bodyPr wrap="square" lIns="0" tIns="0" rIns="0" bIns="0" rtlCol="0" anchor="ctr"/>
          <a:lstStyle/>
          <a:p>
            <a:pPr algn="r" indent="0" marL="0">
              <a:buNone/>
            </a:pPr>
            <a:r>
              <a:rPr lang="en-US" sz="1050" b="1" dirty="0">
                <a:solidFill>
                  <a:srgbClr val="D97706"/>
                </a:solidFill>
                <a:latin typeface="Calibri" pitchFamily="34" charset="0"/>
                <a:ea typeface="Calibri" pitchFamily="34" charset="-122"/>
                <a:cs typeface="Calibri" pitchFamily="34" charset="-120"/>
              </a:rPr>
              <a:t>Aplicación</a:t>
            </a:r>
            <a:endParaRPr lang="en-US" sz="1050" dirty="0"/>
          </a:p>
        </p:txBody>
      </p:sp>
      <p:sp>
        <p:nvSpPr>
          <p:cNvPr id="17" name="Text 15"/>
          <p:cNvSpPr/>
          <p:nvPr/>
        </p:nvSpPr>
        <p:spPr>
          <a:xfrm>
            <a:off x="859536" y="4617720"/>
            <a:ext cx="4828032" cy="822960"/>
          </a:xfrm>
          <a:prstGeom prst="rect">
            <a:avLst/>
          </a:prstGeom>
          <a:noFill/>
          <a:ln/>
        </p:spPr>
        <p:txBody>
          <a:bodyPr wrap="square" lIns="0" tIns="0" rIns="0" bIns="0" rtlCol="0" anchor="t"/>
          <a:lstStyle/>
          <a:p>
            <a:pPr indent="0" marL="0">
              <a:buNone/>
            </a:pPr>
            <a:r>
              <a:rPr lang="en-US" sz="1200" dirty="0">
                <a:solidFill>
                  <a:srgbClr val="78716C"/>
                </a:solidFill>
                <a:latin typeface="Calibri" pitchFamily="34" charset="0"/>
                <a:ea typeface="Calibri" pitchFamily="34" charset="-122"/>
                <a:cs typeface="Calibri" pitchFamily="34" charset="-120"/>
              </a:rPr>
              <a:t>El método protegido ExecuteAsync, que envuelve cualquier operación en captura de excepciones y devuelve un resultado uniforme.</a:t>
            </a:r>
            <a:endParaRPr lang="en-US" sz="1200" dirty="0"/>
          </a:p>
        </p:txBody>
      </p:sp>
      <p:sp>
        <p:nvSpPr>
          <p:cNvPr id="18" name="Text 16"/>
          <p:cNvSpPr/>
          <p:nvPr/>
        </p:nvSpPr>
        <p:spPr>
          <a:xfrm>
            <a:off x="859536" y="5495544"/>
            <a:ext cx="4828032" cy="310896"/>
          </a:xfrm>
          <a:prstGeom prst="rect">
            <a:avLst/>
          </a:prstGeom>
          <a:noFill/>
          <a:ln/>
        </p:spPr>
        <p:txBody>
          <a:bodyPr wrap="square" lIns="0" tIns="0" rIns="0" bIns="0" rtlCol="0" anchor="ctr"/>
          <a:lstStyle/>
          <a:p>
            <a:pPr indent="0" marL="0">
              <a:buNone/>
            </a:pPr>
            <a:r>
              <a:rPr lang="en-US" sz="1000" b="1" dirty="0">
                <a:solidFill>
                  <a:srgbClr val="292524"/>
                </a:solidFill>
                <a:latin typeface="Calibri" pitchFamily="34" charset="0"/>
                <a:ea typeface="Calibri" pitchFamily="34" charset="-122"/>
                <a:cs typeface="Calibri" pitchFamily="34" charset="-120"/>
              </a:rPr>
              <a:t>ClienteService · ProductoService · OrdenService</a:t>
            </a:r>
            <a:endParaRPr lang="en-US" sz="1000" dirty="0"/>
          </a:p>
        </p:txBody>
      </p:sp>
      <p:sp>
        <p:nvSpPr>
          <p:cNvPr id="19" name="Shape 17"/>
          <p:cNvSpPr/>
          <p:nvPr/>
        </p:nvSpPr>
        <p:spPr>
          <a:xfrm>
            <a:off x="6208776" y="4050792"/>
            <a:ext cx="5413248" cy="1901952"/>
          </a:xfrm>
          <a:prstGeom prst="roundRect">
            <a:avLst>
              <a:gd name="adj" fmla="val 432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0" name="Text 18"/>
          <p:cNvSpPr/>
          <p:nvPr/>
        </p:nvSpPr>
        <p:spPr>
          <a:xfrm>
            <a:off x="6501384" y="4215384"/>
            <a:ext cx="3840480" cy="329184"/>
          </a:xfrm>
          <a:prstGeom prst="rect">
            <a:avLst/>
          </a:prstGeom>
          <a:noFill/>
          <a:ln/>
        </p:spPr>
        <p:txBody>
          <a:bodyPr wrap="square" lIns="0" tIns="0" rIns="0" bIns="0" rtlCol="0" anchor="ctr"/>
          <a:lstStyle/>
          <a:p>
            <a:pPr indent="0" marL="0">
              <a:buNone/>
            </a:pPr>
            <a:r>
              <a:rPr lang="en-US" sz="1350" b="1" dirty="0">
                <a:solidFill>
                  <a:srgbClr val="292524"/>
                </a:solidFill>
                <a:latin typeface="Courier New" pitchFamily="34" charset="0"/>
                <a:ea typeface="Courier New" pitchFamily="34" charset="-122"/>
                <a:cs typeface="Courier New" pitchFamily="34" charset="-120"/>
              </a:rPr>
              <a:t>ApiControllerBase</a:t>
            </a:r>
            <a:endParaRPr lang="en-US" sz="1350" dirty="0"/>
          </a:p>
        </p:txBody>
      </p:sp>
      <p:sp>
        <p:nvSpPr>
          <p:cNvPr id="21" name="Text 19"/>
          <p:cNvSpPr/>
          <p:nvPr/>
        </p:nvSpPr>
        <p:spPr>
          <a:xfrm>
            <a:off x="9912096" y="4215384"/>
            <a:ext cx="1417320" cy="329184"/>
          </a:xfrm>
          <a:prstGeom prst="rect">
            <a:avLst/>
          </a:prstGeom>
          <a:noFill/>
          <a:ln/>
        </p:spPr>
        <p:txBody>
          <a:bodyPr wrap="square" lIns="0" tIns="0" rIns="0" bIns="0" rtlCol="0" anchor="ctr"/>
          <a:lstStyle/>
          <a:p>
            <a:pPr algn="r" indent="0" marL="0">
              <a:buNone/>
            </a:pPr>
            <a:r>
              <a:rPr lang="en-US" sz="1050" b="1" dirty="0">
                <a:solidFill>
                  <a:srgbClr val="D97706"/>
                </a:solidFill>
                <a:latin typeface="Calibri" pitchFamily="34" charset="0"/>
                <a:ea typeface="Calibri" pitchFamily="34" charset="-122"/>
                <a:cs typeface="Calibri" pitchFamily="34" charset="-120"/>
              </a:rPr>
              <a:t>Presentación</a:t>
            </a:r>
            <a:endParaRPr lang="en-US" sz="1050" dirty="0"/>
          </a:p>
        </p:txBody>
      </p:sp>
      <p:sp>
        <p:nvSpPr>
          <p:cNvPr id="22" name="Text 20"/>
          <p:cNvSpPr/>
          <p:nvPr/>
        </p:nvSpPr>
        <p:spPr>
          <a:xfrm>
            <a:off x="6501384" y="4617720"/>
            <a:ext cx="4828032" cy="822960"/>
          </a:xfrm>
          <a:prstGeom prst="rect">
            <a:avLst/>
          </a:prstGeom>
          <a:noFill/>
          <a:ln/>
        </p:spPr>
        <p:txBody>
          <a:bodyPr wrap="square" lIns="0" tIns="0" rIns="0" bIns="0" rtlCol="0" anchor="t"/>
          <a:lstStyle/>
          <a:p>
            <a:pPr indent="0" marL="0">
              <a:buNone/>
            </a:pPr>
            <a:r>
              <a:rPr lang="en-US" sz="1200" dirty="0">
                <a:solidFill>
                  <a:srgbClr val="78716C"/>
                </a:solidFill>
                <a:latin typeface="Calibri" pitchFamily="34" charset="0"/>
                <a:ea typeface="Calibri" pitchFamily="34" charset="-122"/>
                <a:cs typeface="Calibri" pitchFamily="34" charset="-120"/>
              </a:rPr>
              <a:t>El método ToResponse, que traduce un ServiceResult al código HTTP que le corresponde: 200, 400 o 404.</a:t>
            </a:r>
            <a:endParaRPr lang="en-US" sz="1200" dirty="0"/>
          </a:p>
        </p:txBody>
      </p:sp>
      <p:sp>
        <p:nvSpPr>
          <p:cNvPr id="23" name="Text 21"/>
          <p:cNvSpPr/>
          <p:nvPr/>
        </p:nvSpPr>
        <p:spPr>
          <a:xfrm>
            <a:off x="6501384" y="5495544"/>
            <a:ext cx="4828032" cy="310896"/>
          </a:xfrm>
          <a:prstGeom prst="rect">
            <a:avLst/>
          </a:prstGeom>
          <a:noFill/>
          <a:ln/>
        </p:spPr>
        <p:txBody>
          <a:bodyPr wrap="square" lIns="0" tIns="0" rIns="0" bIns="0" rtlCol="0" anchor="ctr"/>
          <a:lstStyle/>
          <a:p>
            <a:pPr indent="0" marL="0">
              <a:buNone/>
            </a:pPr>
            <a:r>
              <a:rPr lang="en-US" sz="1000" b="1" dirty="0">
                <a:solidFill>
                  <a:srgbClr val="292524"/>
                </a:solidFill>
                <a:latin typeface="Calibri" pitchFamily="34" charset="0"/>
                <a:ea typeface="Calibri" pitchFamily="34" charset="-122"/>
                <a:cs typeface="Calibri" pitchFamily="34" charset="-120"/>
              </a:rPr>
              <a:t>ClientesController · ProductosController · OrdenesController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Herencia, interfaces y encapsulamiento</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Los otros tres pilares, y el problema concreto que resuelve cada uno.</a:t>
            </a:r>
            <a:endParaRPr lang="en-US" sz="1400" dirty="0"/>
          </a:p>
        </p:txBody>
      </p:sp>
      <p:sp>
        <p:nvSpPr>
          <p:cNvPr id="4" name="Shape 2"/>
          <p:cNvSpPr/>
          <p:nvPr/>
        </p:nvSpPr>
        <p:spPr>
          <a:xfrm>
            <a:off x="566928" y="1783080"/>
            <a:ext cx="3520440" cy="420624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59536" y="1993392"/>
            <a:ext cx="2971800" cy="402336"/>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Herencia</a:t>
            </a:r>
            <a:endParaRPr lang="en-US" sz="1900" dirty="0"/>
          </a:p>
        </p:txBody>
      </p:sp>
      <p:sp>
        <p:nvSpPr>
          <p:cNvPr id="6" name="Text 4"/>
          <p:cNvSpPr/>
          <p:nvPr/>
        </p:nvSpPr>
        <p:spPr>
          <a:xfrm>
            <a:off x="877824" y="2542032"/>
            <a:ext cx="2926080" cy="324612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4 entidades heredan de BaseEntity</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3 repositorios heredan de BaseRepository&lt;T&gt;</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3 servicios heredan de BaseService</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3 controladores heredan de ApiControllerBase</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IOrdenRepository hereda de IBaseRepository&lt;Orden&gt; y añade dos consultas: herencia entre interfaces, no entre clases</a:t>
            </a:r>
            <a:endParaRPr lang="en-US" sz="1150" dirty="0"/>
          </a:p>
        </p:txBody>
      </p:sp>
      <p:sp>
        <p:nvSpPr>
          <p:cNvPr id="7" name="Shape 5"/>
          <p:cNvSpPr/>
          <p:nvPr/>
        </p:nvSpPr>
        <p:spPr>
          <a:xfrm>
            <a:off x="4279392" y="1783080"/>
            <a:ext cx="3520440" cy="420624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8" name="Text 6"/>
          <p:cNvSpPr/>
          <p:nvPr/>
        </p:nvSpPr>
        <p:spPr>
          <a:xfrm>
            <a:off x="4572000" y="1993392"/>
            <a:ext cx="2971800" cy="402336"/>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7 interfaces</a:t>
            </a:r>
            <a:endParaRPr lang="en-US" sz="1900" dirty="0"/>
          </a:p>
        </p:txBody>
      </p:sp>
      <p:sp>
        <p:nvSpPr>
          <p:cNvPr id="9" name="Text 7"/>
          <p:cNvSpPr/>
          <p:nvPr/>
        </p:nvSpPr>
        <p:spPr>
          <a:xfrm>
            <a:off x="4590288" y="2542032"/>
            <a:ext cx="2926080" cy="324612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IBaseRepository&lt;T&gt; vive en el Dominio: el núcleo define cómo quiere ser persistido, sin saber por quién</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Los servicios dependen de contratos, nunca de clases concretas</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El contenedor de dependencias decide en ejecución qué implementación entregar</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Los controladores nunca ven un repositorio ni el contexto de datos</a:t>
            </a:r>
            <a:endParaRPr lang="en-US" sz="1150" dirty="0"/>
          </a:p>
        </p:txBody>
      </p:sp>
      <p:sp>
        <p:nvSpPr>
          <p:cNvPr id="10" name="Shape 8"/>
          <p:cNvSpPr/>
          <p:nvPr/>
        </p:nvSpPr>
        <p:spPr>
          <a:xfrm>
            <a:off x="7991856" y="1783080"/>
            <a:ext cx="3520440" cy="420624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1" name="Text 9"/>
          <p:cNvSpPr/>
          <p:nvPr/>
        </p:nvSpPr>
        <p:spPr>
          <a:xfrm>
            <a:off x="8284464" y="1993392"/>
            <a:ext cx="2971800" cy="402336"/>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Encapsulamiento</a:t>
            </a:r>
            <a:endParaRPr lang="en-US" sz="1900" dirty="0"/>
          </a:p>
        </p:txBody>
      </p:sp>
      <p:sp>
        <p:nvSpPr>
          <p:cNvPr id="12" name="Text 10"/>
          <p:cNvSpPr/>
          <p:nvPr/>
        </p:nvSpPr>
        <p:spPr>
          <a:xfrm>
            <a:off x="8302752" y="2542032"/>
            <a:ext cx="2926080" cy="324612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private readonly en las dependencias: nadie las sustituye después de construido el objeto</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protected readonly en BaseRepository: visible para las hijas, invisible desde fuera</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private static en Map y Validar: son detalles internos, no parte del contrato</a:t>
            </a:r>
            <a:endParaRPr lang="en-US" sz="1150" dirty="0"/>
          </a:p>
          <a:p>
            <a:pPr marL="342900" indent="-342900">
              <a:lnSpc>
                <a:spcPct val="102000"/>
              </a:lnSpc>
              <a:spcAft>
                <a:spcPts val="900"/>
              </a:spcAft>
              <a:buSzPct val="100000"/>
              <a:buChar char="•"/>
            </a:pPr>
            <a:r>
              <a:rPr lang="en-US" sz="1150" dirty="0">
                <a:solidFill>
                  <a:srgbClr val="78716C"/>
                </a:solidFill>
                <a:latin typeface="Calibri" pitchFamily="34" charset="0"/>
                <a:ea typeface="Calibri" pitchFamily="34" charset="-122"/>
                <a:cs typeface="Calibri" pitchFamily="34" charset="-120"/>
              </a:rPr>
              <a:t>ServiceResult solo se crea con Ok, Fail o NotFound: no admite estados incoherentes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Cuatro tablas, integridad garantizada por el motor</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Esquema generado por migraciones de EF Core, versionadas dentro del repositorio.</a:t>
            </a:r>
            <a:endParaRPr lang="en-US" sz="1400" dirty="0"/>
          </a:p>
        </p:txBody>
      </p:sp>
      <p:sp>
        <p:nvSpPr>
          <p:cNvPr id="4" name="Shape 2"/>
          <p:cNvSpPr/>
          <p:nvPr/>
        </p:nvSpPr>
        <p:spPr>
          <a:xfrm>
            <a:off x="566928" y="1874520"/>
            <a:ext cx="2468880" cy="2148840"/>
          </a:xfrm>
          <a:prstGeom prst="roundRect">
            <a:avLst>
              <a:gd name="adj" fmla="val 383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768096" y="2011680"/>
            <a:ext cx="2066544" cy="329184"/>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Clientes</a:t>
            </a:r>
            <a:endParaRPr lang="en-US" sz="1350" dirty="0"/>
          </a:p>
        </p:txBody>
      </p:sp>
      <p:sp>
        <p:nvSpPr>
          <p:cNvPr id="6" name="Text 4"/>
          <p:cNvSpPr/>
          <p:nvPr/>
        </p:nvSpPr>
        <p:spPr>
          <a:xfrm>
            <a:off x="768096" y="2395728"/>
            <a:ext cx="2066544" cy="1508760"/>
          </a:xfrm>
          <a:prstGeom prst="rect">
            <a:avLst/>
          </a:prstGeom>
          <a:noFill/>
          <a:ln/>
        </p:spPr>
        <p:txBody>
          <a:bodyPr wrap="square" lIns="0" tIns="0" rIns="0" bIns="0" rtlCol="0" anchor="t"/>
          <a:lstStyle/>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Id</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Nombre (120)</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Telefono (30)</a:t>
            </a:r>
            <a:endParaRPr lang="en-US" sz="950" dirty="0"/>
          </a:p>
        </p:txBody>
      </p:sp>
      <p:sp>
        <p:nvSpPr>
          <p:cNvPr id="7" name="Shape 5"/>
          <p:cNvSpPr/>
          <p:nvPr/>
        </p:nvSpPr>
        <p:spPr>
          <a:xfrm>
            <a:off x="3401568" y="1874520"/>
            <a:ext cx="2468880" cy="2148840"/>
          </a:xfrm>
          <a:prstGeom prst="roundRect">
            <a:avLst>
              <a:gd name="adj" fmla="val 383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8" name="Text 6"/>
          <p:cNvSpPr/>
          <p:nvPr/>
        </p:nvSpPr>
        <p:spPr>
          <a:xfrm>
            <a:off x="3602736" y="2011680"/>
            <a:ext cx="2066544" cy="329184"/>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Ordenes</a:t>
            </a:r>
            <a:endParaRPr lang="en-US" sz="1350" dirty="0"/>
          </a:p>
        </p:txBody>
      </p:sp>
      <p:sp>
        <p:nvSpPr>
          <p:cNvPr id="9" name="Text 7"/>
          <p:cNvSpPr/>
          <p:nvPr/>
        </p:nvSpPr>
        <p:spPr>
          <a:xfrm>
            <a:off x="3602736" y="2395728"/>
            <a:ext cx="2066544" cy="1508760"/>
          </a:xfrm>
          <a:prstGeom prst="rect">
            <a:avLst/>
          </a:prstGeom>
          <a:noFill/>
          <a:ln/>
        </p:spPr>
        <p:txBody>
          <a:bodyPr wrap="square" lIns="0" tIns="0" rIns="0" bIns="0" rtlCol="0" anchor="t"/>
          <a:lstStyle/>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Id</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ClienteId  ↗</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Fecha</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Estado</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MetodoPago</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FechaPago</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Total (10,2)</a:t>
            </a:r>
            <a:endParaRPr lang="en-US" sz="950" dirty="0"/>
          </a:p>
        </p:txBody>
      </p:sp>
      <p:sp>
        <p:nvSpPr>
          <p:cNvPr id="10" name="Shape 8"/>
          <p:cNvSpPr/>
          <p:nvPr/>
        </p:nvSpPr>
        <p:spPr>
          <a:xfrm>
            <a:off x="6236208" y="1874520"/>
            <a:ext cx="2468880" cy="2148840"/>
          </a:xfrm>
          <a:prstGeom prst="roundRect">
            <a:avLst>
              <a:gd name="adj" fmla="val 383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1" name="Text 9"/>
          <p:cNvSpPr/>
          <p:nvPr/>
        </p:nvSpPr>
        <p:spPr>
          <a:xfrm>
            <a:off x="6437376" y="2011680"/>
            <a:ext cx="2066544" cy="329184"/>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DetallesOrden</a:t>
            </a:r>
            <a:endParaRPr lang="en-US" sz="1350" dirty="0"/>
          </a:p>
        </p:txBody>
      </p:sp>
      <p:sp>
        <p:nvSpPr>
          <p:cNvPr id="12" name="Text 10"/>
          <p:cNvSpPr/>
          <p:nvPr/>
        </p:nvSpPr>
        <p:spPr>
          <a:xfrm>
            <a:off x="6437376" y="2395728"/>
            <a:ext cx="2066544" cy="1508760"/>
          </a:xfrm>
          <a:prstGeom prst="rect">
            <a:avLst/>
          </a:prstGeom>
          <a:noFill/>
          <a:ln/>
        </p:spPr>
        <p:txBody>
          <a:bodyPr wrap="square" lIns="0" tIns="0" rIns="0" bIns="0" rtlCol="0" anchor="t"/>
          <a:lstStyle/>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Id</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OrdenId  ↗</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ProductoId  ↗</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Cantidad</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PrecioUnitario</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Subtotal</a:t>
            </a:r>
            <a:endParaRPr lang="en-US" sz="950" dirty="0"/>
          </a:p>
        </p:txBody>
      </p:sp>
      <p:sp>
        <p:nvSpPr>
          <p:cNvPr id="13" name="Shape 11"/>
          <p:cNvSpPr/>
          <p:nvPr/>
        </p:nvSpPr>
        <p:spPr>
          <a:xfrm>
            <a:off x="9070848" y="1874520"/>
            <a:ext cx="2468880" cy="2148840"/>
          </a:xfrm>
          <a:prstGeom prst="roundRect">
            <a:avLst>
              <a:gd name="adj" fmla="val 3830"/>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4" name="Text 12"/>
          <p:cNvSpPr/>
          <p:nvPr/>
        </p:nvSpPr>
        <p:spPr>
          <a:xfrm>
            <a:off x="9272016" y="2011680"/>
            <a:ext cx="2066544" cy="329184"/>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Productos</a:t>
            </a:r>
            <a:endParaRPr lang="en-US" sz="1350" dirty="0"/>
          </a:p>
        </p:txBody>
      </p:sp>
      <p:sp>
        <p:nvSpPr>
          <p:cNvPr id="15" name="Text 13"/>
          <p:cNvSpPr/>
          <p:nvPr/>
        </p:nvSpPr>
        <p:spPr>
          <a:xfrm>
            <a:off x="9272016" y="2395728"/>
            <a:ext cx="2066544" cy="1508760"/>
          </a:xfrm>
          <a:prstGeom prst="rect">
            <a:avLst/>
          </a:prstGeom>
          <a:noFill/>
          <a:ln/>
        </p:spPr>
        <p:txBody>
          <a:bodyPr wrap="square" lIns="0" tIns="0" rIns="0" bIns="0" rtlCol="0" anchor="t"/>
          <a:lstStyle/>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Id</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Nombre (100)</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Precio (10,2)</a:t>
            </a:r>
            <a:endParaRPr lang="en-US" sz="950" dirty="0"/>
          </a:p>
          <a:p>
            <a:pPr indent="0" marL="0">
              <a:lnSpc>
                <a:spcPct val="112000"/>
              </a:lnSpc>
              <a:buNone/>
            </a:pPr>
            <a:r>
              <a:rPr lang="en-US" sz="950" dirty="0">
                <a:solidFill>
                  <a:srgbClr val="78716C"/>
                </a:solidFill>
                <a:latin typeface="Courier New" pitchFamily="34" charset="0"/>
                <a:ea typeface="Courier New" pitchFamily="34" charset="-122"/>
                <a:cs typeface="Courier New" pitchFamily="34" charset="-120"/>
              </a:rPr>
              <a:t>Disponible</a:t>
            </a:r>
            <a:endParaRPr lang="en-US" sz="950" dirty="0"/>
          </a:p>
        </p:txBody>
      </p:sp>
      <p:sp>
        <p:nvSpPr>
          <p:cNvPr id="16" name="Shape 14"/>
          <p:cNvSpPr/>
          <p:nvPr/>
        </p:nvSpPr>
        <p:spPr>
          <a:xfrm>
            <a:off x="3063240" y="2816352"/>
            <a:ext cx="274320" cy="237744"/>
          </a:xfrm>
          <a:prstGeom prst="rightArrow">
            <a:avLst/>
          </a:prstGeom>
          <a:solidFill>
            <a:srgbClr val="D97706"/>
          </a:solidFill>
          <a:ln w="12700">
            <a:solidFill>
              <a:srgbClr val="333333"/>
            </a:solidFill>
            <a:prstDash val="solid"/>
          </a:ln>
        </p:spPr>
      </p:sp>
      <p:sp>
        <p:nvSpPr>
          <p:cNvPr id="17" name="Shape 15"/>
          <p:cNvSpPr/>
          <p:nvPr/>
        </p:nvSpPr>
        <p:spPr>
          <a:xfrm>
            <a:off x="5897880" y="2816352"/>
            <a:ext cx="274320" cy="237744"/>
          </a:xfrm>
          <a:prstGeom prst="rightArrow">
            <a:avLst/>
          </a:prstGeom>
          <a:solidFill>
            <a:srgbClr val="D97706"/>
          </a:solidFill>
          <a:ln w="12700">
            <a:solidFill>
              <a:srgbClr val="333333"/>
            </a:solidFill>
            <a:prstDash val="solid"/>
          </a:ln>
        </p:spPr>
      </p:sp>
      <p:sp>
        <p:nvSpPr>
          <p:cNvPr id="18" name="Shape 16"/>
          <p:cNvSpPr/>
          <p:nvPr/>
        </p:nvSpPr>
        <p:spPr>
          <a:xfrm>
            <a:off x="8732520" y="2816352"/>
            <a:ext cx="274320" cy="237744"/>
          </a:xfrm>
          <a:prstGeom prst="leftArrow">
            <a:avLst/>
          </a:prstGeom>
          <a:solidFill>
            <a:srgbClr val="D97706"/>
          </a:solidFill>
          <a:ln w="12700">
            <a:solidFill>
              <a:srgbClr val="333333"/>
            </a:solidFill>
            <a:prstDash val="solid"/>
          </a:ln>
        </p:spPr>
      </p:sp>
      <p:sp>
        <p:nvSpPr>
          <p:cNvPr id="19" name="Shape 17"/>
          <p:cNvSpPr/>
          <p:nvPr/>
        </p:nvSpPr>
        <p:spPr>
          <a:xfrm>
            <a:off x="566928" y="4343400"/>
            <a:ext cx="3520440" cy="1508760"/>
          </a:xfrm>
          <a:prstGeom prst="roundRect">
            <a:avLst>
              <a:gd name="adj" fmla="val 5455"/>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0" name="Text 18"/>
          <p:cNvSpPr/>
          <p:nvPr/>
        </p:nvSpPr>
        <p:spPr>
          <a:xfrm>
            <a:off x="841248" y="4480560"/>
            <a:ext cx="2148840" cy="310896"/>
          </a:xfrm>
          <a:prstGeom prst="rect">
            <a:avLst/>
          </a:prstGeom>
          <a:noFill/>
          <a:ln/>
        </p:spPr>
        <p:txBody>
          <a:bodyPr wrap="square" lIns="0" tIns="0" rIns="0" bIns="0" rtlCol="0" anchor="ctr"/>
          <a:lstStyle/>
          <a:p>
            <a:pPr indent="0" marL="0">
              <a:buNone/>
            </a:pPr>
            <a:r>
              <a:rPr lang="en-US" sz="1250" b="1" dirty="0">
                <a:solidFill>
                  <a:srgbClr val="292524"/>
                </a:solidFill>
                <a:latin typeface="Calibri" pitchFamily="34" charset="0"/>
                <a:ea typeface="Calibri" pitchFamily="34" charset="-122"/>
                <a:cs typeface="Calibri" pitchFamily="34" charset="-120"/>
              </a:rPr>
              <a:t>Cliente → Órdenes</a:t>
            </a:r>
            <a:endParaRPr lang="en-US" sz="1250" dirty="0"/>
          </a:p>
        </p:txBody>
      </p:sp>
      <p:sp>
        <p:nvSpPr>
          <p:cNvPr id="21" name="Text 19"/>
          <p:cNvSpPr/>
          <p:nvPr/>
        </p:nvSpPr>
        <p:spPr>
          <a:xfrm>
            <a:off x="2898648" y="4480560"/>
            <a:ext cx="960120" cy="310896"/>
          </a:xfrm>
          <a:prstGeom prst="rect">
            <a:avLst/>
          </a:prstGeom>
          <a:noFill/>
          <a:ln/>
        </p:spPr>
        <p:txBody>
          <a:bodyPr wrap="square" lIns="0" tIns="0" rIns="0" bIns="0" rtlCol="0" anchor="ctr"/>
          <a:lstStyle/>
          <a:p>
            <a:pPr algn="r" indent="0" marL="0">
              <a:buNone/>
            </a:pPr>
            <a:r>
              <a:rPr lang="en-US" sz="1050" b="1" dirty="0">
                <a:solidFill>
                  <a:srgbClr val="9A3412"/>
                </a:solidFill>
                <a:latin typeface="Calibri" pitchFamily="34" charset="0"/>
                <a:ea typeface="Calibri" pitchFamily="34" charset="-122"/>
                <a:cs typeface="Calibri" pitchFamily="34" charset="-120"/>
              </a:rPr>
              <a:t>Restrict</a:t>
            </a:r>
            <a:endParaRPr lang="en-US" sz="1050" dirty="0"/>
          </a:p>
        </p:txBody>
      </p:sp>
      <p:sp>
        <p:nvSpPr>
          <p:cNvPr id="22" name="Text 20"/>
          <p:cNvSpPr/>
          <p:nvPr/>
        </p:nvSpPr>
        <p:spPr>
          <a:xfrm>
            <a:off x="841248" y="4846320"/>
            <a:ext cx="2999232" cy="8412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No se puede borrar un cliente que tenga órdenes registradas.</a:t>
            </a:r>
            <a:endParaRPr lang="en-US" sz="1150" dirty="0"/>
          </a:p>
        </p:txBody>
      </p:sp>
      <p:sp>
        <p:nvSpPr>
          <p:cNvPr id="23" name="Shape 21"/>
          <p:cNvSpPr/>
          <p:nvPr/>
        </p:nvSpPr>
        <p:spPr>
          <a:xfrm>
            <a:off x="4279392" y="4343400"/>
            <a:ext cx="3520440" cy="1508760"/>
          </a:xfrm>
          <a:prstGeom prst="roundRect">
            <a:avLst>
              <a:gd name="adj" fmla="val 5455"/>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4" name="Text 22"/>
          <p:cNvSpPr/>
          <p:nvPr/>
        </p:nvSpPr>
        <p:spPr>
          <a:xfrm>
            <a:off x="4553712" y="4480560"/>
            <a:ext cx="2148840" cy="310896"/>
          </a:xfrm>
          <a:prstGeom prst="rect">
            <a:avLst/>
          </a:prstGeom>
          <a:noFill/>
          <a:ln/>
        </p:spPr>
        <p:txBody>
          <a:bodyPr wrap="square" lIns="0" tIns="0" rIns="0" bIns="0" rtlCol="0" anchor="ctr"/>
          <a:lstStyle/>
          <a:p>
            <a:pPr indent="0" marL="0">
              <a:buNone/>
            </a:pPr>
            <a:r>
              <a:rPr lang="en-US" sz="1250" b="1" dirty="0">
                <a:solidFill>
                  <a:srgbClr val="292524"/>
                </a:solidFill>
                <a:latin typeface="Calibri" pitchFamily="34" charset="0"/>
                <a:ea typeface="Calibri" pitchFamily="34" charset="-122"/>
                <a:cs typeface="Calibri" pitchFamily="34" charset="-120"/>
              </a:rPr>
              <a:t>Orden → Detalles</a:t>
            </a:r>
            <a:endParaRPr lang="en-US" sz="1250" dirty="0"/>
          </a:p>
        </p:txBody>
      </p:sp>
      <p:sp>
        <p:nvSpPr>
          <p:cNvPr id="25" name="Text 23"/>
          <p:cNvSpPr/>
          <p:nvPr/>
        </p:nvSpPr>
        <p:spPr>
          <a:xfrm>
            <a:off x="6611112" y="4480560"/>
            <a:ext cx="960120" cy="310896"/>
          </a:xfrm>
          <a:prstGeom prst="rect">
            <a:avLst/>
          </a:prstGeom>
          <a:noFill/>
          <a:ln/>
        </p:spPr>
        <p:txBody>
          <a:bodyPr wrap="square" lIns="0" tIns="0" rIns="0" bIns="0" rtlCol="0" anchor="ctr"/>
          <a:lstStyle/>
          <a:p>
            <a:pPr algn="r" indent="0" marL="0">
              <a:buNone/>
            </a:pPr>
            <a:r>
              <a:rPr lang="en-US" sz="1050" b="1" dirty="0">
                <a:solidFill>
                  <a:srgbClr val="15803D"/>
                </a:solidFill>
                <a:latin typeface="Calibri" pitchFamily="34" charset="0"/>
                <a:ea typeface="Calibri" pitchFamily="34" charset="-122"/>
                <a:cs typeface="Calibri" pitchFamily="34" charset="-120"/>
              </a:rPr>
              <a:t>Cascade</a:t>
            </a:r>
            <a:endParaRPr lang="en-US" sz="1050" dirty="0"/>
          </a:p>
        </p:txBody>
      </p:sp>
      <p:sp>
        <p:nvSpPr>
          <p:cNvPr id="26" name="Text 24"/>
          <p:cNvSpPr/>
          <p:nvPr/>
        </p:nvSpPr>
        <p:spPr>
          <a:xfrm>
            <a:off x="4553712" y="4846320"/>
            <a:ext cx="2999232" cy="8412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Al borrar la orden se borran sus líneas. Nunca quedan líneas huérfanas.</a:t>
            </a:r>
            <a:endParaRPr lang="en-US" sz="1150" dirty="0"/>
          </a:p>
        </p:txBody>
      </p:sp>
      <p:sp>
        <p:nvSpPr>
          <p:cNvPr id="27" name="Shape 25"/>
          <p:cNvSpPr/>
          <p:nvPr/>
        </p:nvSpPr>
        <p:spPr>
          <a:xfrm>
            <a:off x="7991856" y="4343400"/>
            <a:ext cx="3520440" cy="1508760"/>
          </a:xfrm>
          <a:prstGeom prst="roundRect">
            <a:avLst>
              <a:gd name="adj" fmla="val 5455"/>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8" name="Text 26"/>
          <p:cNvSpPr/>
          <p:nvPr/>
        </p:nvSpPr>
        <p:spPr>
          <a:xfrm>
            <a:off x="8266176" y="4480560"/>
            <a:ext cx="2148840" cy="310896"/>
          </a:xfrm>
          <a:prstGeom prst="rect">
            <a:avLst/>
          </a:prstGeom>
          <a:noFill/>
          <a:ln/>
        </p:spPr>
        <p:txBody>
          <a:bodyPr wrap="square" lIns="0" tIns="0" rIns="0" bIns="0" rtlCol="0" anchor="ctr"/>
          <a:lstStyle/>
          <a:p>
            <a:pPr indent="0" marL="0">
              <a:buNone/>
            </a:pPr>
            <a:r>
              <a:rPr lang="en-US" sz="1250" b="1" dirty="0">
                <a:solidFill>
                  <a:srgbClr val="292524"/>
                </a:solidFill>
                <a:latin typeface="Calibri" pitchFamily="34" charset="0"/>
                <a:ea typeface="Calibri" pitchFamily="34" charset="-122"/>
                <a:cs typeface="Calibri" pitchFamily="34" charset="-120"/>
              </a:rPr>
              <a:t>Producto → Detalles</a:t>
            </a:r>
            <a:endParaRPr lang="en-US" sz="1250" dirty="0"/>
          </a:p>
        </p:txBody>
      </p:sp>
      <p:sp>
        <p:nvSpPr>
          <p:cNvPr id="29" name="Text 27"/>
          <p:cNvSpPr/>
          <p:nvPr/>
        </p:nvSpPr>
        <p:spPr>
          <a:xfrm>
            <a:off x="10323576" y="4480560"/>
            <a:ext cx="960120" cy="310896"/>
          </a:xfrm>
          <a:prstGeom prst="rect">
            <a:avLst/>
          </a:prstGeom>
          <a:noFill/>
          <a:ln/>
        </p:spPr>
        <p:txBody>
          <a:bodyPr wrap="square" lIns="0" tIns="0" rIns="0" bIns="0" rtlCol="0" anchor="ctr"/>
          <a:lstStyle/>
          <a:p>
            <a:pPr algn="r" indent="0" marL="0">
              <a:buNone/>
            </a:pPr>
            <a:r>
              <a:rPr lang="en-US" sz="1050" b="1" dirty="0">
                <a:solidFill>
                  <a:srgbClr val="9A3412"/>
                </a:solidFill>
                <a:latin typeface="Calibri" pitchFamily="34" charset="0"/>
                <a:ea typeface="Calibri" pitchFamily="34" charset="-122"/>
                <a:cs typeface="Calibri" pitchFamily="34" charset="-120"/>
              </a:rPr>
              <a:t>Restrict</a:t>
            </a:r>
            <a:endParaRPr lang="en-US" sz="1050" dirty="0"/>
          </a:p>
        </p:txBody>
      </p:sp>
      <p:sp>
        <p:nvSpPr>
          <p:cNvPr id="30" name="Text 28"/>
          <p:cNvSpPr/>
          <p:nvPr/>
        </p:nvSpPr>
        <p:spPr>
          <a:xfrm>
            <a:off x="8266176" y="4846320"/>
            <a:ext cx="2999232" cy="8412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El historial de ventas es un registro contable: no se vacía borrando el catálogo.</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1B12"/>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El ciclo de vida que el sistema no deja saltar</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A89588"/>
                </a:solidFill>
                <a:latin typeface="Calibri" pitchFamily="34" charset="0"/>
                <a:ea typeface="Calibri" pitchFamily="34" charset="-122"/>
                <a:cs typeface="Calibri" pitchFamily="34" charset="-120"/>
              </a:rPr>
              <a:t>Tres estados, dos transiciones válidas, y todo lo demás rechazado con un motivo.</a:t>
            </a:r>
            <a:endParaRPr lang="en-US" sz="1400" dirty="0"/>
          </a:p>
        </p:txBody>
      </p:sp>
      <p:sp>
        <p:nvSpPr>
          <p:cNvPr id="4" name="Shape 2"/>
          <p:cNvSpPr/>
          <p:nvPr/>
        </p:nvSpPr>
        <p:spPr>
          <a:xfrm>
            <a:off x="566928" y="2011680"/>
            <a:ext cx="3840480" cy="2331720"/>
          </a:xfrm>
          <a:prstGeom prst="roundRect">
            <a:avLst>
              <a:gd name="adj" fmla="val 3529"/>
            </a:avLst>
          </a:prstGeom>
          <a:solidFill>
            <a:srgbClr val="D97706"/>
          </a:solidFill>
          <a:ln w="12700">
            <a:solidFill>
              <a:srgbClr val="D97706"/>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86968" y="2286000"/>
            <a:ext cx="3200400" cy="457200"/>
          </a:xfrm>
          <a:prstGeom prst="rect">
            <a:avLst/>
          </a:prstGeom>
          <a:noFill/>
          <a:ln/>
        </p:spPr>
        <p:txBody>
          <a:bodyPr wrap="square" lIns="0" tIns="0" rIns="0" bIns="0" rtlCol="0" anchor="ctr"/>
          <a:lstStyle/>
          <a:p>
            <a:pPr indent="0" marL="0">
              <a:buNone/>
            </a:pPr>
            <a:r>
              <a:rPr lang="en-US" sz="2400" b="1" dirty="0">
                <a:solidFill>
                  <a:srgbClr val="3B2008"/>
                </a:solidFill>
                <a:latin typeface="Cambria" pitchFamily="34" charset="0"/>
                <a:ea typeface="Cambria" pitchFamily="34" charset="-122"/>
                <a:cs typeface="Cambria" pitchFamily="34" charset="-120"/>
              </a:rPr>
              <a:t>PENDIENTE</a:t>
            </a:r>
            <a:endParaRPr lang="en-US" sz="2400" dirty="0"/>
          </a:p>
        </p:txBody>
      </p:sp>
      <p:sp>
        <p:nvSpPr>
          <p:cNvPr id="6" name="Text 4"/>
          <p:cNvSpPr/>
          <p:nvPr/>
        </p:nvSpPr>
        <p:spPr>
          <a:xfrm>
            <a:off x="886968" y="2834640"/>
            <a:ext cx="3200400" cy="1188720"/>
          </a:xfrm>
          <a:prstGeom prst="rect">
            <a:avLst/>
          </a:prstGeom>
          <a:noFill/>
          <a:ln/>
        </p:spPr>
        <p:txBody>
          <a:bodyPr wrap="square" lIns="0" tIns="0" rIns="0" bIns="0" rtlCol="0" anchor="t"/>
          <a:lstStyle/>
          <a:p>
            <a:pPr indent="0" marL="0">
              <a:buNone/>
            </a:pPr>
            <a:r>
              <a:rPr lang="en-US" sz="1250" dirty="0">
                <a:solidFill>
                  <a:srgbClr val="4A2A0C"/>
                </a:solidFill>
                <a:latin typeface="Calibri" pitchFamily="34" charset="0"/>
                <a:ea typeface="Calibri" pitchFamily="34" charset="-122"/>
                <a:cs typeface="Calibri" pitchFamily="34" charset="-120"/>
              </a:rPr>
              <a:t>Toda orden nace aquí. Se pueden consultar sus líneas y su total, pero el dinero todavía no entró.</a:t>
            </a:r>
            <a:endParaRPr lang="en-US" sz="1250" dirty="0"/>
          </a:p>
        </p:txBody>
      </p:sp>
      <p:sp>
        <p:nvSpPr>
          <p:cNvPr id="7" name="Shape 5"/>
          <p:cNvSpPr/>
          <p:nvPr/>
        </p:nvSpPr>
        <p:spPr>
          <a:xfrm>
            <a:off x="4617720" y="2304288"/>
            <a:ext cx="713232" cy="274320"/>
          </a:xfrm>
          <a:prstGeom prst="rightArrow">
            <a:avLst/>
          </a:prstGeom>
          <a:solidFill>
            <a:srgbClr val="F59E0B"/>
          </a:solidFill>
          <a:ln w="12700">
            <a:solidFill>
              <a:srgbClr val="333333"/>
            </a:solidFill>
            <a:prstDash val="solid"/>
          </a:ln>
        </p:spPr>
      </p:sp>
      <p:sp>
        <p:nvSpPr>
          <p:cNvPr id="8" name="Shape 6"/>
          <p:cNvSpPr/>
          <p:nvPr/>
        </p:nvSpPr>
        <p:spPr>
          <a:xfrm>
            <a:off x="4617720" y="3767328"/>
            <a:ext cx="713232" cy="274320"/>
          </a:xfrm>
          <a:prstGeom prst="rightArrow">
            <a:avLst/>
          </a:prstGeom>
          <a:solidFill>
            <a:srgbClr val="F59E0B"/>
          </a:solidFill>
          <a:ln w="12700">
            <a:solidFill>
              <a:srgbClr val="333333"/>
            </a:solidFill>
            <a:prstDash val="solid"/>
          </a:ln>
        </p:spPr>
      </p:sp>
      <p:sp>
        <p:nvSpPr>
          <p:cNvPr id="9" name="Shape 7"/>
          <p:cNvSpPr/>
          <p:nvPr/>
        </p:nvSpPr>
        <p:spPr>
          <a:xfrm>
            <a:off x="5532120" y="1874520"/>
            <a:ext cx="6089904" cy="1188720"/>
          </a:xfrm>
          <a:prstGeom prst="roundRect">
            <a:avLst>
              <a:gd name="adj" fmla="val 6923"/>
            </a:avLst>
          </a:prstGeom>
          <a:solidFill>
            <a:srgbClr val="3E2A1D"/>
          </a:solidFill>
          <a:ln w="12700">
            <a:solidFill>
              <a:srgbClr val="15803D"/>
            </a:solidFill>
            <a:prstDash val="solid"/>
          </a:ln>
          <a:effectLst>
            <a:outerShdw sx="100000" sy="100000" kx="0" ky="0" algn="bl" rotWithShape="0" blurRad="114300" dist="19050" dir="5400000">
              <a:srgbClr val="000000">
                <a:alpha val="8000"/>
              </a:srgbClr>
            </a:outerShdw>
          </a:effectLst>
        </p:spPr>
      </p:sp>
      <p:sp>
        <p:nvSpPr>
          <p:cNvPr id="10" name="Text 8"/>
          <p:cNvSpPr/>
          <p:nvPr/>
        </p:nvSpPr>
        <p:spPr>
          <a:xfrm>
            <a:off x="5806440" y="1993392"/>
            <a:ext cx="2194560" cy="384048"/>
          </a:xfrm>
          <a:prstGeom prst="rect">
            <a:avLst/>
          </a:prstGeom>
          <a:noFill/>
          <a:ln/>
        </p:spPr>
        <p:txBody>
          <a:bodyPr wrap="square" lIns="0" tIns="0" rIns="0" bIns="0" rtlCol="0" anchor="ctr"/>
          <a:lstStyle/>
          <a:p>
            <a:pPr indent="0" marL="0">
              <a:buNone/>
            </a:pPr>
            <a:r>
              <a:rPr lang="en-US" sz="1900" b="1" dirty="0">
                <a:solidFill>
                  <a:srgbClr val="4ADE80"/>
                </a:solidFill>
                <a:latin typeface="Cambria" pitchFamily="34" charset="0"/>
                <a:ea typeface="Cambria" pitchFamily="34" charset="-122"/>
                <a:cs typeface="Cambria" pitchFamily="34" charset="-120"/>
              </a:rPr>
              <a:t>PAGADA</a:t>
            </a:r>
            <a:endParaRPr lang="en-US" sz="1900" dirty="0"/>
          </a:p>
        </p:txBody>
      </p:sp>
      <p:sp>
        <p:nvSpPr>
          <p:cNvPr id="11" name="Text 9"/>
          <p:cNvSpPr/>
          <p:nvPr/>
        </p:nvSpPr>
        <p:spPr>
          <a:xfrm>
            <a:off x="5806440" y="2395728"/>
            <a:ext cx="5541264" cy="566928"/>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Requiere un método de pago válido: efectivo, tarjeta o transferencia. Sella la fecha y hora del cobro en UTC. Es un estado final.</a:t>
            </a:r>
            <a:endParaRPr lang="en-US" sz="1200" dirty="0"/>
          </a:p>
        </p:txBody>
      </p:sp>
      <p:sp>
        <p:nvSpPr>
          <p:cNvPr id="12" name="Shape 10"/>
          <p:cNvSpPr/>
          <p:nvPr/>
        </p:nvSpPr>
        <p:spPr>
          <a:xfrm>
            <a:off x="5532120" y="3337560"/>
            <a:ext cx="6089904" cy="1188720"/>
          </a:xfrm>
          <a:prstGeom prst="roundRect">
            <a:avLst>
              <a:gd name="adj" fmla="val 6923"/>
            </a:avLst>
          </a:prstGeom>
          <a:solidFill>
            <a:srgbClr val="3E2A1D"/>
          </a:solidFill>
          <a:ln w="12700">
            <a:solidFill>
              <a:srgbClr val="9A3412"/>
            </a:solidFill>
            <a:prstDash val="solid"/>
          </a:ln>
          <a:effectLst>
            <a:outerShdw sx="100000" sy="100000" kx="0" ky="0" algn="bl" rotWithShape="0" blurRad="114300" dist="19050" dir="5400000">
              <a:srgbClr val="000000">
                <a:alpha val="8000"/>
              </a:srgbClr>
            </a:outerShdw>
          </a:effectLst>
        </p:spPr>
      </p:sp>
      <p:sp>
        <p:nvSpPr>
          <p:cNvPr id="13" name="Text 11"/>
          <p:cNvSpPr/>
          <p:nvPr/>
        </p:nvSpPr>
        <p:spPr>
          <a:xfrm>
            <a:off x="5806440" y="3456432"/>
            <a:ext cx="2194560" cy="384048"/>
          </a:xfrm>
          <a:prstGeom prst="rect">
            <a:avLst/>
          </a:prstGeom>
          <a:noFill/>
          <a:ln/>
        </p:spPr>
        <p:txBody>
          <a:bodyPr wrap="square" lIns="0" tIns="0" rIns="0" bIns="0" rtlCol="0" anchor="ctr"/>
          <a:lstStyle/>
          <a:p>
            <a:pPr indent="0" marL="0">
              <a:buNone/>
            </a:pPr>
            <a:r>
              <a:rPr lang="en-US" sz="1900" b="1" dirty="0">
                <a:solidFill>
                  <a:srgbClr val="FB923C"/>
                </a:solidFill>
                <a:latin typeface="Cambria" pitchFamily="34" charset="0"/>
                <a:ea typeface="Cambria" pitchFamily="34" charset="-122"/>
                <a:cs typeface="Cambria" pitchFamily="34" charset="-120"/>
              </a:rPr>
              <a:t>CANCELADA</a:t>
            </a:r>
            <a:endParaRPr lang="en-US" sz="1900" dirty="0"/>
          </a:p>
        </p:txBody>
      </p:sp>
      <p:sp>
        <p:nvSpPr>
          <p:cNvPr id="14" name="Text 12"/>
          <p:cNvSpPr/>
          <p:nvPr/>
        </p:nvSpPr>
        <p:spPr>
          <a:xfrm>
            <a:off x="5806440" y="3858768"/>
            <a:ext cx="5541264" cy="566928"/>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Solo se llega desde Pendiente. La orden se conserva en el historial en lugar de borrarse, para poder auditar qué se canceló y cuándo.</a:t>
            </a:r>
            <a:endParaRPr lang="en-US" sz="1200" dirty="0"/>
          </a:p>
        </p:txBody>
      </p:sp>
      <p:sp>
        <p:nvSpPr>
          <p:cNvPr id="15" name="Text 13"/>
          <p:cNvSpPr/>
          <p:nvPr/>
        </p:nvSpPr>
        <p:spPr>
          <a:xfrm>
            <a:off x="566928" y="4828032"/>
            <a:ext cx="11055096" cy="274320"/>
          </a:xfrm>
          <a:prstGeom prst="rect">
            <a:avLst/>
          </a:prstGeom>
          <a:noFill/>
          <a:ln/>
        </p:spPr>
        <p:txBody>
          <a:bodyPr wrap="square" lIns="0" tIns="0" rIns="0" bIns="0" rtlCol="0" anchor="ctr"/>
          <a:lstStyle/>
          <a:p>
            <a:pPr indent="0" marL="0">
              <a:buNone/>
            </a:pPr>
            <a:r>
              <a:rPr lang="en-US" sz="1000" b="1" spc="150" kern="0" dirty="0">
                <a:solidFill>
                  <a:srgbClr val="F59E0B"/>
                </a:solidFill>
                <a:latin typeface="Calibri" pitchFamily="34" charset="0"/>
                <a:ea typeface="Calibri" pitchFamily="34" charset="-122"/>
                <a:cs typeface="Calibri" pitchFamily="34" charset="-120"/>
              </a:rPr>
              <a:t>LO QUE EL SERVIDOR RECHAZA</a:t>
            </a:r>
            <a:endParaRPr lang="en-US" sz="1000" dirty="0"/>
          </a:p>
        </p:txBody>
      </p:sp>
      <p:sp>
        <p:nvSpPr>
          <p:cNvPr id="16" name="Shape 14"/>
          <p:cNvSpPr/>
          <p:nvPr/>
        </p:nvSpPr>
        <p:spPr>
          <a:xfrm>
            <a:off x="566928" y="5138928"/>
            <a:ext cx="3520440" cy="731520"/>
          </a:xfrm>
          <a:prstGeom prst="roundRect">
            <a:avLst>
              <a:gd name="adj" fmla="val 11250"/>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17" name="Text 15"/>
          <p:cNvSpPr/>
          <p:nvPr/>
        </p:nvSpPr>
        <p:spPr>
          <a:xfrm>
            <a:off x="822960" y="5138928"/>
            <a:ext cx="3017520" cy="731520"/>
          </a:xfrm>
          <a:prstGeom prst="rect">
            <a:avLst/>
          </a:prstGeom>
          <a:noFill/>
          <a:ln/>
        </p:spPr>
        <p:txBody>
          <a:bodyPr wrap="square" lIns="0" tIns="0" rIns="0" bIns="0" rtlCol="0" anchor="ctr"/>
          <a:lstStyle/>
          <a:p>
            <a:pPr indent="0" marL="0">
              <a:buNone/>
            </a:pPr>
            <a:r>
              <a:rPr lang="en-US" sz="1200" dirty="0">
                <a:solidFill>
                  <a:srgbClr val="E7DED8"/>
                </a:solidFill>
                <a:latin typeface="Calibri" pitchFamily="34" charset="0"/>
                <a:ea typeface="Calibri" pitchFamily="34" charset="-122"/>
                <a:cs typeface="Calibri" pitchFamily="34" charset="-120"/>
              </a:rPr>
              <a:t>Cobrar una orden que ya fue pagada</a:t>
            </a:r>
            <a:endParaRPr lang="en-US" sz="1200" dirty="0"/>
          </a:p>
        </p:txBody>
      </p:sp>
      <p:sp>
        <p:nvSpPr>
          <p:cNvPr id="18" name="Shape 16"/>
          <p:cNvSpPr/>
          <p:nvPr/>
        </p:nvSpPr>
        <p:spPr>
          <a:xfrm>
            <a:off x="4279392" y="5138928"/>
            <a:ext cx="3520440" cy="731520"/>
          </a:xfrm>
          <a:prstGeom prst="roundRect">
            <a:avLst>
              <a:gd name="adj" fmla="val 11250"/>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19" name="Text 17"/>
          <p:cNvSpPr/>
          <p:nvPr/>
        </p:nvSpPr>
        <p:spPr>
          <a:xfrm>
            <a:off x="4535424" y="5138928"/>
            <a:ext cx="3017520" cy="731520"/>
          </a:xfrm>
          <a:prstGeom prst="rect">
            <a:avLst/>
          </a:prstGeom>
          <a:noFill/>
          <a:ln/>
        </p:spPr>
        <p:txBody>
          <a:bodyPr wrap="square" lIns="0" tIns="0" rIns="0" bIns="0" rtlCol="0" anchor="ctr"/>
          <a:lstStyle/>
          <a:p>
            <a:pPr indent="0" marL="0">
              <a:buNone/>
            </a:pPr>
            <a:r>
              <a:rPr lang="en-US" sz="1200" dirty="0">
                <a:solidFill>
                  <a:srgbClr val="E7DED8"/>
                </a:solidFill>
                <a:latin typeface="Calibri" pitchFamily="34" charset="0"/>
                <a:ea typeface="Calibri" pitchFamily="34" charset="-122"/>
                <a:cs typeface="Calibri" pitchFamily="34" charset="-120"/>
              </a:rPr>
              <a:t>Cancelar una orden que ya fue pagada</a:t>
            </a:r>
            <a:endParaRPr lang="en-US" sz="1200" dirty="0"/>
          </a:p>
        </p:txBody>
      </p:sp>
      <p:sp>
        <p:nvSpPr>
          <p:cNvPr id="20" name="Shape 18"/>
          <p:cNvSpPr/>
          <p:nvPr/>
        </p:nvSpPr>
        <p:spPr>
          <a:xfrm>
            <a:off x="7991856" y="5138928"/>
            <a:ext cx="3520440" cy="731520"/>
          </a:xfrm>
          <a:prstGeom prst="roundRect">
            <a:avLst>
              <a:gd name="adj" fmla="val 11250"/>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21" name="Text 19"/>
          <p:cNvSpPr/>
          <p:nvPr/>
        </p:nvSpPr>
        <p:spPr>
          <a:xfrm>
            <a:off x="8247888" y="5138928"/>
            <a:ext cx="3017520" cy="731520"/>
          </a:xfrm>
          <a:prstGeom prst="rect">
            <a:avLst/>
          </a:prstGeom>
          <a:noFill/>
          <a:ln/>
        </p:spPr>
        <p:txBody>
          <a:bodyPr wrap="square" lIns="0" tIns="0" rIns="0" bIns="0" rtlCol="0" anchor="ctr"/>
          <a:lstStyle/>
          <a:p>
            <a:pPr indent="0" marL="0">
              <a:buNone/>
            </a:pPr>
            <a:r>
              <a:rPr lang="en-US" sz="1200" dirty="0">
                <a:solidFill>
                  <a:srgbClr val="E7DED8"/>
                </a:solidFill>
                <a:latin typeface="Calibri" pitchFamily="34" charset="0"/>
                <a:ea typeface="Calibri" pitchFamily="34" charset="-122"/>
                <a:cs typeface="Calibri" pitchFamily="34" charset="-120"/>
              </a:rPr>
              <a:t>Cancelar dos veces la misma orden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Las cinco reglas que protegen el dinero</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De las dieciséis reglas del sistema, estas son las que impiden que la caja descuadre.</a:t>
            </a:r>
            <a:endParaRPr lang="en-US" sz="1400" dirty="0"/>
          </a:p>
        </p:txBody>
      </p:sp>
      <p:sp>
        <p:nvSpPr>
          <p:cNvPr id="4" name="Shape 2"/>
          <p:cNvSpPr/>
          <p:nvPr/>
        </p:nvSpPr>
        <p:spPr>
          <a:xfrm>
            <a:off x="566928" y="1956816"/>
            <a:ext cx="329184" cy="329184"/>
          </a:xfrm>
          <a:prstGeom prst="ellipse">
            <a:avLst/>
          </a:prstGeom>
          <a:solidFill>
            <a:srgbClr val="D97706"/>
          </a:solidFill>
          <a:ln w="12700">
            <a:solidFill>
              <a:srgbClr val="D97706"/>
            </a:solidFill>
            <a:prstDash val="solid"/>
          </a:ln>
        </p:spPr>
      </p:sp>
      <p:sp>
        <p:nvSpPr>
          <p:cNvPr id="5" name="Text 3"/>
          <p:cNvSpPr/>
          <p:nvPr/>
        </p:nvSpPr>
        <p:spPr>
          <a:xfrm>
            <a:off x="566928" y="19568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42416" y="1847088"/>
            <a:ext cx="3246120" cy="566928"/>
          </a:xfrm>
          <a:prstGeom prst="rect">
            <a:avLst/>
          </a:prstGeom>
          <a:noFill/>
          <a:ln/>
        </p:spPr>
        <p:txBody>
          <a:bodyPr wrap="square" lIns="0" tIns="0" rIns="0" bIns="0" rtlCol="0" anchor="ctr"/>
          <a:lstStyle/>
          <a:p>
            <a:pPr indent="0" marL="0">
              <a:buNone/>
            </a:pPr>
            <a:r>
              <a:rPr lang="en-US" sz="1450" b="1" dirty="0">
                <a:solidFill>
                  <a:srgbClr val="292524"/>
                </a:solidFill>
                <a:latin typeface="Calibri" pitchFamily="34" charset="0"/>
                <a:ea typeface="Calibri" pitchFamily="34" charset="-122"/>
                <a:cs typeface="Calibri" pitchFamily="34" charset="-120"/>
              </a:rPr>
              <a:t>El total no se captura</a:t>
            </a:r>
            <a:endParaRPr lang="en-US" sz="1450" dirty="0"/>
          </a:p>
        </p:txBody>
      </p:sp>
      <p:sp>
        <p:nvSpPr>
          <p:cNvPr id="7" name="Text 5"/>
          <p:cNvSpPr/>
          <p:nvPr/>
        </p:nvSpPr>
        <p:spPr>
          <a:xfrm>
            <a:off x="4407408" y="1847088"/>
            <a:ext cx="7178040" cy="566928"/>
          </a:xfrm>
          <a:prstGeom prst="rect">
            <a:avLst/>
          </a:prstGeom>
          <a:noFill/>
          <a:ln/>
        </p:spPr>
        <p:txBody>
          <a:bodyPr wrap="square" lIns="0" tIns="0" rIns="0" bIns="0" rtlCol="0" anchor="ctr"/>
          <a:lstStyle/>
          <a:p>
            <a:pPr indent="0" marL="0">
              <a:buNone/>
            </a:pPr>
            <a:r>
              <a:rPr lang="en-US" sz="1250" dirty="0">
                <a:solidFill>
                  <a:srgbClr val="78716C"/>
                </a:solidFill>
                <a:latin typeface="Calibri" pitchFamily="34" charset="0"/>
                <a:ea typeface="Calibri" pitchFamily="34" charset="-122"/>
                <a:cs typeface="Calibri" pitchFamily="34" charset="-120"/>
              </a:rPr>
              <a:t>Se deriva de las líneas: precio unitario por cantidad, sumado por el servidor. No existe un campo de total que alguien pueda escribir.</a:t>
            </a:r>
            <a:endParaRPr lang="en-US" sz="1250" dirty="0"/>
          </a:p>
        </p:txBody>
      </p:sp>
      <p:sp>
        <p:nvSpPr>
          <p:cNvPr id="8" name="Shape 6"/>
          <p:cNvSpPr/>
          <p:nvPr/>
        </p:nvSpPr>
        <p:spPr>
          <a:xfrm>
            <a:off x="566928" y="2816352"/>
            <a:ext cx="329184" cy="329184"/>
          </a:xfrm>
          <a:prstGeom prst="ellipse">
            <a:avLst/>
          </a:prstGeom>
          <a:solidFill>
            <a:srgbClr val="D97706"/>
          </a:solidFill>
          <a:ln w="12700">
            <a:solidFill>
              <a:srgbClr val="D97706"/>
            </a:solidFill>
            <a:prstDash val="solid"/>
          </a:ln>
        </p:spPr>
      </p:sp>
      <p:sp>
        <p:nvSpPr>
          <p:cNvPr id="9" name="Text 7"/>
          <p:cNvSpPr/>
          <p:nvPr/>
        </p:nvSpPr>
        <p:spPr>
          <a:xfrm>
            <a:off x="566928" y="281635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42416" y="2706624"/>
            <a:ext cx="3246120" cy="566928"/>
          </a:xfrm>
          <a:prstGeom prst="rect">
            <a:avLst/>
          </a:prstGeom>
          <a:noFill/>
          <a:ln/>
        </p:spPr>
        <p:txBody>
          <a:bodyPr wrap="square" lIns="0" tIns="0" rIns="0" bIns="0" rtlCol="0" anchor="ctr"/>
          <a:lstStyle/>
          <a:p>
            <a:pPr indent="0" marL="0">
              <a:buNone/>
            </a:pPr>
            <a:r>
              <a:rPr lang="en-US" sz="1450" b="1" dirty="0">
                <a:solidFill>
                  <a:srgbClr val="292524"/>
                </a:solidFill>
                <a:latin typeface="Calibri" pitchFamily="34" charset="0"/>
                <a:ea typeface="Calibri" pitchFamily="34" charset="-122"/>
                <a:cs typeface="Calibri" pitchFamily="34" charset="-120"/>
              </a:rPr>
              <a:t>El precio queda congelado</a:t>
            </a:r>
            <a:endParaRPr lang="en-US" sz="1450" dirty="0"/>
          </a:p>
        </p:txBody>
      </p:sp>
      <p:sp>
        <p:nvSpPr>
          <p:cNvPr id="11" name="Text 9"/>
          <p:cNvSpPr/>
          <p:nvPr/>
        </p:nvSpPr>
        <p:spPr>
          <a:xfrm>
            <a:off x="4407408" y="2706624"/>
            <a:ext cx="7178040" cy="566928"/>
          </a:xfrm>
          <a:prstGeom prst="rect">
            <a:avLst/>
          </a:prstGeom>
          <a:noFill/>
          <a:ln/>
        </p:spPr>
        <p:txBody>
          <a:bodyPr wrap="square" lIns="0" tIns="0" rIns="0" bIns="0" rtlCol="0" anchor="ctr"/>
          <a:lstStyle/>
          <a:p>
            <a:pPr indent="0" marL="0">
              <a:buNone/>
            </a:pPr>
            <a:r>
              <a:rPr lang="en-US" sz="1250" dirty="0">
                <a:solidFill>
                  <a:srgbClr val="78716C"/>
                </a:solidFill>
                <a:latin typeface="Calibri" pitchFamily="34" charset="0"/>
                <a:ea typeface="Calibri" pitchFamily="34" charset="-122"/>
                <a:cs typeface="Calibri" pitchFamily="34" charset="-120"/>
              </a:rPr>
              <a:t>Se copia del catálogo a la línea al crear la orden. Subir el precio del café mañana no altera lo que se cobró hoy.</a:t>
            </a:r>
            <a:endParaRPr lang="en-US" sz="1250" dirty="0"/>
          </a:p>
        </p:txBody>
      </p:sp>
      <p:sp>
        <p:nvSpPr>
          <p:cNvPr id="12" name="Shape 10"/>
          <p:cNvSpPr/>
          <p:nvPr/>
        </p:nvSpPr>
        <p:spPr>
          <a:xfrm>
            <a:off x="566928" y="3675888"/>
            <a:ext cx="329184" cy="329184"/>
          </a:xfrm>
          <a:prstGeom prst="ellipse">
            <a:avLst/>
          </a:prstGeom>
          <a:solidFill>
            <a:srgbClr val="D97706"/>
          </a:solidFill>
          <a:ln w="12700">
            <a:solidFill>
              <a:srgbClr val="D97706"/>
            </a:solidFill>
            <a:prstDash val="solid"/>
          </a:ln>
        </p:spPr>
      </p:sp>
      <p:sp>
        <p:nvSpPr>
          <p:cNvPr id="13" name="Text 11"/>
          <p:cNvSpPr/>
          <p:nvPr/>
        </p:nvSpPr>
        <p:spPr>
          <a:xfrm>
            <a:off x="566928" y="367588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42416" y="3566160"/>
            <a:ext cx="3246120" cy="566928"/>
          </a:xfrm>
          <a:prstGeom prst="rect">
            <a:avLst/>
          </a:prstGeom>
          <a:noFill/>
          <a:ln/>
        </p:spPr>
        <p:txBody>
          <a:bodyPr wrap="square" lIns="0" tIns="0" rIns="0" bIns="0" rtlCol="0" anchor="ctr"/>
          <a:lstStyle/>
          <a:p>
            <a:pPr indent="0" marL="0">
              <a:buNone/>
            </a:pPr>
            <a:r>
              <a:rPr lang="en-US" sz="1450" b="1" dirty="0">
                <a:solidFill>
                  <a:srgbClr val="292524"/>
                </a:solidFill>
                <a:latin typeface="Calibri" pitchFamily="34" charset="0"/>
                <a:ea typeface="Calibri" pitchFamily="34" charset="-122"/>
                <a:cs typeface="Calibri" pitchFamily="34" charset="-120"/>
              </a:rPr>
              <a:t>Producto agotado, orden rechazada</a:t>
            </a:r>
            <a:endParaRPr lang="en-US" sz="1450" dirty="0"/>
          </a:p>
        </p:txBody>
      </p:sp>
      <p:sp>
        <p:nvSpPr>
          <p:cNvPr id="15" name="Text 13"/>
          <p:cNvSpPr/>
          <p:nvPr/>
        </p:nvSpPr>
        <p:spPr>
          <a:xfrm>
            <a:off x="4407408" y="3566160"/>
            <a:ext cx="7178040" cy="566928"/>
          </a:xfrm>
          <a:prstGeom prst="rect">
            <a:avLst/>
          </a:prstGeom>
          <a:noFill/>
          <a:ln/>
        </p:spPr>
        <p:txBody>
          <a:bodyPr wrap="square" lIns="0" tIns="0" rIns="0" bIns="0" rtlCol="0" anchor="ctr"/>
          <a:lstStyle/>
          <a:p>
            <a:pPr indent="0" marL="0">
              <a:buNone/>
            </a:pPr>
            <a:r>
              <a:rPr lang="en-US" sz="1250" dirty="0">
                <a:solidFill>
                  <a:srgbClr val="78716C"/>
                </a:solidFill>
                <a:latin typeface="Calibri" pitchFamily="34" charset="0"/>
                <a:ea typeface="Calibri" pitchFamily="34" charset="-122"/>
                <a:cs typeface="Calibri" pitchFamily="34" charset="-120"/>
              </a:rPr>
              <a:t>Si el producto está marcado como no disponible, la orden completa se rechaza y el mensaje dice qué producto fue.</a:t>
            </a:r>
            <a:endParaRPr lang="en-US" sz="1250" dirty="0"/>
          </a:p>
        </p:txBody>
      </p:sp>
      <p:sp>
        <p:nvSpPr>
          <p:cNvPr id="16" name="Shape 14"/>
          <p:cNvSpPr/>
          <p:nvPr/>
        </p:nvSpPr>
        <p:spPr>
          <a:xfrm>
            <a:off x="566928" y="4535424"/>
            <a:ext cx="329184" cy="329184"/>
          </a:xfrm>
          <a:prstGeom prst="ellipse">
            <a:avLst/>
          </a:prstGeom>
          <a:solidFill>
            <a:srgbClr val="D97706"/>
          </a:solidFill>
          <a:ln w="12700">
            <a:solidFill>
              <a:srgbClr val="D97706"/>
            </a:solidFill>
            <a:prstDash val="solid"/>
          </a:ln>
        </p:spPr>
      </p:sp>
      <p:sp>
        <p:nvSpPr>
          <p:cNvPr id="17" name="Text 15"/>
          <p:cNvSpPr/>
          <p:nvPr/>
        </p:nvSpPr>
        <p:spPr>
          <a:xfrm>
            <a:off x="566928" y="453542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42416" y="4425696"/>
            <a:ext cx="3246120" cy="566928"/>
          </a:xfrm>
          <a:prstGeom prst="rect">
            <a:avLst/>
          </a:prstGeom>
          <a:noFill/>
          <a:ln/>
        </p:spPr>
        <p:txBody>
          <a:bodyPr wrap="square" lIns="0" tIns="0" rIns="0" bIns="0" rtlCol="0" anchor="ctr"/>
          <a:lstStyle/>
          <a:p>
            <a:pPr indent="0" marL="0">
              <a:buNone/>
            </a:pPr>
            <a:r>
              <a:rPr lang="en-US" sz="1450" b="1" dirty="0">
                <a:solidFill>
                  <a:srgbClr val="292524"/>
                </a:solidFill>
                <a:latin typeface="Calibri" pitchFamily="34" charset="0"/>
                <a:ea typeface="Calibri" pitchFamily="34" charset="-122"/>
                <a:cs typeface="Calibri" pitchFamily="34" charset="-120"/>
              </a:rPr>
              <a:t>Decimal exacto, no punto flotante</a:t>
            </a:r>
            <a:endParaRPr lang="en-US" sz="1450" dirty="0"/>
          </a:p>
        </p:txBody>
      </p:sp>
      <p:sp>
        <p:nvSpPr>
          <p:cNvPr id="19" name="Text 17"/>
          <p:cNvSpPr/>
          <p:nvPr/>
        </p:nvSpPr>
        <p:spPr>
          <a:xfrm>
            <a:off x="4407408" y="4425696"/>
            <a:ext cx="7178040" cy="566928"/>
          </a:xfrm>
          <a:prstGeom prst="rect">
            <a:avLst/>
          </a:prstGeom>
          <a:noFill/>
          <a:ln/>
        </p:spPr>
        <p:txBody>
          <a:bodyPr wrap="square" lIns="0" tIns="0" rIns="0" bIns="0" rtlCol="0" anchor="ctr"/>
          <a:lstStyle/>
          <a:p>
            <a:pPr indent="0" marL="0">
              <a:buNone/>
            </a:pPr>
            <a:r>
              <a:rPr lang="en-US" sz="1250" dirty="0">
                <a:solidFill>
                  <a:srgbClr val="78716C"/>
                </a:solidFill>
                <a:latin typeface="Calibri" pitchFamily="34" charset="0"/>
                <a:ea typeface="Calibri" pitchFamily="34" charset="-122"/>
                <a:cs typeface="Calibri" pitchFamily="34" charset="-120"/>
              </a:rPr>
              <a:t>Los importes se guardan como decimal de 10 dígitos con 2 decimales. Sin redondeos silenciosos que descuadren el cierre.</a:t>
            </a:r>
            <a:endParaRPr lang="en-US" sz="1250" dirty="0"/>
          </a:p>
        </p:txBody>
      </p:sp>
      <p:sp>
        <p:nvSpPr>
          <p:cNvPr id="20" name="Shape 18"/>
          <p:cNvSpPr/>
          <p:nvPr/>
        </p:nvSpPr>
        <p:spPr>
          <a:xfrm>
            <a:off x="566928" y="5394960"/>
            <a:ext cx="329184" cy="329184"/>
          </a:xfrm>
          <a:prstGeom prst="ellipse">
            <a:avLst/>
          </a:prstGeom>
          <a:solidFill>
            <a:srgbClr val="D97706"/>
          </a:solidFill>
          <a:ln w="12700">
            <a:solidFill>
              <a:srgbClr val="D97706"/>
            </a:solidFill>
            <a:prstDash val="solid"/>
          </a:ln>
        </p:spPr>
      </p:sp>
      <p:sp>
        <p:nvSpPr>
          <p:cNvPr id="21" name="Text 19"/>
          <p:cNvSpPr/>
          <p:nvPr/>
        </p:nvSpPr>
        <p:spPr>
          <a:xfrm>
            <a:off x="566928" y="53949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42416" y="5285232"/>
            <a:ext cx="3246120" cy="566928"/>
          </a:xfrm>
          <a:prstGeom prst="rect">
            <a:avLst/>
          </a:prstGeom>
          <a:noFill/>
          <a:ln/>
        </p:spPr>
        <p:txBody>
          <a:bodyPr wrap="square" lIns="0" tIns="0" rIns="0" bIns="0" rtlCol="0" anchor="ctr"/>
          <a:lstStyle/>
          <a:p>
            <a:pPr indent="0" marL="0">
              <a:buNone/>
            </a:pPr>
            <a:r>
              <a:rPr lang="en-US" sz="1450" b="1" dirty="0">
                <a:solidFill>
                  <a:srgbClr val="292524"/>
                </a:solidFill>
                <a:latin typeface="Calibri" pitchFamily="34" charset="0"/>
                <a:ea typeface="Calibri" pitchFamily="34" charset="-122"/>
                <a:cs typeface="Calibri" pitchFamily="34" charset="-120"/>
              </a:rPr>
              <a:t>El catálogo no borra el pasado</a:t>
            </a:r>
            <a:endParaRPr lang="en-US" sz="1450" dirty="0"/>
          </a:p>
        </p:txBody>
      </p:sp>
      <p:sp>
        <p:nvSpPr>
          <p:cNvPr id="23" name="Text 21"/>
          <p:cNvSpPr/>
          <p:nvPr/>
        </p:nvSpPr>
        <p:spPr>
          <a:xfrm>
            <a:off x="4407408" y="5285232"/>
            <a:ext cx="7178040" cy="566928"/>
          </a:xfrm>
          <a:prstGeom prst="rect">
            <a:avLst/>
          </a:prstGeom>
          <a:noFill/>
          <a:ln/>
        </p:spPr>
        <p:txBody>
          <a:bodyPr wrap="square" lIns="0" tIns="0" rIns="0" bIns="0" rtlCol="0" anchor="ctr"/>
          <a:lstStyle/>
          <a:p>
            <a:pPr indent="0" marL="0">
              <a:buNone/>
            </a:pPr>
            <a:r>
              <a:rPr lang="en-US" sz="1250" dirty="0">
                <a:solidFill>
                  <a:srgbClr val="78716C"/>
                </a:solidFill>
                <a:latin typeface="Calibri" pitchFamily="34" charset="0"/>
                <a:ea typeface="Calibri" pitchFamily="34" charset="-122"/>
                <a:cs typeface="Calibri" pitchFamily="34" charset="-120"/>
              </a:rPr>
              <a:t>Un producto que aparece en una orden no se puede eliminar. Para retirarlo de la venta existe la disponibilidad.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16 operaciones sobre tres recursos</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El contrato completo. Cualquier cliente —web, móvil o punto de venta— consume exactamente el mismo.</a:t>
            </a:r>
            <a:endParaRPr lang="en-US" sz="1400" dirty="0"/>
          </a:p>
        </p:txBody>
      </p:sp>
      <p:sp>
        <p:nvSpPr>
          <p:cNvPr id="4" name="Shape 2"/>
          <p:cNvSpPr/>
          <p:nvPr/>
        </p:nvSpPr>
        <p:spPr>
          <a:xfrm>
            <a:off x="566928" y="1783080"/>
            <a:ext cx="3520440" cy="361188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41248" y="1965960"/>
            <a:ext cx="2194560" cy="347472"/>
          </a:xfrm>
          <a:prstGeom prst="rect">
            <a:avLst/>
          </a:prstGeom>
          <a:noFill/>
          <a:ln/>
        </p:spPr>
        <p:txBody>
          <a:bodyPr wrap="square" lIns="0" tIns="0" rIns="0" bIns="0" rtlCol="0" anchor="ctr"/>
          <a:lstStyle/>
          <a:p>
            <a:pPr indent="0" marL="0">
              <a:buNone/>
            </a:pPr>
            <a:r>
              <a:rPr lang="en-US" sz="1250" b="1" spc="120" kern="0" dirty="0">
                <a:solidFill>
                  <a:srgbClr val="292524"/>
                </a:solidFill>
                <a:latin typeface="Calibri" pitchFamily="34" charset="0"/>
                <a:ea typeface="Calibri" pitchFamily="34" charset="-122"/>
                <a:cs typeface="Calibri" pitchFamily="34" charset="-120"/>
              </a:rPr>
              <a:t>CLIENTES</a:t>
            </a:r>
            <a:endParaRPr lang="en-US" sz="1250" dirty="0"/>
          </a:p>
        </p:txBody>
      </p:sp>
      <p:sp>
        <p:nvSpPr>
          <p:cNvPr id="6" name="Shape 4"/>
          <p:cNvSpPr/>
          <p:nvPr/>
        </p:nvSpPr>
        <p:spPr>
          <a:xfrm>
            <a:off x="3401568" y="1965960"/>
            <a:ext cx="347472" cy="347472"/>
          </a:xfrm>
          <a:prstGeom prst="ellipse">
            <a:avLst/>
          </a:prstGeom>
          <a:solidFill>
            <a:srgbClr val="D97706"/>
          </a:solidFill>
          <a:ln w="12700">
            <a:solidFill>
              <a:srgbClr val="D97706"/>
            </a:solidFill>
            <a:prstDash val="solid"/>
          </a:ln>
        </p:spPr>
      </p:sp>
      <p:sp>
        <p:nvSpPr>
          <p:cNvPr id="7" name="Text 5"/>
          <p:cNvSpPr/>
          <p:nvPr/>
        </p:nvSpPr>
        <p:spPr>
          <a:xfrm>
            <a:off x="3401568"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8" name="Text 6"/>
          <p:cNvSpPr/>
          <p:nvPr/>
        </p:nvSpPr>
        <p:spPr>
          <a:xfrm>
            <a:off x="841248" y="2468880"/>
            <a:ext cx="3017520" cy="2743200"/>
          </a:xfrm>
          <a:prstGeom prst="rect">
            <a:avLst/>
          </a:prstGeom>
          <a:noFill/>
          <a:ln/>
        </p:spPr>
        <p:txBody>
          <a:bodyPr wrap="square" lIns="0" tIns="0" rIns="0" bIns="0" rtlCol="0" anchor="t"/>
          <a:lstStyle/>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/clientes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/clientes/{id}</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POST    /clientes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PUT     /clientes/{id}</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DELETE  /clientes/{id}</a:t>
            </a:r>
            <a:endParaRPr lang="en-US" sz="1050" dirty="0"/>
          </a:p>
        </p:txBody>
      </p:sp>
      <p:sp>
        <p:nvSpPr>
          <p:cNvPr id="9" name="Shape 7"/>
          <p:cNvSpPr/>
          <p:nvPr/>
        </p:nvSpPr>
        <p:spPr>
          <a:xfrm>
            <a:off x="4279392" y="1783080"/>
            <a:ext cx="3520440" cy="361188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0" name="Text 8"/>
          <p:cNvSpPr/>
          <p:nvPr/>
        </p:nvSpPr>
        <p:spPr>
          <a:xfrm>
            <a:off x="4553712" y="1965960"/>
            <a:ext cx="2194560" cy="347472"/>
          </a:xfrm>
          <a:prstGeom prst="rect">
            <a:avLst/>
          </a:prstGeom>
          <a:noFill/>
          <a:ln/>
        </p:spPr>
        <p:txBody>
          <a:bodyPr wrap="square" lIns="0" tIns="0" rIns="0" bIns="0" rtlCol="0" anchor="ctr"/>
          <a:lstStyle/>
          <a:p>
            <a:pPr indent="0" marL="0">
              <a:buNone/>
            </a:pPr>
            <a:r>
              <a:rPr lang="en-US" sz="1250" b="1" spc="120" kern="0" dirty="0">
                <a:solidFill>
                  <a:srgbClr val="292524"/>
                </a:solidFill>
                <a:latin typeface="Calibri" pitchFamily="34" charset="0"/>
                <a:ea typeface="Calibri" pitchFamily="34" charset="-122"/>
                <a:cs typeface="Calibri" pitchFamily="34" charset="-120"/>
              </a:rPr>
              <a:t>PRODUCTOS</a:t>
            </a:r>
            <a:endParaRPr lang="en-US" sz="1250" dirty="0"/>
          </a:p>
        </p:txBody>
      </p:sp>
      <p:sp>
        <p:nvSpPr>
          <p:cNvPr id="11" name="Shape 9"/>
          <p:cNvSpPr/>
          <p:nvPr/>
        </p:nvSpPr>
        <p:spPr>
          <a:xfrm>
            <a:off x="7114032" y="1965960"/>
            <a:ext cx="347472" cy="347472"/>
          </a:xfrm>
          <a:prstGeom prst="ellipse">
            <a:avLst/>
          </a:prstGeom>
          <a:solidFill>
            <a:srgbClr val="D97706"/>
          </a:solidFill>
          <a:ln w="12700">
            <a:solidFill>
              <a:srgbClr val="D97706"/>
            </a:solidFill>
            <a:prstDash val="solid"/>
          </a:ln>
        </p:spPr>
      </p:sp>
      <p:sp>
        <p:nvSpPr>
          <p:cNvPr id="12" name="Text 10"/>
          <p:cNvSpPr/>
          <p:nvPr/>
        </p:nvSpPr>
        <p:spPr>
          <a:xfrm>
            <a:off x="7114032"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3" name="Text 11"/>
          <p:cNvSpPr/>
          <p:nvPr/>
        </p:nvSpPr>
        <p:spPr>
          <a:xfrm>
            <a:off x="4553712" y="2468880"/>
            <a:ext cx="3017520" cy="2743200"/>
          </a:xfrm>
          <a:prstGeom prst="rect">
            <a:avLst/>
          </a:prstGeom>
          <a:noFill/>
          <a:ln/>
        </p:spPr>
        <p:txBody>
          <a:bodyPr wrap="square" lIns="0" tIns="0" rIns="0" bIns="0" rtlCol="0" anchor="t"/>
          <a:lstStyle/>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/productos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/productos/{id}</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POST    /productos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PUT     /productos/{id}</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DELETE  /productos/{id}</a:t>
            </a:r>
            <a:endParaRPr lang="en-US" sz="1050" dirty="0"/>
          </a:p>
        </p:txBody>
      </p:sp>
      <p:sp>
        <p:nvSpPr>
          <p:cNvPr id="14" name="Shape 12"/>
          <p:cNvSpPr/>
          <p:nvPr/>
        </p:nvSpPr>
        <p:spPr>
          <a:xfrm>
            <a:off x="7991856" y="1783080"/>
            <a:ext cx="3520440" cy="3611880"/>
          </a:xfrm>
          <a:prstGeom prst="roundRect">
            <a:avLst>
              <a:gd name="adj" fmla="val 233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Text 13"/>
          <p:cNvSpPr/>
          <p:nvPr/>
        </p:nvSpPr>
        <p:spPr>
          <a:xfrm>
            <a:off x="8266176" y="1965960"/>
            <a:ext cx="2194560" cy="347472"/>
          </a:xfrm>
          <a:prstGeom prst="rect">
            <a:avLst/>
          </a:prstGeom>
          <a:noFill/>
          <a:ln/>
        </p:spPr>
        <p:txBody>
          <a:bodyPr wrap="square" lIns="0" tIns="0" rIns="0" bIns="0" rtlCol="0" anchor="ctr"/>
          <a:lstStyle/>
          <a:p>
            <a:pPr indent="0" marL="0">
              <a:buNone/>
            </a:pPr>
            <a:r>
              <a:rPr lang="en-US" sz="1250" b="1" spc="120" kern="0" dirty="0">
                <a:solidFill>
                  <a:srgbClr val="292524"/>
                </a:solidFill>
                <a:latin typeface="Calibri" pitchFamily="34" charset="0"/>
                <a:ea typeface="Calibri" pitchFamily="34" charset="-122"/>
                <a:cs typeface="Calibri" pitchFamily="34" charset="-120"/>
              </a:rPr>
              <a:t>ÓRDENES</a:t>
            </a:r>
            <a:endParaRPr lang="en-US" sz="1250" dirty="0"/>
          </a:p>
        </p:txBody>
      </p:sp>
      <p:sp>
        <p:nvSpPr>
          <p:cNvPr id="16" name="Shape 14"/>
          <p:cNvSpPr/>
          <p:nvPr/>
        </p:nvSpPr>
        <p:spPr>
          <a:xfrm>
            <a:off x="10826496" y="1965960"/>
            <a:ext cx="347472" cy="347472"/>
          </a:xfrm>
          <a:prstGeom prst="ellipse">
            <a:avLst/>
          </a:prstGeom>
          <a:solidFill>
            <a:srgbClr val="D97706"/>
          </a:solidFill>
          <a:ln w="12700">
            <a:solidFill>
              <a:srgbClr val="D97706"/>
            </a:solidFill>
            <a:prstDash val="solid"/>
          </a:ln>
        </p:spPr>
      </p:sp>
      <p:sp>
        <p:nvSpPr>
          <p:cNvPr id="17" name="Text 15"/>
          <p:cNvSpPr/>
          <p:nvPr/>
        </p:nvSpPr>
        <p:spPr>
          <a:xfrm>
            <a:off x="10826496"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8" name="Text 16"/>
          <p:cNvSpPr/>
          <p:nvPr/>
        </p:nvSpPr>
        <p:spPr>
          <a:xfrm>
            <a:off x="8266176" y="2468880"/>
            <a:ext cx="3017520" cy="2743200"/>
          </a:xfrm>
          <a:prstGeom prst="rect">
            <a:avLst/>
          </a:prstGeom>
          <a:noFill/>
          <a:ln/>
        </p:spPr>
        <p:txBody>
          <a:bodyPr wrap="square" lIns="0" tIns="0" rIns="0" bIns="0" rtlCol="0" anchor="t"/>
          <a:lstStyle/>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/ordenes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GET     /ordenes/{id}</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POST    /ordenes</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POST    /ordenes/{id}/pagar</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POST    /ordenes/{id}/cancelar</a:t>
            </a:r>
            <a:endParaRPr lang="en-US" sz="1050" dirty="0"/>
          </a:p>
          <a:p>
            <a:pPr indent="0" marL="0">
              <a:lnSpc>
                <a:spcPct val="135000"/>
              </a:lnSpc>
              <a:buNone/>
            </a:pPr>
            <a:r>
              <a:rPr lang="en-US" sz="1050" dirty="0">
                <a:solidFill>
                  <a:srgbClr val="D97706"/>
                </a:solidFill>
                <a:latin typeface="Courier New" pitchFamily="34" charset="0"/>
                <a:ea typeface="Courier New" pitchFamily="34" charset="-122"/>
                <a:cs typeface="Courier New" pitchFamily="34" charset="-120"/>
              </a:rPr>
              <a:t>DELETE  /ordenes/{id}</a:t>
            </a:r>
            <a:endParaRPr lang="en-US" sz="1050" dirty="0"/>
          </a:p>
        </p:txBody>
      </p:sp>
      <p:sp>
        <p:nvSpPr>
          <p:cNvPr id="19" name="Shape 17"/>
          <p:cNvSpPr/>
          <p:nvPr/>
        </p:nvSpPr>
        <p:spPr>
          <a:xfrm>
            <a:off x="566928" y="5532120"/>
            <a:ext cx="11055096" cy="822960"/>
          </a:xfrm>
          <a:prstGeom prst="roundRect">
            <a:avLst>
              <a:gd name="adj" fmla="val 10000"/>
            </a:avLst>
          </a:prstGeom>
          <a:solidFill>
            <a:srgbClr val="2B1B12"/>
          </a:solidFill>
          <a:ln w="12700">
            <a:solidFill>
              <a:srgbClr val="2B1B12"/>
            </a:solidFill>
            <a:prstDash val="solid"/>
          </a:ln>
          <a:effectLst>
            <a:outerShdw sx="100000" sy="100000" kx="0" ky="0" algn="bl" rotWithShape="0" blurRad="114300" dist="19050" dir="5400000">
              <a:srgbClr val="000000">
                <a:alpha val="8000"/>
              </a:srgbClr>
            </a:outerShdw>
          </a:effectLst>
        </p:spPr>
      </p:sp>
      <p:sp>
        <p:nvSpPr>
          <p:cNvPr id="20" name="Text 18"/>
          <p:cNvSpPr/>
          <p:nvPr/>
        </p:nvSpPr>
        <p:spPr>
          <a:xfrm>
            <a:off x="886968" y="5532120"/>
            <a:ext cx="10424160" cy="822960"/>
          </a:xfrm>
          <a:prstGeom prst="rect">
            <a:avLst/>
          </a:prstGeom>
          <a:noFill/>
          <a:ln/>
        </p:spPr>
        <p:txBody>
          <a:bodyPr wrap="square" lIns="0" tIns="0" rIns="0" bIns="0" rtlCol="0" anchor="ctr"/>
          <a:lstStyle/>
          <a:p>
            <a:pPr indent="0" marL="0">
              <a:buNone/>
            </a:pPr>
            <a:r>
              <a:rPr lang="en-US" sz="1250" dirty="0">
                <a:solidFill>
                  <a:srgbClr val="E7DED8"/>
                </a:solidFill>
                <a:latin typeface="Calibri" pitchFamily="34" charset="0"/>
                <a:ea typeface="Calibri" pitchFamily="34" charset="-122"/>
                <a:cs typeface="Calibri" pitchFamily="34" charset="-120"/>
              </a:rPr>
              <a:t>Las transiciones de estado se modelan como acciones —POST /ordenes/7/pagar— y no como un PUT genérico: así el servidor valida la intención, en lugar de aceptar cualquier estado que el cliente le mande.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El stack, y por qué cada pieza</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Nada aquí se eligió por moda: cada decisión responde a un requisito del proyecto.</a:t>
            </a:r>
            <a:endParaRPr lang="en-US" sz="1400" dirty="0"/>
          </a:p>
        </p:txBody>
      </p:sp>
      <p:sp>
        <p:nvSpPr>
          <p:cNvPr id="4" name="Shape 2"/>
          <p:cNvSpPr/>
          <p:nvPr/>
        </p:nvSpPr>
        <p:spPr>
          <a:xfrm>
            <a:off x="566928" y="1783080"/>
            <a:ext cx="5413248" cy="4206240"/>
          </a:xfrm>
          <a:prstGeom prst="roundRect">
            <a:avLst>
              <a:gd name="adj" fmla="val 195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5" name="Text 3"/>
          <p:cNvSpPr/>
          <p:nvPr/>
        </p:nvSpPr>
        <p:spPr>
          <a:xfrm>
            <a:off x="859536" y="1965960"/>
            <a:ext cx="2743200" cy="402336"/>
          </a:xfrm>
          <a:prstGeom prst="rect">
            <a:avLst/>
          </a:prstGeom>
          <a:noFill/>
          <a:ln/>
        </p:spPr>
        <p:txBody>
          <a:bodyPr wrap="square" lIns="0" tIns="0" rIns="0" bIns="0" rtlCol="0" anchor="ctr"/>
          <a:lstStyle/>
          <a:p>
            <a:pPr indent="0" marL="0">
              <a:buNone/>
            </a:pPr>
            <a:r>
              <a:rPr lang="en-US" sz="2000" b="1" dirty="0">
                <a:solidFill>
                  <a:srgbClr val="292524"/>
                </a:solidFill>
                <a:latin typeface="Cambria" pitchFamily="34" charset="0"/>
                <a:ea typeface="Cambria" pitchFamily="34" charset="-122"/>
                <a:cs typeface="Cambria" pitchFamily="34" charset="-120"/>
              </a:rPr>
              <a:t>Servidor</a:t>
            </a:r>
            <a:endParaRPr lang="en-US" sz="2000" dirty="0"/>
          </a:p>
        </p:txBody>
      </p:sp>
      <p:sp>
        <p:nvSpPr>
          <p:cNvPr id="6" name="Text 4"/>
          <p:cNvSpPr/>
          <p:nvPr/>
        </p:nvSpPr>
        <p:spPr>
          <a:xfrm>
            <a:off x="859536" y="2487168"/>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.NET 10  ·  C#</a:t>
            </a:r>
            <a:endParaRPr lang="en-US" sz="1350" dirty="0"/>
          </a:p>
        </p:txBody>
      </p:sp>
      <p:sp>
        <p:nvSpPr>
          <p:cNvPr id="7" name="Text 5"/>
          <p:cNvSpPr/>
          <p:nvPr/>
        </p:nvSpPr>
        <p:spPr>
          <a:xfrm>
            <a:off x="859536" y="2779776"/>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Tipado fuerte, asincronía nativa y un modelo de objetos completo para aplicar POO de verdad.</a:t>
            </a:r>
            <a:endParaRPr lang="en-US" sz="1150" dirty="0"/>
          </a:p>
        </p:txBody>
      </p:sp>
      <p:sp>
        <p:nvSpPr>
          <p:cNvPr id="8" name="Text 6"/>
          <p:cNvSpPr/>
          <p:nvPr/>
        </p:nvSpPr>
        <p:spPr>
          <a:xfrm>
            <a:off x="859536" y="3346704"/>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ASP.NET Core Web API</a:t>
            </a:r>
            <a:endParaRPr lang="en-US" sz="1350" dirty="0"/>
          </a:p>
        </p:txBody>
      </p:sp>
      <p:sp>
        <p:nvSpPr>
          <p:cNvPr id="9" name="Text 7"/>
          <p:cNvSpPr/>
          <p:nvPr/>
        </p:nvSpPr>
        <p:spPr>
          <a:xfrm>
            <a:off x="859536" y="3639312"/>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Trae inyección de dependencias integrada, enrutamiento por atributos y OpenAPI sin código extra.</a:t>
            </a:r>
            <a:endParaRPr lang="en-US" sz="1150" dirty="0"/>
          </a:p>
        </p:txBody>
      </p:sp>
      <p:sp>
        <p:nvSpPr>
          <p:cNvPr id="10" name="Text 8"/>
          <p:cNvSpPr/>
          <p:nvPr/>
        </p:nvSpPr>
        <p:spPr>
          <a:xfrm>
            <a:off x="859536" y="4206240"/>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EF Core 10  ·  Npgsql</a:t>
            </a:r>
            <a:endParaRPr lang="en-US" sz="1350" dirty="0"/>
          </a:p>
        </p:txBody>
      </p:sp>
      <p:sp>
        <p:nvSpPr>
          <p:cNvPr id="11" name="Text 9"/>
          <p:cNvSpPr/>
          <p:nvPr/>
        </p:nvSpPr>
        <p:spPr>
          <a:xfrm>
            <a:off x="859536" y="4498848"/>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Code First: el modelo de objetos es la fuente de verdad y el esquema se deriva de él.</a:t>
            </a:r>
            <a:endParaRPr lang="en-US" sz="1150" dirty="0"/>
          </a:p>
        </p:txBody>
      </p:sp>
      <p:sp>
        <p:nvSpPr>
          <p:cNvPr id="12" name="Text 10"/>
          <p:cNvSpPr/>
          <p:nvPr/>
        </p:nvSpPr>
        <p:spPr>
          <a:xfrm>
            <a:off x="859536" y="5065776"/>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PostgreSQL</a:t>
            </a:r>
            <a:endParaRPr lang="en-US" sz="1350" dirty="0"/>
          </a:p>
        </p:txBody>
      </p:sp>
      <p:sp>
        <p:nvSpPr>
          <p:cNvPr id="13" name="Text 11"/>
          <p:cNvSpPr/>
          <p:nvPr/>
        </p:nvSpPr>
        <p:spPr>
          <a:xfrm>
            <a:off x="859536" y="5358384"/>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Relacional, libre, con integridad referencial y tipos decimales exactos para dinero.</a:t>
            </a:r>
            <a:endParaRPr lang="en-US" sz="1150" dirty="0"/>
          </a:p>
        </p:txBody>
      </p:sp>
      <p:sp>
        <p:nvSpPr>
          <p:cNvPr id="14" name="Shape 12"/>
          <p:cNvSpPr/>
          <p:nvPr/>
        </p:nvSpPr>
        <p:spPr>
          <a:xfrm>
            <a:off x="6208776" y="1783080"/>
            <a:ext cx="5413248" cy="4206240"/>
          </a:xfrm>
          <a:prstGeom prst="roundRect">
            <a:avLst>
              <a:gd name="adj" fmla="val 1957"/>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Text 13"/>
          <p:cNvSpPr/>
          <p:nvPr/>
        </p:nvSpPr>
        <p:spPr>
          <a:xfrm>
            <a:off x="6501384" y="1965960"/>
            <a:ext cx="2743200" cy="402336"/>
          </a:xfrm>
          <a:prstGeom prst="rect">
            <a:avLst/>
          </a:prstGeom>
          <a:noFill/>
          <a:ln/>
        </p:spPr>
        <p:txBody>
          <a:bodyPr wrap="square" lIns="0" tIns="0" rIns="0" bIns="0" rtlCol="0" anchor="ctr"/>
          <a:lstStyle/>
          <a:p>
            <a:pPr indent="0" marL="0">
              <a:buNone/>
            </a:pPr>
            <a:r>
              <a:rPr lang="en-US" sz="2000" b="1" dirty="0">
                <a:solidFill>
                  <a:srgbClr val="292524"/>
                </a:solidFill>
                <a:latin typeface="Cambria" pitchFamily="34" charset="0"/>
                <a:ea typeface="Cambria" pitchFamily="34" charset="-122"/>
                <a:cs typeface="Cambria" pitchFamily="34" charset="-120"/>
              </a:rPr>
              <a:t>Cliente</a:t>
            </a:r>
            <a:endParaRPr lang="en-US" sz="2000" dirty="0"/>
          </a:p>
        </p:txBody>
      </p:sp>
      <p:sp>
        <p:nvSpPr>
          <p:cNvPr id="16" name="Text 14"/>
          <p:cNvSpPr/>
          <p:nvPr/>
        </p:nvSpPr>
        <p:spPr>
          <a:xfrm>
            <a:off x="6501384" y="2487168"/>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React 19  ·  TypeScript</a:t>
            </a:r>
            <a:endParaRPr lang="en-US" sz="1350" dirty="0"/>
          </a:p>
        </p:txBody>
      </p:sp>
      <p:sp>
        <p:nvSpPr>
          <p:cNvPr id="17" name="Text 15"/>
          <p:cNvSpPr/>
          <p:nvPr/>
        </p:nvSpPr>
        <p:spPr>
          <a:xfrm>
            <a:off x="6501384" y="2779776"/>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Composición por componentes, y tipos verificados en compilación sobre el contrato de la API.</a:t>
            </a:r>
            <a:endParaRPr lang="en-US" sz="1150" dirty="0"/>
          </a:p>
        </p:txBody>
      </p:sp>
      <p:sp>
        <p:nvSpPr>
          <p:cNvPr id="18" name="Text 16"/>
          <p:cNvSpPr/>
          <p:nvPr/>
        </p:nvSpPr>
        <p:spPr>
          <a:xfrm>
            <a:off x="6501384" y="3346704"/>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Tailwind CSS 4</a:t>
            </a:r>
            <a:endParaRPr lang="en-US" sz="1350" dirty="0"/>
          </a:p>
        </p:txBody>
      </p:sp>
      <p:sp>
        <p:nvSpPr>
          <p:cNvPr id="19" name="Text 17"/>
          <p:cNvSpPr/>
          <p:nvPr/>
        </p:nvSpPr>
        <p:spPr>
          <a:xfrm>
            <a:off x="6501384" y="3639312"/>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Coherencia visual sin mantener hojas de estilo paralelas al margen del componente.</a:t>
            </a:r>
            <a:endParaRPr lang="en-US" sz="1150" dirty="0"/>
          </a:p>
        </p:txBody>
      </p:sp>
      <p:sp>
        <p:nvSpPr>
          <p:cNvPr id="20" name="Text 18"/>
          <p:cNvSpPr/>
          <p:nvPr/>
        </p:nvSpPr>
        <p:spPr>
          <a:xfrm>
            <a:off x="6501384" y="4206240"/>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React Router 7</a:t>
            </a:r>
            <a:endParaRPr lang="en-US" sz="1350" dirty="0"/>
          </a:p>
        </p:txBody>
      </p:sp>
      <p:sp>
        <p:nvSpPr>
          <p:cNvPr id="21" name="Text 19"/>
          <p:cNvSpPr/>
          <p:nvPr/>
        </p:nvSpPr>
        <p:spPr>
          <a:xfrm>
            <a:off x="6501384" y="4498848"/>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Navegación entre los tres módulos sin recargar la página.</a:t>
            </a:r>
            <a:endParaRPr lang="en-US" sz="1150" dirty="0"/>
          </a:p>
        </p:txBody>
      </p:sp>
      <p:sp>
        <p:nvSpPr>
          <p:cNvPr id="22" name="Text 20"/>
          <p:cNvSpPr/>
          <p:nvPr/>
        </p:nvSpPr>
        <p:spPr>
          <a:xfrm>
            <a:off x="6501384" y="5065776"/>
            <a:ext cx="4828032" cy="292608"/>
          </a:xfrm>
          <a:prstGeom prst="rect">
            <a:avLst/>
          </a:prstGeom>
          <a:noFill/>
          <a:ln/>
        </p:spPr>
        <p:txBody>
          <a:bodyPr wrap="square" lIns="0" tIns="0" rIns="0" bIns="0"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Vite 8  ·  oxlint</a:t>
            </a:r>
            <a:endParaRPr lang="en-US" sz="1350" dirty="0"/>
          </a:p>
        </p:txBody>
      </p:sp>
      <p:sp>
        <p:nvSpPr>
          <p:cNvPr id="23" name="Text 21"/>
          <p:cNvSpPr/>
          <p:nvPr/>
        </p:nvSpPr>
        <p:spPr>
          <a:xfrm>
            <a:off x="6501384" y="5358384"/>
            <a:ext cx="4828032" cy="502920"/>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Recarga en caliente durante el desarrollo y detección temprana de errores comunes.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292524"/>
                </a:solidFill>
                <a:latin typeface="Cambria" pitchFamily="34" charset="0"/>
                <a:ea typeface="Cambria" pitchFamily="34" charset="-122"/>
                <a:cs typeface="Cambria" pitchFamily="34" charset="-120"/>
              </a:rPr>
              <a:t>El proyecto en números</a:t>
            </a:r>
            <a:endParaRPr lang="en-US" sz="3200" dirty="0"/>
          </a:p>
        </p:txBody>
      </p:sp>
      <p:sp>
        <p:nvSpPr>
          <p:cNvPr id="3" name="Text 1"/>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78716C"/>
                </a:solidFill>
                <a:latin typeface="Calibri" pitchFamily="34" charset="0"/>
                <a:ea typeface="Calibri" pitchFamily="34" charset="-122"/>
                <a:cs typeface="Calibri" pitchFamily="34" charset="-120"/>
              </a:rPr>
              <a:t>Dos mil cuatrocientas líneas repartidas en cincuenta archivos, y el peso donde debe estar.</a:t>
            </a:r>
            <a:endParaRPr lang="en-US" sz="1400" dirty="0"/>
          </a:p>
        </p:txBody>
      </p:sp>
      <p:graphicFrame>
        <p:nvGraphicFramePr>
          <p:cNvPr id="4" name="Chart 0" descr=""/>
          <p:cNvGraphicFramePr/>
          <p:nvPr/>
        </p:nvGraphicFramePr>
        <p:xfrm>
          <a:off x="566928" y="1783080"/>
          <a:ext cx="57607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583680" y="1783080"/>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6" name="Text 3"/>
          <p:cNvSpPr/>
          <p:nvPr/>
        </p:nvSpPr>
        <p:spPr>
          <a:xfrm>
            <a:off x="6784848" y="1911096"/>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4</a:t>
            </a:r>
            <a:endParaRPr lang="en-US" sz="3400" dirty="0"/>
          </a:p>
        </p:txBody>
      </p:sp>
      <p:sp>
        <p:nvSpPr>
          <p:cNvPr id="7" name="Text 4"/>
          <p:cNvSpPr/>
          <p:nvPr/>
        </p:nvSpPr>
        <p:spPr>
          <a:xfrm>
            <a:off x="6784848" y="2514600"/>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capas en el servidor</a:t>
            </a:r>
            <a:endParaRPr lang="en-US" sz="1150" dirty="0"/>
          </a:p>
        </p:txBody>
      </p:sp>
      <p:sp>
        <p:nvSpPr>
          <p:cNvPr id="8" name="Shape 5"/>
          <p:cNvSpPr/>
          <p:nvPr/>
        </p:nvSpPr>
        <p:spPr>
          <a:xfrm>
            <a:off x="9144000" y="1783080"/>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9" name="Text 6"/>
          <p:cNvSpPr/>
          <p:nvPr/>
        </p:nvSpPr>
        <p:spPr>
          <a:xfrm>
            <a:off x="9345168" y="1911096"/>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3</a:t>
            </a:r>
            <a:endParaRPr lang="en-US" sz="3400" dirty="0"/>
          </a:p>
        </p:txBody>
      </p:sp>
      <p:sp>
        <p:nvSpPr>
          <p:cNvPr id="10" name="Text 7"/>
          <p:cNvSpPr/>
          <p:nvPr/>
        </p:nvSpPr>
        <p:spPr>
          <a:xfrm>
            <a:off x="9345168" y="2514600"/>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procesos en red</a:t>
            </a:r>
            <a:endParaRPr lang="en-US" sz="1150" dirty="0"/>
          </a:p>
        </p:txBody>
      </p:sp>
      <p:sp>
        <p:nvSpPr>
          <p:cNvPr id="11" name="Shape 8"/>
          <p:cNvSpPr/>
          <p:nvPr/>
        </p:nvSpPr>
        <p:spPr>
          <a:xfrm>
            <a:off x="6583680" y="3136392"/>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2" name="Text 9"/>
          <p:cNvSpPr/>
          <p:nvPr/>
        </p:nvSpPr>
        <p:spPr>
          <a:xfrm>
            <a:off x="6784848" y="3264408"/>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16</a:t>
            </a:r>
            <a:endParaRPr lang="en-US" sz="3400" dirty="0"/>
          </a:p>
        </p:txBody>
      </p:sp>
      <p:sp>
        <p:nvSpPr>
          <p:cNvPr id="13" name="Text 10"/>
          <p:cNvSpPr/>
          <p:nvPr/>
        </p:nvSpPr>
        <p:spPr>
          <a:xfrm>
            <a:off x="6784848" y="3867912"/>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endpoints REST</a:t>
            </a:r>
            <a:endParaRPr lang="en-US" sz="1150" dirty="0"/>
          </a:p>
        </p:txBody>
      </p:sp>
      <p:sp>
        <p:nvSpPr>
          <p:cNvPr id="14" name="Shape 11"/>
          <p:cNvSpPr/>
          <p:nvPr/>
        </p:nvSpPr>
        <p:spPr>
          <a:xfrm>
            <a:off x="9144000" y="3136392"/>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5" name="Text 12"/>
          <p:cNvSpPr/>
          <p:nvPr/>
        </p:nvSpPr>
        <p:spPr>
          <a:xfrm>
            <a:off x="9345168" y="3264408"/>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16</a:t>
            </a:r>
            <a:endParaRPr lang="en-US" sz="3400" dirty="0"/>
          </a:p>
        </p:txBody>
      </p:sp>
      <p:sp>
        <p:nvSpPr>
          <p:cNvPr id="16" name="Text 13"/>
          <p:cNvSpPr/>
          <p:nvPr/>
        </p:nvSpPr>
        <p:spPr>
          <a:xfrm>
            <a:off x="9345168" y="3867912"/>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reglas de negocio</a:t>
            </a:r>
            <a:endParaRPr lang="en-US" sz="1150" dirty="0"/>
          </a:p>
        </p:txBody>
      </p:sp>
      <p:sp>
        <p:nvSpPr>
          <p:cNvPr id="17" name="Shape 14"/>
          <p:cNvSpPr/>
          <p:nvPr/>
        </p:nvSpPr>
        <p:spPr>
          <a:xfrm>
            <a:off x="6583680" y="4489704"/>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18" name="Text 15"/>
          <p:cNvSpPr/>
          <p:nvPr/>
        </p:nvSpPr>
        <p:spPr>
          <a:xfrm>
            <a:off x="6784848" y="4617720"/>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4</a:t>
            </a:r>
            <a:endParaRPr lang="en-US" sz="3400" dirty="0"/>
          </a:p>
        </p:txBody>
      </p:sp>
      <p:sp>
        <p:nvSpPr>
          <p:cNvPr id="19" name="Text 16"/>
          <p:cNvSpPr/>
          <p:nvPr/>
        </p:nvSpPr>
        <p:spPr>
          <a:xfrm>
            <a:off x="6784848" y="5221224"/>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clases abstractas</a:t>
            </a:r>
            <a:endParaRPr lang="en-US" sz="1150" dirty="0"/>
          </a:p>
        </p:txBody>
      </p:sp>
      <p:sp>
        <p:nvSpPr>
          <p:cNvPr id="20" name="Shape 17"/>
          <p:cNvSpPr/>
          <p:nvPr/>
        </p:nvSpPr>
        <p:spPr>
          <a:xfrm>
            <a:off x="9144000" y="4489704"/>
            <a:ext cx="2423160" cy="1243584"/>
          </a:xfrm>
          <a:prstGeom prst="roundRect">
            <a:avLst>
              <a:gd name="adj" fmla="val 6618"/>
            </a:avLst>
          </a:prstGeom>
          <a:solidFill>
            <a:srgbClr val="FAFAF9"/>
          </a:solidFill>
          <a:ln w="12700">
            <a:solidFill>
              <a:srgbClr val="E7E5E4"/>
            </a:solidFill>
            <a:prstDash val="solid"/>
          </a:ln>
          <a:effectLst>
            <a:outerShdw sx="100000" sy="100000" kx="0" ky="0" algn="bl" rotWithShape="0" blurRad="114300" dist="19050" dir="5400000">
              <a:srgbClr val="000000">
                <a:alpha val="8000"/>
              </a:srgbClr>
            </a:outerShdw>
          </a:effectLst>
        </p:spPr>
      </p:sp>
      <p:sp>
        <p:nvSpPr>
          <p:cNvPr id="21" name="Text 18"/>
          <p:cNvSpPr/>
          <p:nvPr/>
        </p:nvSpPr>
        <p:spPr>
          <a:xfrm>
            <a:off x="9345168" y="4617720"/>
            <a:ext cx="2011680" cy="566928"/>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7</a:t>
            </a:r>
            <a:endParaRPr lang="en-US" sz="3400" dirty="0"/>
          </a:p>
        </p:txBody>
      </p:sp>
      <p:sp>
        <p:nvSpPr>
          <p:cNvPr id="22" name="Text 19"/>
          <p:cNvSpPr/>
          <p:nvPr/>
        </p:nvSpPr>
        <p:spPr>
          <a:xfrm>
            <a:off x="9345168" y="5221224"/>
            <a:ext cx="2057400" cy="384048"/>
          </a:xfrm>
          <a:prstGeom prst="rect">
            <a:avLst/>
          </a:prstGeom>
          <a:noFill/>
          <a:ln/>
        </p:spPr>
        <p:txBody>
          <a:bodyPr wrap="square" lIns="0" tIns="0" rIns="0" bIns="0" rtlCol="0" anchor="t"/>
          <a:lstStyle/>
          <a:p>
            <a:pPr indent="0" marL="0">
              <a:buNone/>
            </a:pPr>
            <a:r>
              <a:rPr lang="en-US" sz="1150" dirty="0">
                <a:solidFill>
                  <a:srgbClr val="78716C"/>
                </a:solidFill>
                <a:latin typeface="Calibri" pitchFamily="34" charset="0"/>
                <a:ea typeface="Calibri" pitchFamily="34" charset="-122"/>
                <a:cs typeface="Calibri" pitchFamily="34" charset="-120"/>
              </a:rPr>
              <a:t>interfaces</a:t>
            </a:r>
            <a:endParaRPr lang="en-US" sz="1150" dirty="0"/>
          </a:p>
        </p:txBody>
      </p:sp>
      <p:sp>
        <p:nvSpPr>
          <p:cNvPr id="23" name="Text 20"/>
          <p:cNvSpPr/>
          <p:nvPr/>
        </p:nvSpPr>
        <p:spPr>
          <a:xfrm>
            <a:off x="6583680" y="5870448"/>
            <a:ext cx="5038344" cy="502920"/>
          </a:xfrm>
          <a:prstGeom prst="rect">
            <a:avLst/>
          </a:prstGeom>
          <a:noFill/>
          <a:ln/>
        </p:spPr>
        <p:txBody>
          <a:bodyPr wrap="square" lIns="0" tIns="0" rIns="0" bIns="0" rtlCol="0" anchor="t"/>
          <a:lstStyle/>
          <a:p>
            <a:pPr indent="0" marL="0">
              <a:buNone/>
            </a:pPr>
            <a:r>
              <a:rPr lang="en-US" sz="1100" i="1" dirty="0">
                <a:solidFill>
                  <a:srgbClr val="78716C"/>
                </a:solidFill>
                <a:latin typeface="Calibri" pitchFamily="34" charset="0"/>
                <a:ea typeface="Calibri" pitchFamily="34" charset="-122"/>
                <a:cs typeface="Calibri" pitchFamily="34" charset="-120"/>
              </a:rPr>
              <a:t>1.147 líneas de C# en 35 archivos  ·  1.302 líneas de TypeScript en 15 archivos  ·  1 migración versionada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1463040" y="4480560"/>
            <a:ext cx="4206240" cy="4206240"/>
          </a:xfrm>
          <a:prstGeom prst="ellipse">
            <a:avLst/>
          </a:prstGeom>
          <a:solidFill>
            <a:srgbClr val="D97706">
              <a:alpha val="10000"/>
            </a:srgbClr>
          </a:solidFill>
          <a:ln w="12700">
            <a:solidFill>
              <a:srgbClr val="333333"/>
            </a:solidFill>
            <a:prstDash val="solid"/>
          </a:ln>
        </p:spPr>
      </p:sp>
      <p:sp>
        <p:nvSpPr>
          <p:cNvPr id="3" name="Text 1"/>
          <p:cNvSpPr/>
          <p:nvPr/>
        </p:nvSpPr>
        <p:spPr>
          <a:xfrm>
            <a:off x="566928" y="365760"/>
            <a:ext cx="11055096"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 que sigue</a:t>
            </a:r>
            <a:endParaRPr lang="en-US" sz="3200" dirty="0"/>
          </a:p>
        </p:txBody>
      </p:sp>
      <p:sp>
        <p:nvSpPr>
          <p:cNvPr id="4" name="Text 2"/>
          <p:cNvSpPr/>
          <p:nvPr/>
        </p:nvSpPr>
        <p:spPr>
          <a:xfrm>
            <a:off x="566928" y="1115568"/>
            <a:ext cx="11055096" cy="420624"/>
          </a:xfrm>
          <a:prstGeom prst="rect">
            <a:avLst/>
          </a:prstGeom>
          <a:noFill/>
          <a:ln/>
        </p:spPr>
        <p:txBody>
          <a:bodyPr wrap="square" lIns="0" tIns="0" rIns="0" bIns="0" rtlCol="0" anchor="t"/>
          <a:lstStyle/>
          <a:p>
            <a:pPr indent="0" marL="0">
              <a:buNone/>
            </a:pPr>
            <a:r>
              <a:rPr lang="en-US" sz="1400" i="1" dirty="0">
                <a:solidFill>
                  <a:srgbClr val="A89588"/>
                </a:solidFill>
                <a:latin typeface="Calibri" pitchFamily="34" charset="0"/>
                <a:ea typeface="Calibri" pitchFamily="34" charset="-122"/>
                <a:cs typeface="Calibri" pitchFamily="34" charset="-120"/>
              </a:rPr>
              <a:t>Lo que dejé fuera a propósito, y por dónde seguiría si esto se pusiera en producción.</a:t>
            </a:r>
            <a:endParaRPr lang="en-US" sz="1400" dirty="0"/>
          </a:p>
        </p:txBody>
      </p:sp>
      <p:sp>
        <p:nvSpPr>
          <p:cNvPr id="5" name="Text 3"/>
          <p:cNvSpPr/>
          <p:nvPr/>
        </p:nvSpPr>
        <p:spPr>
          <a:xfrm>
            <a:off x="566928" y="1783080"/>
            <a:ext cx="5852160" cy="292608"/>
          </a:xfrm>
          <a:prstGeom prst="rect">
            <a:avLst/>
          </a:prstGeom>
          <a:noFill/>
          <a:ln/>
        </p:spPr>
        <p:txBody>
          <a:bodyPr wrap="square" lIns="0" tIns="0" rIns="0" bIns="0" rtlCol="0" anchor="ctr"/>
          <a:lstStyle/>
          <a:p>
            <a:pPr indent="0" marL="0">
              <a:buNone/>
            </a:pPr>
            <a:r>
              <a:rPr lang="en-US" sz="1000" b="1" spc="150" kern="0" dirty="0">
                <a:solidFill>
                  <a:srgbClr val="F59E0B"/>
                </a:solidFill>
                <a:latin typeface="Calibri" pitchFamily="34" charset="0"/>
                <a:ea typeface="Calibri" pitchFamily="34" charset="-122"/>
                <a:cs typeface="Calibri" pitchFamily="34" charset="-120"/>
              </a:rPr>
              <a:t>TRABAJO FUTURO</a:t>
            </a:r>
            <a:endParaRPr lang="en-US" sz="1000" dirty="0"/>
          </a:p>
        </p:txBody>
      </p:sp>
      <p:sp>
        <p:nvSpPr>
          <p:cNvPr id="6" name="Text 4"/>
          <p:cNvSpPr/>
          <p:nvPr/>
        </p:nvSpPr>
        <p:spPr>
          <a:xfrm>
            <a:off x="621792" y="2176272"/>
            <a:ext cx="5760720" cy="3291840"/>
          </a:xfrm>
          <a:prstGeom prst="rect">
            <a:avLst/>
          </a:prstGeom>
          <a:noFill/>
          <a:ln/>
        </p:spPr>
        <p:txBody>
          <a:bodyPr wrap="square" lIns="0" tIns="0" rIns="0" bIns="0" rtlCol="0" anchor="t"/>
          <a:lstStyle/>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Autenticación con roles de cajero y administrador</a:t>
            </a:r>
            <a:endParaRPr lang="en-US" sz="1300" dirty="0"/>
          </a:p>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Cálculo de ITBIS y comprobantes fiscales (NCF)</a:t>
            </a:r>
            <a:endParaRPr lang="en-US" sz="1300" dirty="0"/>
          </a:p>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Panel de indicadores: ventas del día, producto más pedido y desglose por método de pago</a:t>
            </a:r>
            <a:endParaRPr lang="en-US" sz="1300" dirty="0"/>
          </a:p>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Pruebas unitarias sobre los servicios, que son código puro y fácil de aislar</a:t>
            </a:r>
            <a:endParaRPr lang="en-US" sz="1300" dirty="0"/>
          </a:p>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Mover la cadena de conexión a variables de entorno</a:t>
            </a:r>
            <a:endParaRPr lang="en-US" sz="1300" dirty="0"/>
          </a:p>
          <a:p>
            <a:pPr marL="342900" indent="-342900">
              <a:lnSpc>
                <a:spcPct val="102000"/>
              </a:lnSpc>
              <a:spcAft>
                <a:spcPts val="1100"/>
              </a:spcAft>
              <a:buSzPct val="100000"/>
              <a:buChar char="•"/>
            </a:pPr>
            <a:r>
              <a:rPr lang="en-US" sz="1300" dirty="0">
                <a:solidFill>
                  <a:srgbClr val="E7DED8"/>
                </a:solidFill>
                <a:latin typeface="Calibri" pitchFamily="34" charset="0"/>
                <a:ea typeface="Calibri" pitchFamily="34" charset="-122"/>
                <a:cs typeface="Calibri" pitchFamily="34" charset="-120"/>
              </a:rPr>
              <a:t>Despliegue en contenedores para eliminar la instalación manual</a:t>
            </a:r>
            <a:endParaRPr lang="en-US" sz="1300" dirty="0"/>
          </a:p>
        </p:txBody>
      </p:sp>
      <p:sp>
        <p:nvSpPr>
          <p:cNvPr id="7" name="Shape 5"/>
          <p:cNvSpPr/>
          <p:nvPr/>
        </p:nvSpPr>
        <p:spPr>
          <a:xfrm>
            <a:off x="6720840" y="1783080"/>
            <a:ext cx="4901184" cy="4160520"/>
          </a:xfrm>
          <a:prstGeom prst="roundRect">
            <a:avLst>
              <a:gd name="adj" fmla="val 1978"/>
            </a:avLst>
          </a:prstGeom>
          <a:solidFill>
            <a:srgbClr val="3E2A1D"/>
          </a:solidFill>
          <a:ln w="12700">
            <a:solidFill>
              <a:srgbClr val="5A4032"/>
            </a:solidFill>
            <a:prstDash val="solid"/>
          </a:ln>
          <a:effectLst>
            <a:outerShdw sx="100000" sy="100000" kx="0" ky="0" algn="bl" rotWithShape="0" blurRad="114300" dist="19050" dir="5400000">
              <a:srgbClr val="000000">
                <a:alpha val="8000"/>
              </a:srgbClr>
            </a:outerShdw>
          </a:effectLst>
        </p:spPr>
      </p:sp>
      <p:sp>
        <p:nvSpPr>
          <p:cNvPr id="8" name="Text 6"/>
          <p:cNvSpPr/>
          <p:nvPr/>
        </p:nvSpPr>
        <p:spPr>
          <a:xfrm>
            <a:off x="6995160" y="2011680"/>
            <a:ext cx="4352544" cy="274320"/>
          </a:xfrm>
          <a:prstGeom prst="rect">
            <a:avLst/>
          </a:prstGeom>
          <a:noFill/>
          <a:ln/>
        </p:spPr>
        <p:txBody>
          <a:bodyPr wrap="square" lIns="0" tIns="0" rIns="0" bIns="0" rtlCol="0" anchor="ctr"/>
          <a:lstStyle/>
          <a:p>
            <a:pPr indent="0" marL="0">
              <a:buNone/>
            </a:pPr>
            <a:r>
              <a:rPr lang="en-US" sz="1000" b="1" spc="150" kern="0" dirty="0">
                <a:solidFill>
                  <a:srgbClr val="F59E0B"/>
                </a:solidFill>
                <a:latin typeface="Calibri" pitchFamily="34" charset="0"/>
                <a:ea typeface="Calibri" pitchFamily="34" charset="-122"/>
                <a:cs typeface="Calibri" pitchFamily="34" charset="-120"/>
              </a:rPr>
              <a:t>EL REPOSITORIO</a:t>
            </a:r>
            <a:endParaRPr lang="en-US" sz="1000" dirty="0"/>
          </a:p>
        </p:txBody>
      </p:sp>
      <p:sp>
        <p:nvSpPr>
          <p:cNvPr id="9" name="Text 7"/>
          <p:cNvSpPr/>
          <p:nvPr/>
        </p:nvSpPr>
        <p:spPr>
          <a:xfrm>
            <a:off x="6995160" y="2359152"/>
            <a:ext cx="4352544" cy="96012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github.com/ArsonTD/</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GestorOrdenesCafeteria-</a:t>
            </a:r>
            <a:endParaRPr lang="en-US" sz="1250" dirty="0"/>
          </a:p>
          <a:p>
            <a:pPr indent="0" marL="0">
              <a:lnSpc>
                <a:spcPct val="120000"/>
              </a:lnSpc>
              <a:buNone/>
            </a:pPr>
            <a:r>
              <a:rPr lang="en-US" sz="1250" dirty="0">
                <a:solidFill>
                  <a:srgbClr val="FFFFFF"/>
                </a:solidFill>
                <a:latin typeface="Courier New" pitchFamily="34" charset="0"/>
                <a:ea typeface="Courier New" pitchFamily="34" charset="-122"/>
                <a:cs typeface="Courier New" pitchFamily="34" charset="-120"/>
              </a:rPr>
              <a:t>PROYECTOFINAL</a:t>
            </a:r>
            <a:endParaRPr lang="en-US" sz="1250" dirty="0"/>
          </a:p>
        </p:txBody>
      </p:sp>
      <p:sp>
        <p:nvSpPr>
          <p:cNvPr id="10" name="Text 8"/>
          <p:cNvSpPr/>
          <p:nvPr/>
        </p:nvSpPr>
        <p:spPr>
          <a:xfrm>
            <a:off x="6995160" y="3474720"/>
            <a:ext cx="4352544" cy="685800"/>
          </a:xfrm>
          <a:prstGeom prst="rect">
            <a:avLst/>
          </a:prstGeom>
          <a:noFill/>
          <a:ln/>
        </p:spPr>
        <p:txBody>
          <a:bodyPr wrap="square" lIns="0" tIns="0" rIns="0" bIns="0" rtlCol="0" anchor="t"/>
          <a:lstStyle/>
          <a:p>
            <a:pPr indent="0" marL="0">
              <a:buNone/>
            </a:pPr>
            <a:r>
              <a:rPr lang="en-US" sz="1200" dirty="0">
                <a:solidFill>
                  <a:srgbClr val="E7DED8"/>
                </a:solidFill>
                <a:latin typeface="Calibri" pitchFamily="34" charset="0"/>
                <a:ea typeface="Calibri" pitchFamily="34" charset="-122"/>
                <a:cs typeface="Calibri" pitchFamily="34" charset="-120"/>
              </a:rPr>
              <a:t>Código, migración de base de datos y este documento de requerimientos, todo público.</a:t>
            </a:r>
            <a:endParaRPr lang="en-US" sz="1200" dirty="0"/>
          </a:p>
        </p:txBody>
      </p:sp>
      <p:sp>
        <p:nvSpPr>
          <p:cNvPr id="11" name="Text 9"/>
          <p:cNvSpPr/>
          <p:nvPr/>
        </p:nvSpPr>
        <p:spPr>
          <a:xfrm>
            <a:off x="6995160" y="4297680"/>
            <a:ext cx="4352544" cy="777240"/>
          </a:xfrm>
          <a:prstGeom prst="rect">
            <a:avLst/>
          </a:prstGeom>
          <a:noFill/>
          <a:ln/>
        </p:spPr>
        <p:txBody>
          <a:bodyPr wrap="square" lIns="0" tIns="0" rIns="0" bIns="0" rtlCol="0" anchor="t"/>
          <a:lstStyle/>
          <a:p>
            <a:pPr indent="0" marL="0">
              <a:buNone/>
            </a:pPr>
            <a:r>
              <a:rPr lang="en-US" sz="1300" i="1" dirty="0">
                <a:solidFill>
                  <a:srgbClr val="E7DED8"/>
                </a:solidFill>
                <a:latin typeface="Calibri" pitchFamily="34" charset="0"/>
                <a:ea typeface="Calibri" pitchFamily="34" charset="-122"/>
                <a:cs typeface="Calibri" pitchFamily="34" charset="-120"/>
              </a:rPr>
              <a:t>Cuatro capas, tres procesos, dieciséis reglas. La libreta ya no hace falta.</a:t>
            </a:r>
            <a:endParaRPr lang="en-US" sz="1300" dirty="0"/>
          </a:p>
        </p:txBody>
      </p:sp>
      <p:sp>
        <p:nvSpPr>
          <p:cNvPr id="12" name="Text 10"/>
          <p:cNvSpPr/>
          <p:nvPr/>
        </p:nvSpPr>
        <p:spPr>
          <a:xfrm>
            <a:off x="6995160" y="5138928"/>
            <a:ext cx="4352544" cy="54864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Gracias.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Gestor de Ordenes para Cafeteria</dc:title>
  <dc:subject>PptxGenJS Presentation</dc:subject>
  <dc:creator>Anderson Tejeda</dc:creator>
  <cp:lastModifiedBy>Anderson Tejeda</cp:lastModifiedBy>
  <cp:revision>1</cp:revision>
  <dcterms:created xsi:type="dcterms:W3CDTF">2026-08-20T19:12:09Z</dcterms:created>
  <dcterms:modified xsi:type="dcterms:W3CDTF">2026-08-20T19:12:09Z</dcterms:modified>
</cp:coreProperties>
</file>