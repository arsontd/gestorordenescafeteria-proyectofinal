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Buenos días. Le voy a presentar algo en cinco minutos, y le prometo que no le voy a hablar de tecnología.
Le voy a hablar de una libreta.
Usted tiene una cafetería. Los pedidos se apuntan en una libreta, el total se suma a mano, y al final del día se cierra la caja con lo que hay. Eso funciona. Lleva años funcionando.
Pero funciona con tres agujeros por donde se le va dinero todos los días, y usted probablemente ni los ve porque son pequeños.
Lo que le traigo es un sistema que hace exactamente lo mismo que la libreta, pero sin esos tres agujeros. Se usa igual de rápido, no cambia cómo usted atiende, y corre en la computadora que ya tiene.
Déjeme mostrarle primero cuáles son los tres agujeros.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Tres cosas pasan con la libreta, todos los días.
La primera: se suma a mano. Un café, un jugo, dos sándwiches, y usted saca el total de cabeza o con la calculadora del teléfono. En hora pico, con la fila esperando, a veces se suma mal.
La segunda: se escribe a la carrera. Cuando hay dos personas apuntando en la misma libreta, un pedido se salta. El cliente espera algo que nadie está preparando, y cuando se da cuenta, ya se fue molesto.
Y la tercera, que es la que más cuesta a largo plazo: usted cierra la caja y no sabe qué se vendió. Sabe cuánto entró, sí. Pero no sabe cuál fue el producto más pedido, ni cuánto entró por tarjeta, ni si el postre que compró la semana pasada se está vendiendo o se está dañando en la nevera.
Ninguno de los tres se arregla trabajando más rápido. Los tres son problemas de información.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Vamos a ponerle número, y le pido que me corrija con los suyos porque yo estoy usando cifras redondas para que la cuenta sea fácil.
Digamos que un cobro se equivoca por cincuenta pesos. No es un error grande, es el error normal de sumar de cabeza con gente esperando.
Digamos que pasa seis veces al día, entre las dos horas pico. Eso son trescientos pesos diarios.
Al mes, nueve mil pesos. Nueve mil pesos que no están en ningún lado: no están en la caja y no están en un reporte. Simplemente no llegaron.
Y ahora la parte que no está en esa cuenta: el pedido que se perdió. Ese no se cobró mal, ese no se cobró. Ni siquiera aparece como error, porque nadie lo apuntó.
Ahora dígame usted: ¿cuánto cree que es en su caso? Porque yo puse cincuenta y seis veces. Si en su cafetería es más, el número de abajo crece igual.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Aquí está la propuesta completa, en una frase: usted anota qué y cuánto. El sistema hace todo lo demás.
Eso es todo lo que cambia en su día. Sigue tomando la orden igual que ahora: este cliente quiere dos cafés y un sándwich. Lo que cambia es que ya no suma, ya no apunta en papel, y ya no depende de que alguien recuerde el precio.
Primero: el total nunca se escribe. No hay una casilla donde usted meta el monto. El sistema toma el precio de cada producto, lo multiplica por la cantidad, y suma. Un error de suma no es difícil, es imposible: no hay dónde equivocarse.
Segundo: el pedido no se pierde. En el momento en que usted lo guarda, ya está. No depende de una hoja que se moje, se arrugue o se voltee.
Y tercero: el precio es uno solo. El que está en el sistema. No importa si atiende usted, su hijo o el muchacho nuevo del sábado: los tres cobran lo mismo.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 esto es todo lo que hay que aprender. Tres pantallas.
La primera, tomar la orden. Elige el cliente, o deja el que viene puesto si es venta de mostrador y la persona no quiere dar su nombre. Toca los productos, pone la cantidad. Y el total va apareciendo mientras usted toca. Cuando termina, guarda.
La segunda, cobrar. Escoge cómo pagó: efectivo, tarjeta o transferencia. Y ahí el sistema guarda la hora exacta. Eso le sirve el día que quiera saber a qué hora entra el dinero, o cuánto de su venta es tarjeta y cuánto es efectivo.
La tercera, ver el historial. Todas las órdenes del día en una lista, con un color por estado: lo que está pendiente, lo que ya se pagó y lo que se canceló. Y algo importante: lo cancelado no se borra, se marca. Si al final del mes hay muchas canceladas, usted puede preguntar por qué.
Tres pantallas. Eso es todo el sistema. Si sabe usar WhatsApp, sabe usar esto.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Resumo lo que usted gana, y son cuatro cosas.
Una: cuentas exactas. La caja cuadra al centavo. No porque usted sume mejor, sino porque ya no suma.
Dos: nada se pierde. El pedido queda guardado en el momento de tomarlo.
Tres: precios al día. Y esto tiene un beneficio escondido que le quiero señalar. Cuando usted quiera subir el café de noventa a cien pesos, lo cambia en un solo lugar y a partir de ese momento todos cobran cien. Pero las ventas de ayer siguen diciendo noventa. Su historial no se altera: usted puede mirar atrás y ver qué cobró de verdad ese día, no lo que cobraría hoy.
Y cuatro, que para mí es la que más valor tiene con el tiempo: historial completo. Qué se vendió, cuándo, y cómo se pagó. Con eso usted deja de decidir de memoria. Deja de comprar postres porque le parece que se venden, y los compra porque sabe que se venden.
Cuatro cosas. Desde el primer día, no en seis meses.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Ahora la pregunta que usted se está haciendo desde que empecé, y que casi nadie hace en voz alta: ¿esto en qué me va a complicar la vida?
En nada. Y déjeme ser específico, porque decir "en nada" es fácil.
Su forma de atender no cambia. Usted sigue preguntando qué quiere el cliente y sigue tomando la orden en el mismo orden. La diferencia es que la escribe en una pantalla en vez de una hoja.
Su personal no cambia. No hay que mandar a nadie a un curso. Son tres pantallas. Quince minutos parado al lado de la caja y la persona ya está trabajando sola.
Su equipo no cambia. Corre en la computadora que ya tiene, en el mismo navegador donde usted revisa el correo. No hay que comprar una máquina especial ni un lector de tarjetas.
Y su menú no cambia. Cargamos sus productos con sus precios una sola vez, al principio. Después usted solo ajusta lo que se mueve.
Es decir: el riesgo de probar esto es prácticamente cero.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¿Qué necesita para arrancar? Tres cosas, y las dos primeras ya las tiene.
Una computadora: la que está en la caja. Un navegador: el mismo donde usted revisa el correo. Y veinte minutos, una sola vez, para cargar su menú con sus productos y sus precios.
Eso es todo. No hay que firmar nada hoy, no hay que instalar un programa complicado, no hay que esperar a que llegue un equipo.
Y le propongo algo concreto: después de cargar el menú, el primer pedido real lo toma usted mismo, conmigo parado al lado. Si a los cinco minutos le parece más lento que la libreta, me lo dice y no seguimos. Pero yo creo que va a pasar lo contrario: que va a querer que el próximo lo tome sin que yo esté.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Cierro donde empecé.
La libreta ya no hace falta. No porque esté mal, sino porque le cuesta dinero todos los días y hay algo que hace lo mismo sin costarle eso.
Tres cosas se lleva usted: cuentas exactas, nada que se pierda, y por primera vez un historial real de lo que vende.
Y una pregunta, que es la única que necesito que me responda hoy: ¿le cargamos el menú esta semana?
[Aquí se calla y espera. No siga hablando.]
--- Si pregunta el precio: se lo digo, pero antes le pregunto cuánto le pareció razonable la cuenta de los nueve mil pesos al mes. Que él ponga el número primero.
--- Si dice "déjame pensarlo": perfecto, ¿le parece que le cargue el menú de todas formas y lo prueba una semana sin compromiso? Así piensa con el sistema puesto y no en el aire.
--- Si pregunta qué pasa si se va la luz o el internet: buena pregunta, y es honesto decirlo: sin computadora no hay sistema. La libreta sigue en el cajón para ese día. Pero ese día es uno al mes, no treinta.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B1B12"/>
        </a:solidFill>
      </p:bgPr>
    </p:bg>
    <p:spTree>
      <p:nvGrpSpPr>
        <p:cNvPr id="1" name=""/>
        <p:cNvGrpSpPr/>
        <p:nvPr/>
      </p:nvGrpSpPr>
      <p:grpSpPr>
        <a:xfrm>
          <a:off x="0" y="0"/>
          <a:ext cx="0" cy="0"/>
          <a:chOff x="0" y="0"/>
          <a:chExt cx="0" cy="0"/>
        </a:xfrm>
      </p:grpSpPr>
      <p:sp>
        <p:nvSpPr>
          <p:cNvPr id="2" name="Shape 0"/>
          <p:cNvSpPr/>
          <p:nvPr/>
        </p:nvSpPr>
        <p:spPr>
          <a:xfrm>
            <a:off x="8595360" y="3840480"/>
            <a:ext cx="4937760" cy="4937760"/>
          </a:xfrm>
          <a:prstGeom prst="ellipse">
            <a:avLst/>
          </a:prstGeom>
          <a:solidFill>
            <a:srgbClr val="D97706">
              <a:alpha val="13000"/>
            </a:srgbClr>
          </a:solidFill>
          <a:ln w="12700">
            <a:solidFill>
              <a:srgbClr val="333333"/>
            </a:solidFill>
            <a:prstDash val="solid"/>
          </a:ln>
        </p:spPr>
      </p:sp>
      <p:sp>
        <p:nvSpPr>
          <p:cNvPr id="3" name="Text 1"/>
          <p:cNvSpPr/>
          <p:nvPr/>
        </p:nvSpPr>
        <p:spPr>
          <a:xfrm>
            <a:off x="1005840" y="1417320"/>
            <a:ext cx="10058400" cy="310896"/>
          </a:xfrm>
          <a:prstGeom prst="rect">
            <a:avLst/>
          </a:prstGeom>
          <a:noFill/>
          <a:ln/>
        </p:spPr>
        <p:txBody>
          <a:bodyPr wrap="square" lIns="0" tIns="0" rIns="0" bIns="0" rtlCol="0" anchor="ctr"/>
          <a:lstStyle/>
          <a:p>
            <a:pPr indent="0" marL="0">
              <a:buNone/>
            </a:pPr>
            <a:r>
              <a:rPr lang="en-US" sz="1300" b="1" spc="350" kern="0" dirty="0">
                <a:solidFill>
                  <a:srgbClr val="F59E0B"/>
                </a:solidFill>
                <a:latin typeface="Calibri" pitchFamily="34" charset="0"/>
                <a:ea typeface="Calibri" pitchFamily="34" charset="-122"/>
                <a:cs typeface="Calibri" pitchFamily="34" charset="-120"/>
              </a:rPr>
              <a:t>GESTOR DE ÓRDENES PARA CAFETERÍA</a:t>
            </a:r>
            <a:endParaRPr lang="en-US" sz="1300" dirty="0"/>
          </a:p>
        </p:txBody>
      </p:sp>
      <p:sp>
        <p:nvSpPr>
          <p:cNvPr id="4" name="Text 2"/>
          <p:cNvSpPr/>
          <p:nvPr/>
        </p:nvSpPr>
        <p:spPr>
          <a:xfrm>
            <a:off x="1005840" y="1874520"/>
            <a:ext cx="10241280" cy="868680"/>
          </a:xfrm>
          <a:prstGeom prst="rect">
            <a:avLst/>
          </a:prstGeom>
          <a:noFill/>
          <a:ln/>
        </p:spPr>
        <p:txBody>
          <a:bodyPr wrap="square" lIns="0" tIns="0" rIns="0" bIns="0" rtlCol="0" anchor="ctr"/>
          <a:lstStyle/>
          <a:p>
            <a:pPr indent="0" marL="0">
              <a:buNone/>
            </a:pPr>
            <a:r>
              <a:rPr lang="en-US" sz="4600" b="1" dirty="0">
                <a:solidFill>
                  <a:srgbClr val="FFFFFF"/>
                </a:solidFill>
                <a:latin typeface="Cambria" pitchFamily="34" charset="0"/>
                <a:ea typeface="Cambria" pitchFamily="34" charset="-122"/>
                <a:cs typeface="Cambria" pitchFamily="34" charset="-120"/>
              </a:rPr>
              <a:t>La libreta de la caja,</a:t>
            </a:r>
            <a:endParaRPr lang="en-US" sz="4600" dirty="0"/>
          </a:p>
        </p:txBody>
      </p:sp>
      <p:sp>
        <p:nvSpPr>
          <p:cNvPr id="5" name="Text 3"/>
          <p:cNvSpPr/>
          <p:nvPr/>
        </p:nvSpPr>
        <p:spPr>
          <a:xfrm>
            <a:off x="1005840" y="2697480"/>
            <a:ext cx="10241280" cy="868680"/>
          </a:xfrm>
          <a:prstGeom prst="rect">
            <a:avLst/>
          </a:prstGeom>
          <a:noFill/>
          <a:ln/>
        </p:spPr>
        <p:txBody>
          <a:bodyPr wrap="square" lIns="0" tIns="0" rIns="0" bIns="0" rtlCol="0" anchor="ctr"/>
          <a:lstStyle/>
          <a:p>
            <a:pPr indent="0" marL="0">
              <a:buNone/>
            </a:pPr>
            <a:r>
              <a:rPr lang="en-US" sz="4600" b="1" dirty="0">
                <a:solidFill>
                  <a:srgbClr val="F59E0B"/>
                </a:solidFill>
                <a:latin typeface="Cambria" pitchFamily="34" charset="0"/>
                <a:ea typeface="Cambria" pitchFamily="34" charset="-122"/>
                <a:cs typeface="Cambria" pitchFamily="34" charset="-120"/>
              </a:rPr>
              <a:t>sin errores y sin olvidos.</a:t>
            </a:r>
            <a:endParaRPr lang="en-US" sz="4600" dirty="0"/>
          </a:p>
        </p:txBody>
      </p:sp>
      <p:sp>
        <p:nvSpPr>
          <p:cNvPr id="6" name="Text 4"/>
          <p:cNvSpPr/>
          <p:nvPr/>
        </p:nvSpPr>
        <p:spPr>
          <a:xfrm>
            <a:off x="1005840" y="3840480"/>
            <a:ext cx="7589520" cy="868680"/>
          </a:xfrm>
          <a:prstGeom prst="rect">
            <a:avLst/>
          </a:prstGeom>
          <a:noFill/>
          <a:ln/>
        </p:spPr>
        <p:txBody>
          <a:bodyPr wrap="square" lIns="0" tIns="0" rIns="0" bIns="0" rtlCol="0" anchor="t"/>
          <a:lstStyle/>
          <a:p>
            <a:pPr indent="0" marL="0">
              <a:buNone/>
            </a:pPr>
            <a:r>
              <a:rPr lang="en-US" sz="1700" dirty="0">
                <a:solidFill>
                  <a:srgbClr val="E7DED8"/>
                </a:solidFill>
                <a:latin typeface="Calibri" pitchFamily="34" charset="0"/>
                <a:ea typeface="Calibri" pitchFamily="34" charset="-122"/>
                <a:cs typeface="Calibri" pitchFamily="34" charset="-120"/>
              </a:rPr>
              <a:t>Un sistema simple para tomar las órdenes, cobrar sin equivocarse y saber al final del día exactamente qué se vendió.</a:t>
            </a:r>
            <a:endParaRPr lang="en-US" sz="1700" dirty="0"/>
          </a:p>
        </p:txBody>
      </p:sp>
      <p:sp>
        <p:nvSpPr>
          <p:cNvPr id="7" name="Text 5"/>
          <p:cNvSpPr/>
          <p:nvPr/>
        </p:nvSpPr>
        <p:spPr>
          <a:xfrm>
            <a:off x="1005840" y="5806440"/>
            <a:ext cx="10241280" cy="320040"/>
          </a:xfrm>
          <a:prstGeom prst="rect">
            <a:avLst/>
          </a:prstGeom>
          <a:noFill/>
          <a:ln/>
        </p:spPr>
        <p:txBody>
          <a:bodyPr wrap="square" lIns="0" tIns="0" rIns="0" bIns="0" rtlCol="0" anchor="ctr"/>
          <a:lstStyle/>
          <a:p>
            <a:pPr indent="0" marL="0">
              <a:buNone/>
            </a:pPr>
            <a:r>
              <a:rPr lang="en-US" sz="1250" dirty="0">
                <a:solidFill>
                  <a:srgbClr val="A89588"/>
                </a:solidFill>
                <a:latin typeface="Calibri" pitchFamily="34" charset="0"/>
                <a:ea typeface="Calibri" pitchFamily="34" charset="-122"/>
                <a:cs typeface="Calibri" pitchFamily="34" charset="-120"/>
              </a:rPr>
              <a:t>Anderson Tejeda</a:t>
            </a:r>
            <a:endParaRPr lang="en-US" sz="12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58368" y="502920"/>
            <a:ext cx="10872216" cy="868680"/>
          </a:xfrm>
          <a:prstGeom prst="rect">
            <a:avLst/>
          </a:prstGeom>
          <a:noFill/>
          <a:ln/>
        </p:spPr>
        <p:txBody>
          <a:bodyPr wrap="square" lIns="0" tIns="0" rIns="0" bIns="0" rtlCol="0" anchor="ctr"/>
          <a:lstStyle/>
          <a:p>
            <a:pPr indent="0" marL="0">
              <a:buNone/>
            </a:pPr>
            <a:r>
              <a:rPr lang="en-US" sz="3600" b="1" dirty="0">
                <a:solidFill>
                  <a:srgbClr val="292524"/>
                </a:solidFill>
                <a:latin typeface="Cambria" pitchFamily="34" charset="0"/>
                <a:ea typeface="Cambria" pitchFamily="34" charset="-122"/>
                <a:cs typeface="Cambria" pitchFamily="34" charset="-120"/>
              </a:rPr>
              <a:t>Todo empieza en una libreta</a:t>
            </a:r>
            <a:endParaRPr lang="en-US" sz="3600" dirty="0"/>
          </a:p>
        </p:txBody>
      </p:sp>
      <p:sp>
        <p:nvSpPr>
          <p:cNvPr id="3" name="Text 1"/>
          <p:cNvSpPr/>
          <p:nvPr/>
        </p:nvSpPr>
        <p:spPr>
          <a:xfrm>
            <a:off x="658368" y="1389888"/>
            <a:ext cx="10872216" cy="438912"/>
          </a:xfrm>
          <a:prstGeom prst="rect">
            <a:avLst/>
          </a:prstGeom>
          <a:noFill/>
          <a:ln/>
        </p:spPr>
        <p:txBody>
          <a:bodyPr wrap="square" lIns="0" tIns="0" rIns="0" bIns="0" rtlCol="0" anchor="t"/>
          <a:lstStyle/>
          <a:p>
            <a:pPr indent="0" marL="0">
              <a:buNone/>
            </a:pPr>
            <a:r>
              <a:rPr lang="en-US" sz="1600" i="1" dirty="0">
                <a:solidFill>
                  <a:srgbClr val="78716C"/>
                </a:solidFill>
                <a:latin typeface="Calibri" pitchFamily="34" charset="0"/>
                <a:ea typeface="Calibri" pitchFamily="34" charset="-122"/>
                <a:cs typeface="Calibri" pitchFamily="34" charset="-120"/>
              </a:rPr>
              <a:t>Y ahí están los tres agujeros.</a:t>
            </a:r>
            <a:endParaRPr lang="en-US" sz="1600" dirty="0"/>
          </a:p>
        </p:txBody>
      </p:sp>
      <p:sp>
        <p:nvSpPr>
          <p:cNvPr id="4" name="Shape 2"/>
          <p:cNvSpPr/>
          <p:nvPr/>
        </p:nvSpPr>
        <p:spPr>
          <a:xfrm>
            <a:off x="658368" y="2148840"/>
            <a:ext cx="3447288" cy="3154680"/>
          </a:xfrm>
          <a:prstGeom prst="roundRect">
            <a:avLst>
              <a:gd name="adj" fmla="val 2899"/>
            </a:avLst>
          </a:prstGeom>
          <a:solidFill>
            <a:srgbClr val="FAFAF9"/>
          </a:solidFill>
          <a:ln w="12700">
            <a:solidFill>
              <a:srgbClr val="E7E5E4"/>
            </a:solidFill>
            <a:prstDash val="solid"/>
          </a:ln>
          <a:effectLst>
            <a:outerShdw sx="100000" sy="100000" kx="0" ky="0" algn="bl" rotWithShape="0" blurRad="127000" dist="25400" dir="5400000">
              <a:srgbClr val="000000">
                <a:alpha val="8000"/>
              </a:srgbClr>
            </a:outerShdw>
          </a:effectLst>
        </p:spPr>
      </p:sp>
      <p:sp>
        <p:nvSpPr>
          <p:cNvPr id="5" name="Shape 3"/>
          <p:cNvSpPr/>
          <p:nvPr/>
        </p:nvSpPr>
        <p:spPr>
          <a:xfrm>
            <a:off x="987552" y="2487168"/>
            <a:ext cx="475488" cy="475488"/>
          </a:xfrm>
          <a:prstGeom prst="ellipse">
            <a:avLst/>
          </a:prstGeom>
          <a:solidFill>
            <a:srgbClr val="D97706"/>
          </a:solidFill>
          <a:ln w="12700">
            <a:solidFill>
              <a:srgbClr val="333333"/>
            </a:solidFill>
            <a:prstDash val="solid"/>
          </a:ln>
        </p:spPr>
      </p:sp>
      <p:sp>
        <p:nvSpPr>
          <p:cNvPr id="6" name="Text 4"/>
          <p:cNvSpPr/>
          <p:nvPr/>
        </p:nvSpPr>
        <p:spPr>
          <a:xfrm>
            <a:off x="987552" y="2487168"/>
            <a:ext cx="475488" cy="475488"/>
          </a:xfrm>
          <a:prstGeom prst="rect">
            <a:avLst/>
          </a:prstGeom>
          <a:noFill/>
          <a:ln/>
        </p:spPr>
        <p:txBody>
          <a:bodyPr wrap="square" lIns="0" tIns="0" rIns="0" bIns="0" rtlCol="0" anchor="ctr"/>
          <a:lstStyle/>
          <a:p>
            <a:pPr algn="ctr" indent="0" marL="0">
              <a:buNone/>
            </a:pPr>
            <a:r>
              <a:rPr lang="en-US" sz="1900" b="1" dirty="0">
                <a:solidFill>
                  <a:srgbClr val="FFFFFF"/>
                </a:solidFill>
                <a:latin typeface="Calibri" pitchFamily="34" charset="0"/>
                <a:ea typeface="Calibri" pitchFamily="34" charset="-122"/>
                <a:cs typeface="Calibri" pitchFamily="34" charset="-120"/>
              </a:rPr>
              <a:t>1</a:t>
            </a:r>
            <a:endParaRPr lang="en-US" sz="1900" dirty="0"/>
          </a:p>
        </p:txBody>
      </p:sp>
      <p:sp>
        <p:nvSpPr>
          <p:cNvPr id="7" name="Text 5"/>
          <p:cNvSpPr/>
          <p:nvPr/>
        </p:nvSpPr>
        <p:spPr>
          <a:xfrm>
            <a:off x="987552" y="3182112"/>
            <a:ext cx="2788920" cy="777240"/>
          </a:xfrm>
          <a:prstGeom prst="rect">
            <a:avLst/>
          </a:prstGeom>
          <a:noFill/>
          <a:ln/>
        </p:spPr>
        <p:txBody>
          <a:bodyPr wrap="square" lIns="0" tIns="0" rIns="0" bIns="0" rtlCol="0" anchor="t"/>
          <a:lstStyle/>
          <a:p>
            <a:pPr indent="0" marL="0">
              <a:buNone/>
            </a:pPr>
            <a:r>
              <a:rPr lang="en-US" sz="2400" b="1" dirty="0">
                <a:solidFill>
                  <a:srgbClr val="292524"/>
                </a:solidFill>
                <a:latin typeface="Cambria" pitchFamily="34" charset="0"/>
                <a:ea typeface="Cambria" pitchFamily="34" charset="-122"/>
                <a:cs typeface="Cambria" pitchFamily="34" charset="-120"/>
              </a:rPr>
              <a:t>Se suma a mano</a:t>
            </a:r>
            <a:endParaRPr lang="en-US" sz="2400" dirty="0"/>
          </a:p>
        </p:txBody>
      </p:sp>
      <p:sp>
        <p:nvSpPr>
          <p:cNvPr id="8" name="Text 6"/>
          <p:cNvSpPr/>
          <p:nvPr/>
        </p:nvSpPr>
        <p:spPr>
          <a:xfrm>
            <a:off x="987552" y="4041648"/>
            <a:ext cx="2788920" cy="960120"/>
          </a:xfrm>
          <a:prstGeom prst="rect">
            <a:avLst/>
          </a:prstGeom>
          <a:noFill/>
          <a:ln/>
        </p:spPr>
        <p:txBody>
          <a:bodyPr wrap="square" lIns="0" tIns="0" rIns="0" bIns="0" rtlCol="0" anchor="t"/>
          <a:lstStyle/>
          <a:p>
            <a:pPr indent="0" marL="0">
              <a:buNone/>
            </a:pPr>
            <a:r>
              <a:rPr lang="en-US" sz="1700" dirty="0">
                <a:solidFill>
                  <a:srgbClr val="D97706"/>
                </a:solidFill>
                <a:latin typeface="Calibri" pitchFamily="34" charset="0"/>
                <a:ea typeface="Calibri" pitchFamily="34" charset="-122"/>
                <a:cs typeface="Calibri" pitchFamily="34" charset="-120"/>
              </a:rPr>
              <a:t>y a veces se suma mal.</a:t>
            </a:r>
            <a:endParaRPr lang="en-US" sz="1700" dirty="0"/>
          </a:p>
        </p:txBody>
      </p:sp>
      <p:sp>
        <p:nvSpPr>
          <p:cNvPr id="9" name="Shape 7"/>
          <p:cNvSpPr/>
          <p:nvPr/>
        </p:nvSpPr>
        <p:spPr>
          <a:xfrm>
            <a:off x="4370832" y="2148840"/>
            <a:ext cx="3447288" cy="3154680"/>
          </a:xfrm>
          <a:prstGeom prst="roundRect">
            <a:avLst>
              <a:gd name="adj" fmla="val 2899"/>
            </a:avLst>
          </a:prstGeom>
          <a:solidFill>
            <a:srgbClr val="FAFAF9"/>
          </a:solidFill>
          <a:ln w="12700">
            <a:solidFill>
              <a:srgbClr val="E7E5E4"/>
            </a:solidFill>
            <a:prstDash val="solid"/>
          </a:ln>
          <a:effectLst>
            <a:outerShdw sx="100000" sy="100000" kx="0" ky="0" algn="bl" rotWithShape="0" blurRad="127000" dist="25400" dir="5400000">
              <a:srgbClr val="000000">
                <a:alpha val="8000"/>
              </a:srgbClr>
            </a:outerShdw>
          </a:effectLst>
        </p:spPr>
      </p:sp>
      <p:sp>
        <p:nvSpPr>
          <p:cNvPr id="10" name="Shape 8"/>
          <p:cNvSpPr/>
          <p:nvPr/>
        </p:nvSpPr>
        <p:spPr>
          <a:xfrm>
            <a:off x="4700016" y="2487168"/>
            <a:ext cx="475488" cy="475488"/>
          </a:xfrm>
          <a:prstGeom prst="ellipse">
            <a:avLst/>
          </a:prstGeom>
          <a:solidFill>
            <a:srgbClr val="D97706"/>
          </a:solidFill>
          <a:ln w="12700">
            <a:solidFill>
              <a:srgbClr val="333333"/>
            </a:solidFill>
            <a:prstDash val="solid"/>
          </a:ln>
        </p:spPr>
      </p:sp>
      <p:sp>
        <p:nvSpPr>
          <p:cNvPr id="11" name="Text 9"/>
          <p:cNvSpPr/>
          <p:nvPr/>
        </p:nvSpPr>
        <p:spPr>
          <a:xfrm>
            <a:off x="4700016" y="2487168"/>
            <a:ext cx="475488" cy="475488"/>
          </a:xfrm>
          <a:prstGeom prst="rect">
            <a:avLst/>
          </a:prstGeom>
          <a:noFill/>
          <a:ln/>
        </p:spPr>
        <p:txBody>
          <a:bodyPr wrap="square" lIns="0" tIns="0" rIns="0" bIns="0" rtlCol="0" anchor="ctr"/>
          <a:lstStyle/>
          <a:p>
            <a:pPr algn="ctr" indent="0" marL="0">
              <a:buNone/>
            </a:pPr>
            <a:r>
              <a:rPr lang="en-US" sz="1900" b="1" dirty="0">
                <a:solidFill>
                  <a:srgbClr val="FFFFFF"/>
                </a:solidFill>
                <a:latin typeface="Calibri" pitchFamily="34" charset="0"/>
                <a:ea typeface="Calibri" pitchFamily="34" charset="-122"/>
                <a:cs typeface="Calibri" pitchFamily="34" charset="-120"/>
              </a:rPr>
              <a:t>2</a:t>
            </a:r>
            <a:endParaRPr lang="en-US" sz="1900" dirty="0"/>
          </a:p>
        </p:txBody>
      </p:sp>
      <p:sp>
        <p:nvSpPr>
          <p:cNvPr id="12" name="Text 10"/>
          <p:cNvSpPr/>
          <p:nvPr/>
        </p:nvSpPr>
        <p:spPr>
          <a:xfrm>
            <a:off x="4700016" y="3182112"/>
            <a:ext cx="2788920" cy="777240"/>
          </a:xfrm>
          <a:prstGeom prst="rect">
            <a:avLst/>
          </a:prstGeom>
          <a:noFill/>
          <a:ln/>
        </p:spPr>
        <p:txBody>
          <a:bodyPr wrap="square" lIns="0" tIns="0" rIns="0" bIns="0" rtlCol="0" anchor="t"/>
          <a:lstStyle/>
          <a:p>
            <a:pPr indent="0" marL="0">
              <a:buNone/>
            </a:pPr>
            <a:r>
              <a:rPr lang="en-US" sz="2400" b="1" dirty="0">
                <a:solidFill>
                  <a:srgbClr val="292524"/>
                </a:solidFill>
                <a:latin typeface="Cambria" pitchFamily="34" charset="0"/>
                <a:ea typeface="Cambria" pitchFamily="34" charset="-122"/>
                <a:cs typeface="Cambria" pitchFamily="34" charset="-120"/>
              </a:rPr>
              <a:t>Se escribe a la carrera</a:t>
            </a:r>
            <a:endParaRPr lang="en-US" sz="2400" dirty="0"/>
          </a:p>
        </p:txBody>
      </p:sp>
      <p:sp>
        <p:nvSpPr>
          <p:cNvPr id="13" name="Text 11"/>
          <p:cNvSpPr/>
          <p:nvPr/>
        </p:nvSpPr>
        <p:spPr>
          <a:xfrm>
            <a:off x="4700016" y="4041648"/>
            <a:ext cx="2788920" cy="960120"/>
          </a:xfrm>
          <a:prstGeom prst="rect">
            <a:avLst/>
          </a:prstGeom>
          <a:noFill/>
          <a:ln/>
        </p:spPr>
        <p:txBody>
          <a:bodyPr wrap="square" lIns="0" tIns="0" rIns="0" bIns="0" rtlCol="0" anchor="t"/>
          <a:lstStyle/>
          <a:p>
            <a:pPr indent="0" marL="0">
              <a:buNone/>
            </a:pPr>
            <a:r>
              <a:rPr lang="en-US" sz="1700" dirty="0">
                <a:solidFill>
                  <a:srgbClr val="D97706"/>
                </a:solidFill>
                <a:latin typeface="Calibri" pitchFamily="34" charset="0"/>
                <a:ea typeface="Calibri" pitchFamily="34" charset="-122"/>
                <a:cs typeface="Calibri" pitchFamily="34" charset="-120"/>
              </a:rPr>
              <a:t>y a veces se pierde un pedido.</a:t>
            </a:r>
            <a:endParaRPr lang="en-US" sz="1700" dirty="0"/>
          </a:p>
        </p:txBody>
      </p:sp>
      <p:sp>
        <p:nvSpPr>
          <p:cNvPr id="14" name="Shape 12"/>
          <p:cNvSpPr/>
          <p:nvPr/>
        </p:nvSpPr>
        <p:spPr>
          <a:xfrm>
            <a:off x="8083296" y="2148840"/>
            <a:ext cx="3447288" cy="3154680"/>
          </a:xfrm>
          <a:prstGeom prst="roundRect">
            <a:avLst>
              <a:gd name="adj" fmla="val 2899"/>
            </a:avLst>
          </a:prstGeom>
          <a:solidFill>
            <a:srgbClr val="FAFAF9"/>
          </a:solidFill>
          <a:ln w="12700">
            <a:solidFill>
              <a:srgbClr val="E7E5E4"/>
            </a:solidFill>
            <a:prstDash val="solid"/>
          </a:ln>
          <a:effectLst>
            <a:outerShdw sx="100000" sy="100000" kx="0" ky="0" algn="bl" rotWithShape="0" blurRad="127000" dist="25400" dir="5400000">
              <a:srgbClr val="000000">
                <a:alpha val="8000"/>
              </a:srgbClr>
            </a:outerShdw>
          </a:effectLst>
        </p:spPr>
      </p:sp>
      <p:sp>
        <p:nvSpPr>
          <p:cNvPr id="15" name="Shape 13"/>
          <p:cNvSpPr/>
          <p:nvPr/>
        </p:nvSpPr>
        <p:spPr>
          <a:xfrm>
            <a:off x="8412480" y="2487168"/>
            <a:ext cx="475488" cy="475488"/>
          </a:xfrm>
          <a:prstGeom prst="ellipse">
            <a:avLst/>
          </a:prstGeom>
          <a:solidFill>
            <a:srgbClr val="D97706"/>
          </a:solidFill>
          <a:ln w="12700">
            <a:solidFill>
              <a:srgbClr val="333333"/>
            </a:solidFill>
            <a:prstDash val="solid"/>
          </a:ln>
        </p:spPr>
      </p:sp>
      <p:sp>
        <p:nvSpPr>
          <p:cNvPr id="16" name="Text 14"/>
          <p:cNvSpPr/>
          <p:nvPr/>
        </p:nvSpPr>
        <p:spPr>
          <a:xfrm>
            <a:off x="8412480" y="2487168"/>
            <a:ext cx="475488" cy="475488"/>
          </a:xfrm>
          <a:prstGeom prst="rect">
            <a:avLst/>
          </a:prstGeom>
          <a:noFill/>
          <a:ln/>
        </p:spPr>
        <p:txBody>
          <a:bodyPr wrap="square" lIns="0" tIns="0" rIns="0" bIns="0" rtlCol="0" anchor="ctr"/>
          <a:lstStyle/>
          <a:p>
            <a:pPr algn="ctr" indent="0" marL="0">
              <a:buNone/>
            </a:pPr>
            <a:r>
              <a:rPr lang="en-US" sz="1900" b="1" dirty="0">
                <a:solidFill>
                  <a:srgbClr val="FFFFFF"/>
                </a:solidFill>
                <a:latin typeface="Calibri" pitchFamily="34" charset="0"/>
                <a:ea typeface="Calibri" pitchFamily="34" charset="-122"/>
                <a:cs typeface="Calibri" pitchFamily="34" charset="-120"/>
              </a:rPr>
              <a:t>3</a:t>
            </a:r>
            <a:endParaRPr lang="en-US" sz="1900" dirty="0"/>
          </a:p>
        </p:txBody>
      </p:sp>
      <p:sp>
        <p:nvSpPr>
          <p:cNvPr id="17" name="Text 15"/>
          <p:cNvSpPr/>
          <p:nvPr/>
        </p:nvSpPr>
        <p:spPr>
          <a:xfrm>
            <a:off x="8412480" y="3182112"/>
            <a:ext cx="2788920" cy="777240"/>
          </a:xfrm>
          <a:prstGeom prst="rect">
            <a:avLst/>
          </a:prstGeom>
          <a:noFill/>
          <a:ln/>
        </p:spPr>
        <p:txBody>
          <a:bodyPr wrap="square" lIns="0" tIns="0" rIns="0" bIns="0" rtlCol="0" anchor="t"/>
          <a:lstStyle/>
          <a:p>
            <a:pPr indent="0" marL="0">
              <a:buNone/>
            </a:pPr>
            <a:r>
              <a:rPr lang="en-US" sz="2400" b="1" dirty="0">
                <a:solidFill>
                  <a:srgbClr val="292524"/>
                </a:solidFill>
                <a:latin typeface="Cambria" pitchFamily="34" charset="0"/>
                <a:ea typeface="Cambria" pitchFamily="34" charset="-122"/>
                <a:cs typeface="Cambria" pitchFamily="34" charset="-120"/>
              </a:rPr>
              <a:t>Se cierra la caja</a:t>
            </a:r>
            <a:endParaRPr lang="en-US" sz="2400" dirty="0"/>
          </a:p>
        </p:txBody>
      </p:sp>
      <p:sp>
        <p:nvSpPr>
          <p:cNvPr id="18" name="Text 16"/>
          <p:cNvSpPr/>
          <p:nvPr/>
        </p:nvSpPr>
        <p:spPr>
          <a:xfrm>
            <a:off x="8412480" y="4041648"/>
            <a:ext cx="2788920" cy="960120"/>
          </a:xfrm>
          <a:prstGeom prst="rect">
            <a:avLst/>
          </a:prstGeom>
          <a:noFill/>
          <a:ln/>
        </p:spPr>
        <p:txBody>
          <a:bodyPr wrap="square" lIns="0" tIns="0" rIns="0" bIns="0" rtlCol="0" anchor="t"/>
          <a:lstStyle/>
          <a:p>
            <a:pPr indent="0" marL="0">
              <a:buNone/>
            </a:pPr>
            <a:r>
              <a:rPr lang="en-US" sz="1700" dirty="0">
                <a:solidFill>
                  <a:srgbClr val="D97706"/>
                </a:solidFill>
                <a:latin typeface="Calibri" pitchFamily="34" charset="0"/>
                <a:ea typeface="Calibri" pitchFamily="34" charset="-122"/>
                <a:cs typeface="Calibri" pitchFamily="34" charset="-120"/>
              </a:rPr>
              <a:t>y no se sabe qué se vendió.</a:t>
            </a:r>
            <a:endParaRPr lang="en-US" sz="17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2B1B12"/>
        </a:solidFill>
      </p:bgPr>
    </p:bg>
    <p:spTree>
      <p:nvGrpSpPr>
        <p:cNvPr id="1" name=""/>
        <p:cNvGrpSpPr/>
        <p:nvPr/>
      </p:nvGrpSpPr>
      <p:grpSpPr>
        <a:xfrm>
          <a:off x="0" y="0"/>
          <a:ext cx="0" cy="0"/>
          <a:chOff x="0" y="0"/>
          <a:chExt cx="0" cy="0"/>
        </a:xfrm>
      </p:grpSpPr>
      <p:sp>
        <p:nvSpPr>
          <p:cNvPr id="2" name="Text 0"/>
          <p:cNvSpPr/>
          <p:nvPr/>
        </p:nvSpPr>
        <p:spPr>
          <a:xfrm>
            <a:off x="658368" y="502920"/>
            <a:ext cx="10872216" cy="868680"/>
          </a:xfrm>
          <a:prstGeom prst="rect">
            <a:avLst/>
          </a:prstGeom>
          <a:noFill/>
          <a:ln/>
        </p:spPr>
        <p:txBody>
          <a:bodyPr wrap="square" lIns="0" tIns="0" rIns="0" bIns="0" rtlCol="0" anchor="ctr"/>
          <a:lstStyle/>
          <a:p>
            <a:pPr indent="0" marL="0">
              <a:buNone/>
            </a:pPr>
            <a:r>
              <a:rPr lang="en-US" sz="3600" b="1" dirty="0">
                <a:solidFill>
                  <a:srgbClr val="FFFFFF"/>
                </a:solidFill>
                <a:latin typeface="Cambria" pitchFamily="34" charset="0"/>
                <a:ea typeface="Cambria" pitchFamily="34" charset="-122"/>
                <a:cs typeface="Cambria" pitchFamily="34" charset="-120"/>
              </a:rPr>
              <a:t>Y eso cuesta dinero todos los días</a:t>
            </a:r>
            <a:endParaRPr lang="en-US" sz="3600" dirty="0"/>
          </a:p>
        </p:txBody>
      </p:sp>
      <p:sp>
        <p:nvSpPr>
          <p:cNvPr id="3" name="Text 1"/>
          <p:cNvSpPr/>
          <p:nvPr/>
        </p:nvSpPr>
        <p:spPr>
          <a:xfrm>
            <a:off x="658368" y="1389888"/>
            <a:ext cx="10872216" cy="438912"/>
          </a:xfrm>
          <a:prstGeom prst="rect">
            <a:avLst/>
          </a:prstGeom>
          <a:noFill/>
          <a:ln/>
        </p:spPr>
        <p:txBody>
          <a:bodyPr wrap="square" lIns="0" tIns="0" rIns="0" bIns="0" rtlCol="0" anchor="t"/>
          <a:lstStyle/>
          <a:p>
            <a:pPr indent="0" marL="0">
              <a:buNone/>
            </a:pPr>
            <a:r>
              <a:rPr lang="en-US" sz="1600" i="1" dirty="0">
                <a:solidFill>
                  <a:srgbClr val="A89588"/>
                </a:solidFill>
                <a:latin typeface="Calibri" pitchFamily="34" charset="0"/>
                <a:ea typeface="Calibri" pitchFamily="34" charset="-122"/>
                <a:cs typeface="Calibri" pitchFamily="34" charset="-120"/>
              </a:rPr>
              <a:t>Un ejemplo con números redondos. Haga la cuenta con los suyos.</a:t>
            </a:r>
            <a:endParaRPr lang="en-US" sz="1600" dirty="0"/>
          </a:p>
        </p:txBody>
      </p:sp>
      <p:sp>
        <p:nvSpPr>
          <p:cNvPr id="4" name="Shape 2"/>
          <p:cNvSpPr/>
          <p:nvPr/>
        </p:nvSpPr>
        <p:spPr>
          <a:xfrm>
            <a:off x="658368" y="2194560"/>
            <a:ext cx="3447288" cy="2148840"/>
          </a:xfrm>
          <a:prstGeom prst="roundRect">
            <a:avLst>
              <a:gd name="adj" fmla="val 4255"/>
            </a:avLst>
          </a:prstGeom>
          <a:solidFill>
            <a:srgbClr val="3E2A1D"/>
          </a:solidFill>
          <a:ln w="12700">
            <a:solidFill>
              <a:srgbClr val="5A4032"/>
            </a:solidFill>
            <a:prstDash val="solid"/>
          </a:ln>
          <a:effectLst>
            <a:outerShdw sx="100000" sy="100000" kx="0" ky="0" algn="bl" rotWithShape="0" blurRad="127000" dist="25400" dir="5400000">
              <a:srgbClr val="000000">
                <a:alpha val="8000"/>
              </a:srgbClr>
            </a:outerShdw>
          </a:effectLst>
        </p:spPr>
      </p:sp>
      <p:sp>
        <p:nvSpPr>
          <p:cNvPr id="5" name="Text 3"/>
          <p:cNvSpPr/>
          <p:nvPr/>
        </p:nvSpPr>
        <p:spPr>
          <a:xfrm>
            <a:off x="932688" y="2395728"/>
            <a:ext cx="2898648" cy="777240"/>
          </a:xfrm>
          <a:prstGeom prst="rect">
            <a:avLst/>
          </a:prstGeom>
          <a:noFill/>
          <a:ln/>
        </p:spPr>
        <p:txBody>
          <a:bodyPr wrap="square" lIns="0" tIns="0" rIns="0" bIns="0" rtlCol="0" anchor="ctr"/>
          <a:lstStyle/>
          <a:p>
            <a:pPr algn="ctr" indent="0" marL="0">
              <a:buNone/>
            </a:pPr>
            <a:r>
              <a:rPr lang="en-US" sz="3800" b="1" dirty="0">
                <a:solidFill>
                  <a:srgbClr val="F59E0B"/>
                </a:solidFill>
                <a:latin typeface="Cambria" pitchFamily="34" charset="0"/>
                <a:ea typeface="Cambria" pitchFamily="34" charset="-122"/>
                <a:cs typeface="Cambria" pitchFamily="34" charset="-120"/>
              </a:rPr>
              <a:t>RD$ 50</a:t>
            </a:r>
            <a:endParaRPr lang="en-US" sz="3800" dirty="0"/>
          </a:p>
        </p:txBody>
      </p:sp>
      <p:sp>
        <p:nvSpPr>
          <p:cNvPr id="6" name="Text 4"/>
          <p:cNvSpPr/>
          <p:nvPr/>
        </p:nvSpPr>
        <p:spPr>
          <a:xfrm>
            <a:off x="932688" y="3246120"/>
            <a:ext cx="2898648" cy="914400"/>
          </a:xfrm>
          <a:prstGeom prst="rect">
            <a:avLst/>
          </a:prstGeom>
          <a:noFill/>
          <a:ln/>
        </p:spPr>
        <p:txBody>
          <a:bodyPr wrap="square" lIns="0" tIns="0" rIns="0" bIns="0" rtlCol="0" anchor="t"/>
          <a:lstStyle/>
          <a:p>
            <a:pPr algn="ctr" indent="0" marL="0">
              <a:buNone/>
            </a:pPr>
            <a:r>
              <a:rPr lang="en-US" sz="1400" dirty="0">
                <a:solidFill>
                  <a:srgbClr val="E7DED8"/>
                </a:solidFill>
                <a:latin typeface="Calibri" pitchFamily="34" charset="0"/>
                <a:ea typeface="Calibri" pitchFamily="34" charset="-122"/>
                <a:cs typeface="Calibri" pitchFamily="34" charset="-120"/>
              </a:rPr>
              <a:t>de más o de menos</a:t>
            </a:r>
            <a:endParaRPr lang="en-US" sz="1400" dirty="0"/>
          </a:p>
          <a:p>
            <a:pPr algn="ctr" indent="0" marL="0">
              <a:buNone/>
            </a:pPr>
            <a:r>
              <a:rPr lang="en-US" sz="1400" dirty="0">
                <a:solidFill>
                  <a:srgbClr val="E7DED8"/>
                </a:solidFill>
                <a:latin typeface="Calibri" pitchFamily="34" charset="0"/>
                <a:ea typeface="Calibri" pitchFamily="34" charset="-122"/>
                <a:cs typeface="Calibri" pitchFamily="34" charset="-120"/>
              </a:rPr>
              <a:t>en un cobro</a:t>
            </a:r>
            <a:endParaRPr lang="en-US" sz="1400" dirty="0"/>
          </a:p>
        </p:txBody>
      </p:sp>
      <p:sp>
        <p:nvSpPr>
          <p:cNvPr id="7" name="Shape 5"/>
          <p:cNvSpPr/>
          <p:nvPr/>
        </p:nvSpPr>
        <p:spPr>
          <a:xfrm>
            <a:off x="4370832" y="2194560"/>
            <a:ext cx="3447288" cy="2148840"/>
          </a:xfrm>
          <a:prstGeom prst="roundRect">
            <a:avLst>
              <a:gd name="adj" fmla="val 4255"/>
            </a:avLst>
          </a:prstGeom>
          <a:solidFill>
            <a:srgbClr val="3E2A1D"/>
          </a:solidFill>
          <a:ln w="12700">
            <a:solidFill>
              <a:srgbClr val="5A4032"/>
            </a:solidFill>
            <a:prstDash val="solid"/>
          </a:ln>
          <a:effectLst>
            <a:outerShdw sx="100000" sy="100000" kx="0" ky="0" algn="bl" rotWithShape="0" blurRad="127000" dist="25400" dir="5400000">
              <a:srgbClr val="000000">
                <a:alpha val="8000"/>
              </a:srgbClr>
            </a:outerShdw>
          </a:effectLst>
        </p:spPr>
      </p:sp>
      <p:sp>
        <p:nvSpPr>
          <p:cNvPr id="8" name="Text 6"/>
          <p:cNvSpPr/>
          <p:nvPr/>
        </p:nvSpPr>
        <p:spPr>
          <a:xfrm>
            <a:off x="4645152" y="2395728"/>
            <a:ext cx="2898648" cy="777240"/>
          </a:xfrm>
          <a:prstGeom prst="rect">
            <a:avLst/>
          </a:prstGeom>
          <a:noFill/>
          <a:ln/>
        </p:spPr>
        <p:txBody>
          <a:bodyPr wrap="square" lIns="0" tIns="0" rIns="0" bIns="0" rtlCol="0" anchor="ctr"/>
          <a:lstStyle/>
          <a:p>
            <a:pPr algn="ctr" indent="0" marL="0">
              <a:buNone/>
            </a:pPr>
            <a:r>
              <a:rPr lang="en-US" sz="3800" b="1" dirty="0">
                <a:solidFill>
                  <a:srgbClr val="F59E0B"/>
                </a:solidFill>
                <a:latin typeface="Cambria" pitchFamily="34" charset="0"/>
                <a:ea typeface="Cambria" pitchFamily="34" charset="-122"/>
                <a:cs typeface="Cambria" pitchFamily="34" charset="-120"/>
              </a:rPr>
              <a:t>× 6</a:t>
            </a:r>
            <a:endParaRPr lang="en-US" sz="3800" dirty="0"/>
          </a:p>
        </p:txBody>
      </p:sp>
      <p:sp>
        <p:nvSpPr>
          <p:cNvPr id="9" name="Text 7"/>
          <p:cNvSpPr/>
          <p:nvPr/>
        </p:nvSpPr>
        <p:spPr>
          <a:xfrm>
            <a:off x="4645152" y="3246120"/>
            <a:ext cx="2898648" cy="914400"/>
          </a:xfrm>
          <a:prstGeom prst="rect">
            <a:avLst/>
          </a:prstGeom>
          <a:noFill/>
          <a:ln/>
        </p:spPr>
        <p:txBody>
          <a:bodyPr wrap="square" lIns="0" tIns="0" rIns="0" bIns="0" rtlCol="0" anchor="t"/>
          <a:lstStyle/>
          <a:p>
            <a:pPr algn="ctr" indent="0" marL="0">
              <a:buNone/>
            </a:pPr>
            <a:r>
              <a:rPr lang="en-US" sz="1400" dirty="0">
                <a:solidFill>
                  <a:srgbClr val="E7DED8"/>
                </a:solidFill>
                <a:latin typeface="Calibri" pitchFamily="34" charset="0"/>
                <a:ea typeface="Calibri" pitchFamily="34" charset="-122"/>
                <a:cs typeface="Calibri" pitchFamily="34" charset="-120"/>
              </a:rPr>
              <a:t>veces al día</a:t>
            </a:r>
            <a:endParaRPr lang="en-US" sz="1400" dirty="0"/>
          </a:p>
          <a:p>
            <a:pPr algn="ctr" indent="0" marL="0">
              <a:buNone/>
            </a:pPr>
            <a:r>
              <a:rPr lang="en-US" sz="1400" dirty="0">
                <a:solidFill>
                  <a:srgbClr val="E7DED8"/>
                </a:solidFill>
                <a:latin typeface="Calibri" pitchFamily="34" charset="0"/>
                <a:ea typeface="Calibri" pitchFamily="34" charset="-122"/>
                <a:cs typeface="Calibri" pitchFamily="34" charset="-120"/>
              </a:rPr>
              <a:t>en hora pico</a:t>
            </a:r>
            <a:endParaRPr lang="en-US" sz="1400" dirty="0"/>
          </a:p>
        </p:txBody>
      </p:sp>
      <p:sp>
        <p:nvSpPr>
          <p:cNvPr id="10" name="Shape 8"/>
          <p:cNvSpPr/>
          <p:nvPr/>
        </p:nvSpPr>
        <p:spPr>
          <a:xfrm>
            <a:off x="8083296" y="2194560"/>
            <a:ext cx="3447288" cy="2148840"/>
          </a:xfrm>
          <a:prstGeom prst="roundRect">
            <a:avLst>
              <a:gd name="adj" fmla="val 4255"/>
            </a:avLst>
          </a:prstGeom>
          <a:solidFill>
            <a:srgbClr val="D97706"/>
          </a:solidFill>
          <a:ln w="12700">
            <a:solidFill>
              <a:srgbClr val="D97706"/>
            </a:solidFill>
            <a:prstDash val="solid"/>
          </a:ln>
          <a:effectLst>
            <a:outerShdw sx="100000" sy="100000" kx="0" ky="0" algn="bl" rotWithShape="0" blurRad="127000" dist="25400" dir="5400000">
              <a:srgbClr val="000000">
                <a:alpha val="8000"/>
              </a:srgbClr>
            </a:outerShdw>
          </a:effectLst>
        </p:spPr>
      </p:sp>
      <p:sp>
        <p:nvSpPr>
          <p:cNvPr id="11" name="Text 9"/>
          <p:cNvSpPr/>
          <p:nvPr/>
        </p:nvSpPr>
        <p:spPr>
          <a:xfrm>
            <a:off x="8357616" y="2395728"/>
            <a:ext cx="2898648" cy="777240"/>
          </a:xfrm>
          <a:prstGeom prst="rect">
            <a:avLst/>
          </a:prstGeom>
          <a:noFill/>
          <a:ln/>
        </p:spPr>
        <p:txBody>
          <a:bodyPr wrap="square" lIns="0" tIns="0" rIns="0" bIns="0" rtlCol="0" anchor="ctr"/>
          <a:lstStyle/>
          <a:p>
            <a:pPr algn="ctr" indent="0" marL="0">
              <a:buNone/>
            </a:pPr>
            <a:r>
              <a:rPr lang="en-US" sz="3800" b="1" dirty="0">
                <a:solidFill>
                  <a:srgbClr val="3B2008"/>
                </a:solidFill>
                <a:latin typeface="Cambria" pitchFamily="34" charset="0"/>
                <a:ea typeface="Cambria" pitchFamily="34" charset="-122"/>
                <a:cs typeface="Cambria" pitchFamily="34" charset="-120"/>
              </a:rPr>
              <a:t>RD$ 9,000</a:t>
            </a:r>
            <a:endParaRPr lang="en-US" sz="3800" dirty="0"/>
          </a:p>
        </p:txBody>
      </p:sp>
      <p:sp>
        <p:nvSpPr>
          <p:cNvPr id="12" name="Text 10"/>
          <p:cNvSpPr/>
          <p:nvPr/>
        </p:nvSpPr>
        <p:spPr>
          <a:xfrm>
            <a:off x="8357616" y="3246120"/>
            <a:ext cx="2898648" cy="914400"/>
          </a:xfrm>
          <a:prstGeom prst="rect">
            <a:avLst/>
          </a:prstGeom>
          <a:noFill/>
          <a:ln/>
        </p:spPr>
        <p:txBody>
          <a:bodyPr wrap="square" lIns="0" tIns="0" rIns="0" bIns="0" rtlCol="0" anchor="t"/>
          <a:lstStyle/>
          <a:p>
            <a:pPr algn="ctr" indent="0" marL="0">
              <a:buNone/>
            </a:pPr>
            <a:r>
              <a:rPr lang="en-US" sz="1400" dirty="0">
                <a:solidFill>
                  <a:srgbClr val="4A2A0C"/>
                </a:solidFill>
                <a:latin typeface="Calibri" pitchFamily="34" charset="0"/>
                <a:ea typeface="Calibri" pitchFamily="34" charset="-122"/>
                <a:cs typeface="Calibri" pitchFamily="34" charset="-120"/>
              </a:rPr>
              <a:t>al mes que no</a:t>
            </a:r>
            <a:endParaRPr lang="en-US" sz="1400" dirty="0"/>
          </a:p>
          <a:p>
            <a:pPr algn="ctr" indent="0" marL="0">
              <a:buNone/>
            </a:pPr>
            <a:r>
              <a:rPr lang="en-US" sz="1400" dirty="0">
                <a:solidFill>
                  <a:srgbClr val="4A2A0C"/>
                </a:solidFill>
                <a:latin typeface="Calibri" pitchFamily="34" charset="0"/>
                <a:ea typeface="Calibri" pitchFamily="34" charset="-122"/>
                <a:cs typeface="Calibri" pitchFamily="34" charset="-120"/>
              </a:rPr>
              <a:t>aparecen en ningún lado</a:t>
            </a:r>
            <a:endParaRPr lang="en-US" sz="1400" dirty="0"/>
          </a:p>
        </p:txBody>
      </p:sp>
      <p:sp>
        <p:nvSpPr>
          <p:cNvPr id="13" name="Shape 11"/>
          <p:cNvSpPr/>
          <p:nvPr/>
        </p:nvSpPr>
        <p:spPr>
          <a:xfrm>
            <a:off x="4160520" y="3154680"/>
            <a:ext cx="365760" cy="256032"/>
          </a:xfrm>
          <a:prstGeom prst="rightArrow">
            <a:avLst/>
          </a:prstGeom>
          <a:solidFill>
            <a:srgbClr val="F59E0B"/>
          </a:solidFill>
          <a:ln w="12700">
            <a:solidFill>
              <a:srgbClr val="333333"/>
            </a:solidFill>
            <a:prstDash val="solid"/>
          </a:ln>
        </p:spPr>
      </p:sp>
      <p:sp>
        <p:nvSpPr>
          <p:cNvPr id="14" name="Shape 12"/>
          <p:cNvSpPr/>
          <p:nvPr/>
        </p:nvSpPr>
        <p:spPr>
          <a:xfrm>
            <a:off x="7872984" y="3154680"/>
            <a:ext cx="365760" cy="256032"/>
          </a:xfrm>
          <a:prstGeom prst="rightArrow">
            <a:avLst/>
          </a:prstGeom>
          <a:solidFill>
            <a:srgbClr val="F59E0B"/>
          </a:solidFill>
          <a:ln w="12700">
            <a:solidFill>
              <a:srgbClr val="333333"/>
            </a:solidFill>
            <a:prstDash val="solid"/>
          </a:ln>
        </p:spPr>
      </p:sp>
      <p:sp>
        <p:nvSpPr>
          <p:cNvPr id="15" name="Text 13"/>
          <p:cNvSpPr/>
          <p:nvPr/>
        </p:nvSpPr>
        <p:spPr>
          <a:xfrm>
            <a:off x="658368" y="4892040"/>
            <a:ext cx="10872216" cy="685800"/>
          </a:xfrm>
          <a:prstGeom prst="rect">
            <a:avLst/>
          </a:prstGeom>
          <a:noFill/>
          <a:ln/>
        </p:spPr>
        <p:txBody>
          <a:bodyPr wrap="square" lIns="0" tIns="0" rIns="0" bIns="0" rtlCol="0" anchor="t"/>
          <a:lstStyle/>
          <a:p>
            <a:pPr indent="0" marL="0">
              <a:buNone/>
            </a:pPr>
            <a:r>
              <a:rPr lang="en-US" sz="1800" b="1" dirty="0">
                <a:solidFill>
                  <a:srgbClr val="FFFFFF"/>
                </a:solidFill>
                <a:latin typeface="Calibri" pitchFamily="34" charset="0"/>
                <a:ea typeface="Calibri" pitchFamily="34" charset="-122"/>
                <a:cs typeface="Calibri" pitchFamily="34" charset="-120"/>
              </a:rPr>
              <a:t>Y el pedido que se perdió no se factura nunca. Ese no aparece ni en la cuenta de arriba.</a:t>
            </a:r>
            <a:endParaRPr lang="en-US" sz="1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58368" y="1417320"/>
            <a:ext cx="10872216" cy="914400"/>
          </a:xfrm>
          <a:prstGeom prst="rect">
            <a:avLst/>
          </a:prstGeom>
          <a:noFill/>
          <a:ln/>
        </p:spPr>
        <p:txBody>
          <a:bodyPr wrap="square" lIns="0" tIns="0" rIns="0" bIns="0" rtlCol="0" anchor="ctr"/>
          <a:lstStyle/>
          <a:p>
            <a:pPr indent="0" marL="0">
              <a:buNone/>
            </a:pPr>
            <a:r>
              <a:rPr lang="en-US" sz="4200" b="1" dirty="0">
                <a:solidFill>
                  <a:srgbClr val="292524"/>
                </a:solidFill>
                <a:latin typeface="Cambria" pitchFamily="34" charset="0"/>
                <a:ea typeface="Cambria" pitchFamily="34" charset="-122"/>
                <a:cs typeface="Cambria" pitchFamily="34" charset="-120"/>
              </a:rPr>
              <a:t>Usted anota qué y cuánto.</a:t>
            </a:r>
            <a:endParaRPr lang="en-US" sz="4200" dirty="0"/>
          </a:p>
        </p:txBody>
      </p:sp>
      <p:sp>
        <p:nvSpPr>
          <p:cNvPr id="3" name="Text 1"/>
          <p:cNvSpPr/>
          <p:nvPr/>
        </p:nvSpPr>
        <p:spPr>
          <a:xfrm>
            <a:off x="658368" y="2286000"/>
            <a:ext cx="10872216" cy="914400"/>
          </a:xfrm>
          <a:prstGeom prst="rect">
            <a:avLst/>
          </a:prstGeom>
          <a:noFill/>
          <a:ln/>
        </p:spPr>
        <p:txBody>
          <a:bodyPr wrap="square" lIns="0" tIns="0" rIns="0" bIns="0" rtlCol="0" anchor="ctr"/>
          <a:lstStyle/>
          <a:p>
            <a:pPr indent="0" marL="0">
              <a:buNone/>
            </a:pPr>
            <a:r>
              <a:rPr lang="en-US" sz="4200" b="1" dirty="0">
                <a:solidFill>
                  <a:srgbClr val="D97706"/>
                </a:solidFill>
                <a:latin typeface="Cambria" pitchFamily="34" charset="0"/>
                <a:ea typeface="Cambria" pitchFamily="34" charset="-122"/>
                <a:cs typeface="Cambria" pitchFamily="34" charset="-120"/>
              </a:rPr>
              <a:t>El sistema hace todo lo demás.</a:t>
            </a:r>
            <a:endParaRPr lang="en-US" sz="4200" dirty="0"/>
          </a:p>
        </p:txBody>
      </p:sp>
      <p:sp>
        <p:nvSpPr>
          <p:cNvPr id="4" name="Shape 2"/>
          <p:cNvSpPr/>
          <p:nvPr/>
        </p:nvSpPr>
        <p:spPr>
          <a:xfrm>
            <a:off x="694944" y="3749040"/>
            <a:ext cx="365760" cy="365760"/>
          </a:xfrm>
          <a:prstGeom prst="ellipse">
            <a:avLst/>
          </a:prstGeom>
          <a:solidFill>
            <a:srgbClr val="D97706"/>
          </a:solidFill>
          <a:ln w="12700">
            <a:solidFill>
              <a:srgbClr val="333333"/>
            </a:solidFill>
            <a:prstDash val="solid"/>
          </a:ln>
        </p:spPr>
      </p:sp>
      <p:sp>
        <p:nvSpPr>
          <p:cNvPr id="5" name="Text 3"/>
          <p:cNvSpPr/>
          <p:nvPr/>
        </p:nvSpPr>
        <p:spPr>
          <a:xfrm>
            <a:off x="694944" y="3749040"/>
            <a:ext cx="365760" cy="36576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6" name="Text 4"/>
          <p:cNvSpPr/>
          <p:nvPr/>
        </p:nvSpPr>
        <p:spPr>
          <a:xfrm>
            <a:off x="1225296" y="3703320"/>
            <a:ext cx="9966960" cy="475488"/>
          </a:xfrm>
          <a:prstGeom prst="rect">
            <a:avLst/>
          </a:prstGeom>
          <a:noFill/>
          <a:ln/>
        </p:spPr>
        <p:txBody>
          <a:bodyPr wrap="square" lIns="0" tIns="0" rIns="0" bIns="0" rtlCol="0" anchor="ctr"/>
          <a:lstStyle/>
          <a:p>
            <a:pPr indent="0" marL="0">
              <a:buNone/>
            </a:pPr>
            <a:r>
              <a:rPr lang="en-US" sz="1800" dirty="0">
                <a:solidFill>
                  <a:srgbClr val="78716C"/>
                </a:solidFill>
                <a:latin typeface="Calibri" pitchFamily="34" charset="0"/>
                <a:ea typeface="Calibri" pitchFamily="34" charset="-122"/>
                <a:cs typeface="Calibri" pitchFamily="34" charset="-120"/>
              </a:rPr>
              <a:t>El total nunca se escribe: se calcula solo.</a:t>
            </a:r>
            <a:endParaRPr lang="en-US" sz="1800" dirty="0"/>
          </a:p>
        </p:txBody>
      </p:sp>
      <p:sp>
        <p:nvSpPr>
          <p:cNvPr id="7" name="Shape 5"/>
          <p:cNvSpPr/>
          <p:nvPr/>
        </p:nvSpPr>
        <p:spPr>
          <a:xfrm>
            <a:off x="694944" y="4498848"/>
            <a:ext cx="365760" cy="365760"/>
          </a:xfrm>
          <a:prstGeom prst="ellipse">
            <a:avLst/>
          </a:prstGeom>
          <a:solidFill>
            <a:srgbClr val="D97706"/>
          </a:solidFill>
          <a:ln w="12700">
            <a:solidFill>
              <a:srgbClr val="333333"/>
            </a:solidFill>
            <a:prstDash val="solid"/>
          </a:ln>
        </p:spPr>
      </p:sp>
      <p:sp>
        <p:nvSpPr>
          <p:cNvPr id="8" name="Text 6"/>
          <p:cNvSpPr/>
          <p:nvPr/>
        </p:nvSpPr>
        <p:spPr>
          <a:xfrm>
            <a:off x="694944" y="4498848"/>
            <a:ext cx="365760" cy="36576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9" name="Text 7"/>
          <p:cNvSpPr/>
          <p:nvPr/>
        </p:nvSpPr>
        <p:spPr>
          <a:xfrm>
            <a:off x="1225296" y="4453128"/>
            <a:ext cx="9966960" cy="475488"/>
          </a:xfrm>
          <a:prstGeom prst="rect">
            <a:avLst/>
          </a:prstGeom>
          <a:noFill/>
          <a:ln/>
        </p:spPr>
        <p:txBody>
          <a:bodyPr wrap="square" lIns="0" tIns="0" rIns="0" bIns="0" rtlCol="0" anchor="ctr"/>
          <a:lstStyle/>
          <a:p>
            <a:pPr indent="0" marL="0">
              <a:buNone/>
            </a:pPr>
            <a:r>
              <a:rPr lang="en-US" sz="1800" dirty="0">
                <a:solidFill>
                  <a:srgbClr val="78716C"/>
                </a:solidFill>
                <a:latin typeface="Calibri" pitchFamily="34" charset="0"/>
                <a:ea typeface="Calibri" pitchFamily="34" charset="-122"/>
                <a:cs typeface="Calibri" pitchFamily="34" charset="-120"/>
              </a:rPr>
              <a:t>El pedido no se pierde: queda guardado en el momento.</a:t>
            </a:r>
            <a:endParaRPr lang="en-US" sz="1800" dirty="0"/>
          </a:p>
        </p:txBody>
      </p:sp>
      <p:sp>
        <p:nvSpPr>
          <p:cNvPr id="10" name="Shape 8"/>
          <p:cNvSpPr/>
          <p:nvPr/>
        </p:nvSpPr>
        <p:spPr>
          <a:xfrm>
            <a:off x="694944" y="5248656"/>
            <a:ext cx="365760" cy="365760"/>
          </a:xfrm>
          <a:prstGeom prst="ellipse">
            <a:avLst/>
          </a:prstGeom>
          <a:solidFill>
            <a:srgbClr val="D97706"/>
          </a:solidFill>
          <a:ln w="12700">
            <a:solidFill>
              <a:srgbClr val="333333"/>
            </a:solidFill>
            <a:prstDash val="solid"/>
          </a:ln>
        </p:spPr>
      </p:sp>
      <p:sp>
        <p:nvSpPr>
          <p:cNvPr id="11" name="Text 9"/>
          <p:cNvSpPr/>
          <p:nvPr/>
        </p:nvSpPr>
        <p:spPr>
          <a:xfrm>
            <a:off x="694944" y="5248656"/>
            <a:ext cx="365760" cy="36576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2" name="Text 10"/>
          <p:cNvSpPr/>
          <p:nvPr/>
        </p:nvSpPr>
        <p:spPr>
          <a:xfrm>
            <a:off x="1225296" y="5202936"/>
            <a:ext cx="9966960" cy="475488"/>
          </a:xfrm>
          <a:prstGeom prst="rect">
            <a:avLst/>
          </a:prstGeom>
          <a:noFill/>
          <a:ln/>
        </p:spPr>
        <p:txBody>
          <a:bodyPr wrap="square" lIns="0" tIns="0" rIns="0" bIns="0" rtlCol="0" anchor="ctr"/>
          <a:lstStyle/>
          <a:p>
            <a:pPr indent="0" marL="0">
              <a:buNone/>
            </a:pPr>
            <a:r>
              <a:rPr lang="en-US" sz="1800" dirty="0">
                <a:solidFill>
                  <a:srgbClr val="78716C"/>
                </a:solidFill>
                <a:latin typeface="Calibri" pitchFamily="34" charset="0"/>
                <a:ea typeface="Calibri" pitchFamily="34" charset="-122"/>
                <a:cs typeface="Calibri" pitchFamily="34" charset="-120"/>
              </a:rPr>
              <a:t>El precio es siempre el mismo, para todos los que atienden.</a:t>
            </a:r>
            <a:endParaRPr lang="en-US" sz="1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58368" y="502920"/>
            <a:ext cx="10872216" cy="868680"/>
          </a:xfrm>
          <a:prstGeom prst="rect">
            <a:avLst/>
          </a:prstGeom>
          <a:noFill/>
          <a:ln/>
        </p:spPr>
        <p:txBody>
          <a:bodyPr wrap="square" lIns="0" tIns="0" rIns="0" bIns="0" rtlCol="0" anchor="ctr"/>
          <a:lstStyle/>
          <a:p>
            <a:pPr indent="0" marL="0">
              <a:buNone/>
            </a:pPr>
            <a:r>
              <a:rPr lang="en-US" sz="3600" b="1" dirty="0">
                <a:solidFill>
                  <a:srgbClr val="292524"/>
                </a:solidFill>
                <a:latin typeface="Cambria" pitchFamily="34" charset="0"/>
                <a:ea typeface="Cambria" pitchFamily="34" charset="-122"/>
                <a:cs typeface="Cambria" pitchFamily="34" charset="-120"/>
              </a:rPr>
              <a:t>Tres pasos, y ya</a:t>
            </a:r>
            <a:endParaRPr lang="en-US" sz="3600" dirty="0"/>
          </a:p>
        </p:txBody>
      </p:sp>
      <p:sp>
        <p:nvSpPr>
          <p:cNvPr id="3" name="Text 1"/>
          <p:cNvSpPr/>
          <p:nvPr/>
        </p:nvSpPr>
        <p:spPr>
          <a:xfrm>
            <a:off x="658368" y="1389888"/>
            <a:ext cx="10872216" cy="438912"/>
          </a:xfrm>
          <a:prstGeom prst="rect">
            <a:avLst/>
          </a:prstGeom>
          <a:noFill/>
          <a:ln/>
        </p:spPr>
        <p:txBody>
          <a:bodyPr wrap="square" lIns="0" tIns="0" rIns="0" bIns="0" rtlCol="0" anchor="t"/>
          <a:lstStyle/>
          <a:p>
            <a:pPr indent="0" marL="0">
              <a:buNone/>
            </a:pPr>
            <a:r>
              <a:rPr lang="en-US" sz="1600" i="1" dirty="0">
                <a:solidFill>
                  <a:srgbClr val="78716C"/>
                </a:solidFill>
                <a:latin typeface="Calibri" pitchFamily="34" charset="0"/>
                <a:ea typeface="Calibri" pitchFamily="34" charset="-122"/>
                <a:cs typeface="Calibri" pitchFamily="34" charset="-120"/>
              </a:rPr>
              <a:t>Así se ve un día completo de trabajo con el sistema.</a:t>
            </a:r>
            <a:endParaRPr lang="en-US" sz="1600" dirty="0"/>
          </a:p>
        </p:txBody>
      </p:sp>
      <p:sp>
        <p:nvSpPr>
          <p:cNvPr id="4" name="Shape 2"/>
          <p:cNvSpPr/>
          <p:nvPr/>
        </p:nvSpPr>
        <p:spPr>
          <a:xfrm>
            <a:off x="658368" y="2148840"/>
            <a:ext cx="3447288" cy="3291840"/>
          </a:xfrm>
          <a:prstGeom prst="roundRect">
            <a:avLst>
              <a:gd name="adj" fmla="val 2778"/>
            </a:avLst>
          </a:prstGeom>
          <a:solidFill>
            <a:srgbClr val="FAFAF9"/>
          </a:solidFill>
          <a:ln w="12700">
            <a:solidFill>
              <a:srgbClr val="E7E5E4"/>
            </a:solidFill>
            <a:prstDash val="solid"/>
          </a:ln>
          <a:effectLst>
            <a:outerShdw sx="100000" sy="100000" kx="0" ky="0" algn="bl" rotWithShape="0" blurRad="127000" dist="25400" dir="5400000">
              <a:srgbClr val="000000">
                <a:alpha val="8000"/>
              </a:srgbClr>
            </a:outerShdw>
          </a:effectLst>
        </p:spPr>
      </p:sp>
      <p:sp>
        <p:nvSpPr>
          <p:cNvPr id="5" name="Shape 3"/>
          <p:cNvSpPr/>
          <p:nvPr/>
        </p:nvSpPr>
        <p:spPr>
          <a:xfrm>
            <a:off x="987552" y="2450592"/>
            <a:ext cx="475488" cy="475488"/>
          </a:xfrm>
          <a:prstGeom prst="ellipse">
            <a:avLst/>
          </a:prstGeom>
          <a:solidFill>
            <a:srgbClr val="D97706"/>
          </a:solidFill>
          <a:ln w="12700">
            <a:solidFill>
              <a:srgbClr val="333333"/>
            </a:solidFill>
            <a:prstDash val="solid"/>
          </a:ln>
        </p:spPr>
      </p:sp>
      <p:sp>
        <p:nvSpPr>
          <p:cNvPr id="6" name="Text 4"/>
          <p:cNvSpPr/>
          <p:nvPr/>
        </p:nvSpPr>
        <p:spPr>
          <a:xfrm>
            <a:off x="987552" y="2450592"/>
            <a:ext cx="475488" cy="475488"/>
          </a:xfrm>
          <a:prstGeom prst="rect">
            <a:avLst/>
          </a:prstGeom>
          <a:noFill/>
          <a:ln/>
        </p:spPr>
        <p:txBody>
          <a:bodyPr wrap="square" lIns="0" tIns="0" rIns="0" bIns="0" rtlCol="0" anchor="ctr"/>
          <a:lstStyle/>
          <a:p>
            <a:pPr algn="ctr" indent="0" marL="0">
              <a:buNone/>
            </a:pPr>
            <a:r>
              <a:rPr lang="en-US" sz="1900" b="1" dirty="0">
                <a:solidFill>
                  <a:srgbClr val="FFFFFF"/>
                </a:solidFill>
                <a:latin typeface="Calibri" pitchFamily="34" charset="0"/>
                <a:ea typeface="Calibri" pitchFamily="34" charset="-122"/>
                <a:cs typeface="Calibri" pitchFamily="34" charset="-120"/>
              </a:rPr>
              <a:t>1</a:t>
            </a:r>
            <a:endParaRPr lang="en-US" sz="1900" dirty="0"/>
          </a:p>
        </p:txBody>
      </p:sp>
      <p:sp>
        <p:nvSpPr>
          <p:cNvPr id="7" name="Text 5"/>
          <p:cNvSpPr/>
          <p:nvPr/>
        </p:nvSpPr>
        <p:spPr>
          <a:xfrm>
            <a:off x="1618488" y="2432304"/>
            <a:ext cx="2240280" cy="512064"/>
          </a:xfrm>
          <a:prstGeom prst="rect">
            <a:avLst/>
          </a:prstGeom>
          <a:noFill/>
          <a:ln/>
        </p:spPr>
        <p:txBody>
          <a:bodyPr wrap="square" lIns="0" tIns="0" rIns="0" bIns="0" rtlCol="0" anchor="ctr"/>
          <a:lstStyle/>
          <a:p>
            <a:pPr indent="0" marL="0">
              <a:buNone/>
            </a:pPr>
            <a:r>
              <a:rPr lang="en-US" sz="2100" b="1" dirty="0">
                <a:solidFill>
                  <a:srgbClr val="292524"/>
                </a:solidFill>
                <a:latin typeface="Cambria" pitchFamily="34" charset="0"/>
                <a:ea typeface="Cambria" pitchFamily="34" charset="-122"/>
                <a:cs typeface="Cambria" pitchFamily="34" charset="-120"/>
              </a:rPr>
              <a:t>Tomar la orden</a:t>
            </a:r>
            <a:endParaRPr lang="en-US" sz="2100" dirty="0"/>
          </a:p>
        </p:txBody>
      </p:sp>
      <p:sp>
        <p:nvSpPr>
          <p:cNvPr id="8" name="Text 6"/>
          <p:cNvSpPr/>
          <p:nvPr/>
        </p:nvSpPr>
        <p:spPr>
          <a:xfrm>
            <a:off x="987552" y="3154680"/>
            <a:ext cx="2834640" cy="2057400"/>
          </a:xfrm>
          <a:prstGeom prst="rect">
            <a:avLst/>
          </a:prstGeom>
          <a:noFill/>
          <a:ln/>
        </p:spPr>
        <p:txBody>
          <a:bodyPr wrap="square" lIns="0" tIns="0" rIns="0" bIns="0" rtlCol="0" anchor="t"/>
          <a:lstStyle/>
          <a:p>
            <a:pPr indent="0" marL="0">
              <a:lnSpc>
                <a:spcPct val="135000"/>
              </a:lnSpc>
              <a:buNone/>
            </a:pPr>
            <a:r>
              <a:rPr lang="en-US" sz="1550" dirty="0">
                <a:solidFill>
                  <a:srgbClr val="78716C"/>
                </a:solidFill>
                <a:latin typeface="Calibri" pitchFamily="34" charset="0"/>
                <a:ea typeface="Calibri" pitchFamily="34" charset="-122"/>
                <a:cs typeface="Calibri" pitchFamily="34" charset="-120"/>
              </a:rPr>
              <a:t>Elige el cliente</a:t>
            </a:r>
            <a:endParaRPr lang="en-US" sz="1550" dirty="0"/>
          </a:p>
          <a:p>
            <a:pPr indent="0" marL="0">
              <a:lnSpc>
                <a:spcPct val="135000"/>
              </a:lnSpc>
              <a:buNone/>
            </a:pPr>
            <a:r>
              <a:rPr lang="en-US" sz="1550" dirty="0">
                <a:solidFill>
                  <a:srgbClr val="78716C"/>
                </a:solidFill>
                <a:latin typeface="Calibri" pitchFamily="34" charset="0"/>
                <a:ea typeface="Calibri" pitchFamily="34" charset="-122"/>
                <a:cs typeface="Calibri" pitchFamily="34" charset="-120"/>
              </a:rPr>
              <a:t>Toca los productos</a:t>
            </a:r>
            <a:endParaRPr lang="en-US" sz="1550" dirty="0"/>
          </a:p>
          <a:p>
            <a:pPr indent="0" marL="0">
              <a:lnSpc>
                <a:spcPct val="135000"/>
              </a:lnSpc>
              <a:buNone/>
            </a:pPr>
            <a:r>
              <a:rPr lang="en-US" sz="1550" dirty="0">
                <a:solidFill>
                  <a:srgbClr val="78716C"/>
                </a:solidFill>
                <a:latin typeface="Calibri" pitchFamily="34" charset="0"/>
                <a:ea typeface="Calibri" pitchFamily="34" charset="-122"/>
                <a:cs typeface="Calibri" pitchFamily="34" charset="-120"/>
              </a:rPr>
              <a:t>Pone la cantidad</a:t>
            </a:r>
            <a:endParaRPr lang="en-US" sz="1550" dirty="0"/>
          </a:p>
          <a:p>
            <a:pPr indent="0" marL="0">
              <a:lnSpc>
                <a:spcPct val="135000"/>
              </a:lnSpc>
              <a:buNone/>
            </a:pPr>
            <a:r>
              <a:rPr lang="en-US" sz="1550" dirty="0">
                <a:solidFill>
                  <a:srgbClr val="78716C"/>
                </a:solidFill>
                <a:latin typeface="Calibri" pitchFamily="34" charset="0"/>
                <a:ea typeface="Calibri" pitchFamily="34" charset="-122"/>
                <a:cs typeface="Calibri" pitchFamily="34" charset="-120"/>
              </a:rPr>
              <a:t>El total aparece solo</a:t>
            </a:r>
            <a:endParaRPr lang="en-US" sz="1550" dirty="0"/>
          </a:p>
        </p:txBody>
      </p:sp>
      <p:sp>
        <p:nvSpPr>
          <p:cNvPr id="9" name="Shape 7"/>
          <p:cNvSpPr/>
          <p:nvPr/>
        </p:nvSpPr>
        <p:spPr>
          <a:xfrm>
            <a:off x="4370832" y="2148840"/>
            <a:ext cx="3447288" cy="3291840"/>
          </a:xfrm>
          <a:prstGeom prst="roundRect">
            <a:avLst>
              <a:gd name="adj" fmla="val 2778"/>
            </a:avLst>
          </a:prstGeom>
          <a:solidFill>
            <a:srgbClr val="FAFAF9"/>
          </a:solidFill>
          <a:ln w="12700">
            <a:solidFill>
              <a:srgbClr val="E7E5E4"/>
            </a:solidFill>
            <a:prstDash val="solid"/>
          </a:ln>
          <a:effectLst>
            <a:outerShdw sx="100000" sy="100000" kx="0" ky="0" algn="bl" rotWithShape="0" blurRad="127000" dist="25400" dir="5400000">
              <a:srgbClr val="000000">
                <a:alpha val="8000"/>
              </a:srgbClr>
            </a:outerShdw>
          </a:effectLst>
        </p:spPr>
      </p:sp>
      <p:sp>
        <p:nvSpPr>
          <p:cNvPr id="10" name="Shape 8"/>
          <p:cNvSpPr/>
          <p:nvPr/>
        </p:nvSpPr>
        <p:spPr>
          <a:xfrm>
            <a:off x="4700016" y="2450592"/>
            <a:ext cx="475488" cy="475488"/>
          </a:xfrm>
          <a:prstGeom prst="ellipse">
            <a:avLst/>
          </a:prstGeom>
          <a:solidFill>
            <a:srgbClr val="D97706"/>
          </a:solidFill>
          <a:ln w="12700">
            <a:solidFill>
              <a:srgbClr val="333333"/>
            </a:solidFill>
            <a:prstDash val="solid"/>
          </a:ln>
        </p:spPr>
      </p:sp>
      <p:sp>
        <p:nvSpPr>
          <p:cNvPr id="11" name="Text 9"/>
          <p:cNvSpPr/>
          <p:nvPr/>
        </p:nvSpPr>
        <p:spPr>
          <a:xfrm>
            <a:off x="4700016" y="2450592"/>
            <a:ext cx="475488" cy="475488"/>
          </a:xfrm>
          <a:prstGeom prst="rect">
            <a:avLst/>
          </a:prstGeom>
          <a:noFill/>
          <a:ln/>
        </p:spPr>
        <p:txBody>
          <a:bodyPr wrap="square" lIns="0" tIns="0" rIns="0" bIns="0" rtlCol="0" anchor="ctr"/>
          <a:lstStyle/>
          <a:p>
            <a:pPr algn="ctr" indent="0" marL="0">
              <a:buNone/>
            </a:pPr>
            <a:r>
              <a:rPr lang="en-US" sz="1900" b="1" dirty="0">
                <a:solidFill>
                  <a:srgbClr val="FFFFFF"/>
                </a:solidFill>
                <a:latin typeface="Calibri" pitchFamily="34" charset="0"/>
                <a:ea typeface="Calibri" pitchFamily="34" charset="-122"/>
                <a:cs typeface="Calibri" pitchFamily="34" charset="-120"/>
              </a:rPr>
              <a:t>2</a:t>
            </a:r>
            <a:endParaRPr lang="en-US" sz="1900" dirty="0"/>
          </a:p>
        </p:txBody>
      </p:sp>
      <p:sp>
        <p:nvSpPr>
          <p:cNvPr id="12" name="Text 10"/>
          <p:cNvSpPr/>
          <p:nvPr/>
        </p:nvSpPr>
        <p:spPr>
          <a:xfrm>
            <a:off x="5330952" y="2432304"/>
            <a:ext cx="2240280" cy="512064"/>
          </a:xfrm>
          <a:prstGeom prst="rect">
            <a:avLst/>
          </a:prstGeom>
          <a:noFill/>
          <a:ln/>
        </p:spPr>
        <p:txBody>
          <a:bodyPr wrap="square" lIns="0" tIns="0" rIns="0" bIns="0" rtlCol="0" anchor="ctr"/>
          <a:lstStyle/>
          <a:p>
            <a:pPr indent="0" marL="0">
              <a:buNone/>
            </a:pPr>
            <a:r>
              <a:rPr lang="en-US" sz="2100" b="1" dirty="0">
                <a:solidFill>
                  <a:srgbClr val="292524"/>
                </a:solidFill>
                <a:latin typeface="Cambria" pitchFamily="34" charset="0"/>
                <a:ea typeface="Cambria" pitchFamily="34" charset="-122"/>
                <a:cs typeface="Cambria" pitchFamily="34" charset="-120"/>
              </a:rPr>
              <a:t>Cobrar</a:t>
            </a:r>
            <a:endParaRPr lang="en-US" sz="2100" dirty="0"/>
          </a:p>
        </p:txBody>
      </p:sp>
      <p:sp>
        <p:nvSpPr>
          <p:cNvPr id="13" name="Text 11"/>
          <p:cNvSpPr/>
          <p:nvPr/>
        </p:nvSpPr>
        <p:spPr>
          <a:xfrm>
            <a:off x="4700016" y="3154680"/>
            <a:ext cx="2834640" cy="2057400"/>
          </a:xfrm>
          <a:prstGeom prst="rect">
            <a:avLst/>
          </a:prstGeom>
          <a:noFill/>
          <a:ln/>
        </p:spPr>
        <p:txBody>
          <a:bodyPr wrap="square" lIns="0" tIns="0" rIns="0" bIns="0" rtlCol="0" anchor="t"/>
          <a:lstStyle/>
          <a:p>
            <a:pPr indent="0" marL="0">
              <a:lnSpc>
                <a:spcPct val="135000"/>
              </a:lnSpc>
              <a:buNone/>
            </a:pPr>
            <a:r>
              <a:rPr lang="en-US" sz="1550" dirty="0">
                <a:solidFill>
                  <a:srgbClr val="78716C"/>
                </a:solidFill>
                <a:latin typeface="Calibri" pitchFamily="34" charset="0"/>
                <a:ea typeface="Calibri" pitchFamily="34" charset="-122"/>
                <a:cs typeface="Calibri" pitchFamily="34" charset="-120"/>
              </a:rPr>
              <a:t>Efectivo, tarjeta</a:t>
            </a:r>
            <a:endParaRPr lang="en-US" sz="1550" dirty="0"/>
          </a:p>
          <a:p>
            <a:pPr indent="0" marL="0">
              <a:lnSpc>
                <a:spcPct val="135000"/>
              </a:lnSpc>
              <a:buNone/>
            </a:pPr>
            <a:r>
              <a:rPr lang="en-US" sz="1550" dirty="0">
                <a:solidFill>
                  <a:srgbClr val="78716C"/>
                </a:solidFill>
                <a:latin typeface="Calibri" pitchFamily="34" charset="0"/>
                <a:ea typeface="Calibri" pitchFamily="34" charset="-122"/>
                <a:cs typeface="Calibri" pitchFamily="34" charset="-120"/>
              </a:rPr>
              <a:t>o transferencia</a:t>
            </a:r>
            <a:endParaRPr lang="en-US" sz="1550" dirty="0"/>
          </a:p>
          <a:p>
            <a:pPr indent="0" marL="0">
              <a:lnSpc>
                <a:spcPct val="135000"/>
              </a:lnSpc>
              <a:buNone/>
            </a:pPr>
            <a:r>
              <a:rPr lang="en-US" sz="1550" dirty="0">
                <a:solidFill>
                  <a:srgbClr val="78716C"/>
                </a:solidFill>
                <a:latin typeface="Calibri" pitchFamily="34" charset="0"/>
                <a:ea typeface="Calibri" pitchFamily="34" charset="-122"/>
                <a:cs typeface="Calibri" pitchFamily="34" charset="-120"/>
              </a:rPr>
              <a:t>Queda la hora exacta</a:t>
            </a:r>
            <a:endParaRPr lang="en-US" sz="1550" dirty="0"/>
          </a:p>
          <a:p>
            <a:pPr indent="0" marL="0">
              <a:lnSpc>
                <a:spcPct val="135000"/>
              </a:lnSpc>
              <a:buNone/>
            </a:pPr>
            <a:r>
              <a:rPr lang="en-US" sz="1550" dirty="0">
                <a:solidFill>
                  <a:srgbClr val="78716C"/>
                </a:solidFill>
                <a:latin typeface="Calibri" pitchFamily="34" charset="0"/>
                <a:ea typeface="Calibri" pitchFamily="34" charset="-122"/>
                <a:cs typeface="Calibri" pitchFamily="34" charset="-120"/>
              </a:rPr>
              <a:t>del cobro</a:t>
            </a:r>
            <a:endParaRPr lang="en-US" sz="1550" dirty="0"/>
          </a:p>
        </p:txBody>
      </p:sp>
      <p:sp>
        <p:nvSpPr>
          <p:cNvPr id="14" name="Shape 12"/>
          <p:cNvSpPr/>
          <p:nvPr/>
        </p:nvSpPr>
        <p:spPr>
          <a:xfrm>
            <a:off x="8083296" y="2148840"/>
            <a:ext cx="3447288" cy="3291840"/>
          </a:xfrm>
          <a:prstGeom prst="roundRect">
            <a:avLst>
              <a:gd name="adj" fmla="val 2778"/>
            </a:avLst>
          </a:prstGeom>
          <a:solidFill>
            <a:srgbClr val="FAFAF9"/>
          </a:solidFill>
          <a:ln w="12700">
            <a:solidFill>
              <a:srgbClr val="E7E5E4"/>
            </a:solidFill>
            <a:prstDash val="solid"/>
          </a:ln>
          <a:effectLst>
            <a:outerShdw sx="100000" sy="100000" kx="0" ky="0" algn="bl" rotWithShape="0" blurRad="127000" dist="25400" dir="5400000">
              <a:srgbClr val="000000">
                <a:alpha val="8000"/>
              </a:srgbClr>
            </a:outerShdw>
          </a:effectLst>
        </p:spPr>
      </p:sp>
      <p:sp>
        <p:nvSpPr>
          <p:cNvPr id="15" name="Shape 13"/>
          <p:cNvSpPr/>
          <p:nvPr/>
        </p:nvSpPr>
        <p:spPr>
          <a:xfrm>
            <a:off x="8412480" y="2450592"/>
            <a:ext cx="475488" cy="475488"/>
          </a:xfrm>
          <a:prstGeom prst="ellipse">
            <a:avLst/>
          </a:prstGeom>
          <a:solidFill>
            <a:srgbClr val="D97706"/>
          </a:solidFill>
          <a:ln w="12700">
            <a:solidFill>
              <a:srgbClr val="333333"/>
            </a:solidFill>
            <a:prstDash val="solid"/>
          </a:ln>
        </p:spPr>
      </p:sp>
      <p:sp>
        <p:nvSpPr>
          <p:cNvPr id="16" name="Text 14"/>
          <p:cNvSpPr/>
          <p:nvPr/>
        </p:nvSpPr>
        <p:spPr>
          <a:xfrm>
            <a:off x="8412480" y="2450592"/>
            <a:ext cx="475488" cy="475488"/>
          </a:xfrm>
          <a:prstGeom prst="rect">
            <a:avLst/>
          </a:prstGeom>
          <a:noFill/>
          <a:ln/>
        </p:spPr>
        <p:txBody>
          <a:bodyPr wrap="square" lIns="0" tIns="0" rIns="0" bIns="0" rtlCol="0" anchor="ctr"/>
          <a:lstStyle/>
          <a:p>
            <a:pPr algn="ctr" indent="0" marL="0">
              <a:buNone/>
            </a:pPr>
            <a:r>
              <a:rPr lang="en-US" sz="1900" b="1" dirty="0">
                <a:solidFill>
                  <a:srgbClr val="FFFFFF"/>
                </a:solidFill>
                <a:latin typeface="Calibri" pitchFamily="34" charset="0"/>
                <a:ea typeface="Calibri" pitchFamily="34" charset="-122"/>
                <a:cs typeface="Calibri" pitchFamily="34" charset="-120"/>
              </a:rPr>
              <a:t>3</a:t>
            </a:r>
            <a:endParaRPr lang="en-US" sz="1900" dirty="0"/>
          </a:p>
        </p:txBody>
      </p:sp>
      <p:sp>
        <p:nvSpPr>
          <p:cNvPr id="17" name="Text 15"/>
          <p:cNvSpPr/>
          <p:nvPr/>
        </p:nvSpPr>
        <p:spPr>
          <a:xfrm>
            <a:off x="9043416" y="2432304"/>
            <a:ext cx="2240280" cy="512064"/>
          </a:xfrm>
          <a:prstGeom prst="rect">
            <a:avLst/>
          </a:prstGeom>
          <a:noFill/>
          <a:ln/>
        </p:spPr>
        <p:txBody>
          <a:bodyPr wrap="square" lIns="0" tIns="0" rIns="0" bIns="0" rtlCol="0" anchor="ctr"/>
          <a:lstStyle/>
          <a:p>
            <a:pPr indent="0" marL="0">
              <a:buNone/>
            </a:pPr>
            <a:r>
              <a:rPr lang="en-US" sz="2100" b="1" dirty="0">
                <a:solidFill>
                  <a:srgbClr val="292524"/>
                </a:solidFill>
                <a:latin typeface="Cambria" pitchFamily="34" charset="0"/>
                <a:ea typeface="Cambria" pitchFamily="34" charset="-122"/>
                <a:cs typeface="Cambria" pitchFamily="34" charset="-120"/>
              </a:rPr>
              <a:t>Ver el historial</a:t>
            </a:r>
            <a:endParaRPr lang="en-US" sz="2100" dirty="0"/>
          </a:p>
        </p:txBody>
      </p:sp>
      <p:sp>
        <p:nvSpPr>
          <p:cNvPr id="18" name="Text 16"/>
          <p:cNvSpPr/>
          <p:nvPr/>
        </p:nvSpPr>
        <p:spPr>
          <a:xfrm>
            <a:off x="8412480" y="3154680"/>
            <a:ext cx="2834640" cy="2057400"/>
          </a:xfrm>
          <a:prstGeom prst="rect">
            <a:avLst/>
          </a:prstGeom>
          <a:noFill/>
          <a:ln/>
        </p:spPr>
        <p:txBody>
          <a:bodyPr wrap="square" lIns="0" tIns="0" rIns="0" bIns="0" rtlCol="0" anchor="t"/>
          <a:lstStyle/>
          <a:p>
            <a:pPr indent="0" marL="0">
              <a:lnSpc>
                <a:spcPct val="135000"/>
              </a:lnSpc>
              <a:buNone/>
            </a:pPr>
            <a:r>
              <a:rPr lang="en-US" sz="1550" dirty="0">
                <a:solidFill>
                  <a:srgbClr val="78716C"/>
                </a:solidFill>
                <a:latin typeface="Calibri" pitchFamily="34" charset="0"/>
                <a:ea typeface="Calibri" pitchFamily="34" charset="-122"/>
                <a:cs typeface="Calibri" pitchFamily="34" charset="-120"/>
              </a:rPr>
              <a:t>Todas las órdenes</a:t>
            </a:r>
            <a:endParaRPr lang="en-US" sz="1550" dirty="0"/>
          </a:p>
          <a:p>
            <a:pPr indent="0" marL="0">
              <a:lnSpc>
                <a:spcPct val="135000"/>
              </a:lnSpc>
              <a:buNone/>
            </a:pPr>
            <a:r>
              <a:rPr lang="en-US" sz="1550" dirty="0">
                <a:solidFill>
                  <a:srgbClr val="78716C"/>
                </a:solidFill>
                <a:latin typeface="Calibri" pitchFamily="34" charset="0"/>
                <a:ea typeface="Calibri" pitchFamily="34" charset="-122"/>
                <a:cs typeface="Calibri" pitchFamily="34" charset="-120"/>
              </a:rPr>
              <a:t>del día a la vista</a:t>
            </a:r>
            <a:endParaRPr lang="en-US" sz="1550" dirty="0"/>
          </a:p>
          <a:p>
            <a:pPr indent="0" marL="0">
              <a:lnSpc>
                <a:spcPct val="135000"/>
              </a:lnSpc>
              <a:buNone/>
            </a:pPr>
            <a:r>
              <a:rPr lang="en-US" sz="1550" dirty="0">
                <a:solidFill>
                  <a:srgbClr val="78716C"/>
                </a:solidFill>
                <a:latin typeface="Calibri" pitchFamily="34" charset="0"/>
                <a:ea typeface="Calibri" pitchFamily="34" charset="-122"/>
                <a:cs typeface="Calibri" pitchFamily="34" charset="-120"/>
              </a:rPr>
              <a:t>Pagadas, pendientes</a:t>
            </a:r>
            <a:endParaRPr lang="en-US" sz="1550" dirty="0"/>
          </a:p>
          <a:p>
            <a:pPr indent="0" marL="0">
              <a:lnSpc>
                <a:spcPct val="135000"/>
              </a:lnSpc>
              <a:buNone/>
            </a:pPr>
            <a:r>
              <a:rPr lang="en-US" sz="1550" dirty="0">
                <a:solidFill>
                  <a:srgbClr val="78716C"/>
                </a:solidFill>
                <a:latin typeface="Calibri" pitchFamily="34" charset="0"/>
                <a:ea typeface="Calibri" pitchFamily="34" charset="-122"/>
                <a:cs typeface="Calibri" pitchFamily="34" charset="-120"/>
              </a:rPr>
              <a:t>y canceladas</a:t>
            </a:r>
            <a:endParaRPr lang="en-US" sz="15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58368" y="502920"/>
            <a:ext cx="10872216" cy="868680"/>
          </a:xfrm>
          <a:prstGeom prst="rect">
            <a:avLst/>
          </a:prstGeom>
          <a:noFill/>
          <a:ln/>
        </p:spPr>
        <p:txBody>
          <a:bodyPr wrap="square" lIns="0" tIns="0" rIns="0" bIns="0" rtlCol="0" anchor="ctr"/>
          <a:lstStyle/>
          <a:p>
            <a:pPr indent="0" marL="0">
              <a:buNone/>
            </a:pPr>
            <a:r>
              <a:rPr lang="en-US" sz="3600" b="1" dirty="0">
                <a:solidFill>
                  <a:srgbClr val="292524"/>
                </a:solidFill>
                <a:latin typeface="Cambria" pitchFamily="34" charset="0"/>
                <a:ea typeface="Cambria" pitchFamily="34" charset="-122"/>
                <a:cs typeface="Cambria" pitchFamily="34" charset="-120"/>
              </a:rPr>
              <a:t>Lo que usted gana</a:t>
            </a:r>
            <a:endParaRPr lang="en-US" sz="3600" dirty="0"/>
          </a:p>
        </p:txBody>
      </p:sp>
      <p:sp>
        <p:nvSpPr>
          <p:cNvPr id="3" name="Text 1"/>
          <p:cNvSpPr/>
          <p:nvPr/>
        </p:nvSpPr>
        <p:spPr>
          <a:xfrm>
            <a:off x="658368" y="1389888"/>
            <a:ext cx="10872216" cy="438912"/>
          </a:xfrm>
          <a:prstGeom prst="rect">
            <a:avLst/>
          </a:prstGeom>
          <a:noFill/>
          <a:ln/>
        </p:spPr>
        <p:txBody>
          <a:bodyPr wrap="square" lIns="0" tIns="0" rIns="0" bIns="0" rtlCol="0" anchor="t"/>
          <a:lstStyle/>
          <a:p>
            <a:pPr indent="0" marL="0">
              <a:buNone/>
            </a:pPr>
            <a:r>
              <a:rPr lang="en-US" sz="1600" i="1" dirty="0">
                <a:solidFill>
                  <a:srgbClr val="78716C"/>
                </a:solidFill>
                <a:latin typeface="Calibri" pitchFamily="34" charset="0"/>
                <a:ea typeface="Calibri" pitchFamily="34" charset="-122"/>
                <a:cs typeface="Calibri" pitchFamily="34" charset="-120"/>
              </a:rPr>
              <a:t>Cuatro cosas concretas, desde el primer día.</a:t>
            </a:r>
            <a:endParaRPr lang="en-US" sz="1600" dirty="0"/>
          </a:p>
        </p:txBody>
      </p:sp>
      <p:sp>
        <p:nvSpPr>
          <p:cNvPr id="4" name="Shape 2"/>
          <p:cNvSpPr/>
          <p:nvPr/>
        </p:nvSpPr>
        <p:spPr>
          <a:xfrm>
            <a:off x="658368" y="2103120"/>
            <a:ext cx="5330952" cy="1737360"/>
          </a:xfrm>
          <a:prstGeom prst="roundRect">
            <a:avLst>
              <a:gd name="adj" fmla="val 5263"/>
            </a:avLst>
          </a:prstGeom>
          <a:solidFill>
            <a:srgbClr val="FAFAF9"/>
          </a:solidFill>
          <a:ln w="12700">
            <a:solidFill>
              <a:srgbClr val="E7E5E4"/>
            </a:solidFill>
            <a:prstDash val="solid"/>
          </a:ln>
          <a:effectLst>
            <a:outerShdw sx="100000" sy="100000" kx="0" ky="0" algn="bl" rotWithShape="0" blurRad="127000" dist="25400" dir="5400000">
              <a:srgbClr val="000000">
                <a:alpha val="8000"/>
              </a:srgbClr>
            </a:outerShdw>
          </a:effectLst>
        </p:spPr>
      </p:sp>
      <p:sp>
        <p:nvSpPr>
          <p:cNvPr id="5" name="Shape 3"/>
          <p:cNvSpPr/>
          <p:nvPr/>
        </p:nvSpPr>
        <p:spPr>
          <a:xfrm>
            <a:off x="969264" y="2377440"/>
            <a:ext cx="420624" cy="420624"/>
          </a:xfrm>
          <a:prstGeom prst="ellipse">
            <a:avLst/>
          </a:prstGeom>
          <a:solidFill>
            <a:srgbClr val="D97706"/>
          </a:solidFill>
          <a:ln w="12700">
            <a:solidFill>
              <a:srgbClr val="333333"/>
            </a:solidFill>
            <a:prstDash val="solid"/>
          </a:ln>
        </p:spPr>
      </p:sp>
      <p:sp>
        <p:nvSpPr>
          <p:cNvPr id="6" name="Text 4"/>
          <p:cNvSpPr/>
          <p:nvPr/>
        </p:nvSpPr>
        <p:spPr>
          <a:xfrm>
            <a:off x="969264" y="2377440"/>
            <a:ext cx="420624" cy="420624"/>
          </a:xfrm>
          <a:prstGeom prst="rect">
            <a:avLst/>
          </a:prstGeom>
          <a:noFill/>
          <a:ln/>
        </p:spPr>
        <p:txBody>
          <a:bodyPr wrap="square" lIns="0" tIns="0" rIns="0" bIns="0"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1</a:t>
            </a:r>
            <a:endParaRPr lang="en-US" sz="1700" dirty="0"/>
          </a:p>
        </p:txBody>
      </p:sp>
      <p:sp>
        <p:nvSpPr>
          <p:cNvPr id="7" name="Text 5"/>
          <p:cNvSpPr/>
          <p:nvPr/>
        </p:nvSpPr>
        <p:spPr>
          <a:xfrm>
            <a:off x="1572768" y="2340864"/>
            <a:ext cx="4114800" cy="493776"/>
          </a:xfrm>
          <a:prstGeom prst="rect">
            <a:avLst/>
          </a:prstGeom>
          <a:noFill/>
          <a:ln/>
        </p:spPr>
        <p:txBody>
          <a:bodyPr wrap="square" lIns="0" tIns="0" rIns="0" bIns="0" rtlCol="0" anchor="ctr"/>
          <a:lstStyle/>
          <a:p>
            <a:pPr indent="0" marL="0">
              <a:buNone/>
            </a:pPr>
            <a:r>
              <a:rPr lang="en-US" sz="2100" b="1" dirty="0">
                <a:solidFill>
                  <a:srgbClr val="292524"/>
                </a:solidFill>
                <a:latin typeface="Cambria" pitchFamily="34" charset="0"/>
                <a:ea typeface="Cambria" pitchFamily="34" charset="-122"/>
                <a:cs typeface="Cambria" pitchFamily="34" charset="-120"/>
              </a:rPr>
              <a:t>Cuentas exactas</a:t>
            </a:r>
            <a:endParaRPr lang="en-US" sz="2100" dirty="0"/>
          </a:p>
        </p:txBody>
      </p:sp>
      <p:sp>
        <p:nvSpPr>
          <p:cNvPr id="8" name="Text 6"/>
          <p:cNvSpPr/>
          <p:nvPr/>
        </p:nvSpPr>
        <p:spPr>
          <a:xfrm>
            <a:off x="987552" y="2962656"/>
            <a:ext cx="4709160" cy="777240"/>
          </a:xfrm>
          <a:prstGeom prst="rect">
            <a:avLst/>
          </a:prstGeom>
          <a:noFill/>
          <a:ln/>
        </p:spPr>
        <p:txBody>
          <a:bodyPr wrap="square" lIns="0" tIns="0" rIns="0" bIns="0" rtlCol="0" anchor="t"/>
          <a:lstStyle/>
          <a:p>
            <a:pPr indent="0" marL="0">
              <a:buNone/>
            </a:pPr>
            <a:r>
              <a:rPr lang="en-US" sz="1450" dirty="0">
                <a:solidFill>
                  <a:srgbClr val="78716C"/>
                </a:solidFill>
                <a:latin typeface="Calibri" pitchFamily="34" charset="0"/>
                <a:ea typeface="Calibri" pitchFamily="34" charset="-122"/>
                <a:cs typeface="Calibri" pitchFamily="34" charset="-120"/>
              </a:rPr>
              <a:t>El total lo calcula el sistema. La caja cuadra al centavo, todos los días.</a:t>
            </a:r>
            <a:endParaRPr lang="en-US" sz="1450" dirty="0"/>
          </a:p>
        </p:txBody>
      </p:sp>
      <p:sp>
        <p:nvSpPr>
          <p:cNvPr id="9" name="Shape 7"/>
          <p:cNvSpPr/>
          <p:nvPr/>
        </p:nvSpPr>
        <p:spPr>
          <a:xfrm>
            <a:off x="6199632" y="2103120"/>
            <a:ext cx="5330952" cy="1737360"/>
          </a:xfrm>
          <a:prstGeom prst="roundRect">
            <a:avLst>
              <a:gd name="adj" fmla="val 5263"/>
            </a:avLst>
          </a:prstGeom>
          <a:solidFill>
            <a:srgbClr val="FAFAF9"/>
          </a:solidFill>
          <a:ln w="12700">
            <a:solidFill>
              <a:srgbClr val="E7E5E4"/>
            </a:solidFill>
            <a:prstDash val="solid"/>
          </a:ln>
          <a:effectLst>
            <a:outerShdw sx="100000" sy="100000" kx="0" ky="0" algn="bl" rotWithShape="0" blurRad="127000" dist="25400" dir="5400000">
              <a:srgbClr val="000000">
                <a:alpha val="8000"/>
              </a:srgbClr>
            </a:outerShdw>
          </a:effectLst>
        </p:spPr>
      </p:sp>
      <p:sp>
        <p:nvSpPr>
          <p:cNvPr id="10" name="Shape 8"/>
          <p:cNvSpPr/>
          <p:nvPr/>
        </p:nvSpPr>
        <p:spPr>
          <a:xfrm>
            <a:off x="6510528" y="2377440"/>
            <a:ext cx="420624" cy="420624"/>
          </a:xfrm>
          <a:prstGeom prst="ellipse">
            <a:avLst/>
          </a:prstGeom>
          <a:solidFill>
            <a:srgbClr val="D97706"/>
          </a:solidFill>
          <a:ln w="12700">
            <a:solidFill>
              <a:srgbClr val="333333"/>
            </a:solidFill>
            <a:prstDash val="solid"/>
          </a:ln>
        </p:spPr>
      </p:sp>
      <p:sp>
        <p:nvSpPr>
          <p:cNvPr id="11" name="Text 9"/>
          <p:cNvSpPr/>
          <p:nvPr/>
        </p:nvSpPr>
        <p:spPr>
          <a:xfrm>
            <a:off x="6510528" y="2377440"/>
            <a:ext cx="420624" cy="420624"/>
          </a:xfrm>
          <a:prstGeom prst="rect">
            <a:avLst/>
          </a:prstGeom>
          <a:noFill/>
          <a:ln/>
        </p:spPr>
        <p:txBody>
          <a:bodyPr wrap="square" lIns="0" tIns="0" rIns="0" bIns="0"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2</a:t>
            </a:r>
            <a:endParaRPr lang="en-US" sz="1700" dirty="0"/>
          </a:p>
        </p:txBody>
      </p:sp>
      <p:sp>
        <p:nvSpPr>
          <p:cNvPr id="12" name="Text 10"/>
          <p:cNvSpPr/>
          <p:nvPr/>
        </p:nvSpPr>
        <p:spPr>
          <a:xfrm>
            <a:off x="7114032" y="2340864"/>
            <a:ext cx="4114800" cy="493776"/>
          </a:xfrm>
          <a:prstGeom prst="rect">
            <a:avLst/>
          </a:prstGeom>
          <a:noFill/>
          <a:ln/>
        </p:spPr>
        <p:txBody>
          <a:bodyPr wrap="square" lIns="0" tIns="0" rIns="0" bIns="0" rtlCol="0" anchor="ctr"/>
          <a:lstStyle/>
          <a:p>
            <a:pPr indent="0" marL="0">
              <a:buNone/>
            </a:pPr>
            <a:r>
              <a:rPr lang="en-US" sz="2100" b="1" dirty="0">
                <a:solidFill>
                  <a:srgbClr val="292524"/>
                </a:solidFill>
                <a:latin typeface="Cambria" pitchFamily="34" charset="0"/>
                <a:ea typeface="Cambria" pitchFamily="34" charset="-122"/>
                <a:cs typeface="Cambria" pitchFamily="34" charset="-120"/>
              </a:rPr>
              <a:t>Nada se pierde</a:t>
            </a:r>
            <a:endParaRPr lang="en-US" sz="2100" dirty="0"/>
          </a:p>
        </p:txBody>
      </p:sp>
      <p:sp>
        <p:nvSpPr>
          <p:cNvPr id="13" name="Text 11"/>
          <p:cNvSpPr/>
          <p:nvPr/>
        </p:nvSpPr>
        <p:spPr>
          <a:xfrm>
            <a:off x="6528816" y="2962656"/>
            <a:ext cx="4709160" cy="777240"/>
          </a:xfrm>
          <a:prstGeom prst="rect">
            <a:avLst/>
          </a:prstGeom>
          <a:noFill/>
          <a:ln/>
        </p:spPr>
        <p:txBody>
          <a:bodyPr wrap="square" lIns="0" tIns="0" rIns="0" bIns="0" rtlCol="0" anchor="t"/>
          <a:lstStyle/>
          <a:p>
            <a:pPr indent="0" marL="0">
              <a:buNone/>
            </a:pPr>
            <a:r>
              <a:rPr lang="en-US" sz="1450" dirty="0">
                <a:solidFill>
                  <a:srgbClr val="78716C"/>
                </a:solidFill>
                <a:latin typeface="Calibri" pitchFamily="34" charset="0"/>
                <a:ea typeface="Calibri" pitchFamily="34" charset="-122"/>
                <a:cs typeface="Calibri" pitchFamily="34" charset="-120"/>
              </a:rPr>
              <a:t>El pedido queda guardado al instante. No hay hoja que se arrugue ni se moje.</a:t>
            </a:r>
            <a:endParaRPr lang="en-US" sz="1450" dirty="0"/>
          </a:p>
        </p:txBody>
      </p:sp>
      <p:sp>
        <p:nvSpPr>
          <p:cNvPr id="14" name="Shape 12"/>
          <p:cNvSpPr/>
          <p:nvPr/>
        </p:nvSpPr>
        <p:spPr>
          <a:xfrm>
            <a:off x="658368" y="4023360"/>
            <a:ext cx="5330952" cy="1737360"/>
          </a:xfrm>
          <a:prstGeom prst="roundRect">
            <a:avLst>
              <a:gd name="adj" fmla="val 5263"/>
            </a:avLst>
          </a:prstGeom>
          <a:solidFill>
            <a:srgbClr val="FAFAF9"/>
          </a:solidFill>
          <a:ln w="12700">
            <a:solidFill>
              <a:srgbClr val="E7E5E4"/>
            </a:solidFill>
            <a:prstDash val="solid"/>
          </a:ln>
          <a:effectLst>
            <a:outerShdw sx="100000" sy="100000" kx="0" ky="0" algn="bl" rotWithShape="0" blurRad="127000" dist="25400" dir="5400000">
              <a:srgbClr val="000000">
                <a:alpha val="8000"/>
              </a:srgbClr>
            </a:outerShdw>
          </a:effectLst>
        </p:spPr>
      </p:sp>
      <p:sp>
        <p:nvSpPr>
          <p:cNvPr id="15" name="Shape 13"/>
          <p:cNvSpPr/>
          <p:nvPr/>
        </p:nvSpPr>
        <p:spPr>
          <a:xfrm>
            <a:off x="969264" y="4297680"/>
            <a:ext cx="420624" cy="420624"/>
          </a:xfrm>
          <a:prstGeom prst="ellipse">
            <a:avLst/>
          </a:prstGeom>
          <a:solidFill>
            <a:srgbClr val="D97706"/>
          </a:solidFill>
          <a:ln w="12700">
            <a:solidFill>
              <a:srgbClr val="333333"/>
            </a:solidFill>
            <a:prstDash val="solid"/>
          </a:ln>
        </p:spPr>
      </p:sp>
      <p:sp>
        <p:nvSpPr>
          <p:cNvPr id="16" name="Text 14"/>
          <p:cNvSpPr/>
          <p:nvPr/>
        </p:nvSpPr>
        <p:spPr>
          <a:xfrm>
            <a:off x="969264" y="4297680"/>
            <a:ext cx="420624" cy="420624"/>
          </a:xfrm>
          <a:prstGeom prst="rect">
            <a:avLst/>
          </a:prstGeom>
          <a:noFill/>
          <a:ln/>
        </p:spPr>
        <p:txBody>
          <a:bodyPr wrap="square" lIns="0" tIns="0" rIns="0" bIns="0"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3</a:t>
            </a:r>
            <a:endParaRPr lang="en-US" sz="1700" dirty="0"/>
          </a:p>
        </p:txBody>
      </p:sp>
      <p:sp>
        <p:nvSpPr>
          <p:cNvPr id="17" name="Text 15"/>
          <p:cNvSpPr/>
          <p:nvPr/>
        </p:nvSpPr>
        <p:spPr>
          <a:xfrm>
            <a:off x="1572768" y="4261104"/>
            <a:ext cx="4114800" cy="493776"/>
          </a:xfrm>
          <a:prstGeom prst="rect">
            <a:avLst/>
          </a:prstGeom>
          <a:noFill/>
          <a:ln/>
        </p:spPr>
        <p:txBody>
          <a:bodyPr wrap="square" lIns="0" tIns="0" rIns="0" bIns="0" rtlCol="0" anchor="ctr"/>
          <a:lstStyle/>
          <a:p>
            <a:pPr indent="0" marL="0">
              <a:buNone/>
            </a:pPr>
            <a:r>
              <a:rPr lang="en-US" sz="2100" b="1" dirty="0">
                <a:solidFill>
                  <a:srgbClr val="292524"/>
                </a:solidFill>
                <a:latin typeface="Cambria" pitchFamily="34" charset="0"/>
                <a:ea typeface="Cambria" pitchFamily="34" charset="-122"/>
                <a:cs typeface="Cambria" pitchFamily="34" charset="-120"/>
              </a:rPr>
              <a:t>Precios al día</a:t>
            </a:r>
            <a:endParaRPr lang="en-US" sz="2100" dirty="0"/>
          </a:p>
        </p:txBody>
      </p:sp>
      <p:sp>
        <p:nvSpPr>
          <p:cNvPr id="18" name="Text 16"/>
          <p:cNvSpPr/>
          <p:nvPr/>
        </p:nvSpPr>
        <p:spPr>
          <a:xfrm>
            <a:off x="987552" y="4882896"/>
            <a:ext cx="4709160" cy="777240"/>
          </a:xfrm>
          <a:prstGeom prst="rect">
            <a:avLst/>
          </a:prstGeom>
          <a:noFill/>
          <a:ln/>
        </p:spPr>
        <p:txBody>
          <a:bodyPr wrap="square" lIns="0" tIns="0" rIns="0" bIns="0" rtlCol="0" anchor="t"/>
          <a:lstStyle/>
          <a:p>
            <a:pPr indent="0" marL="0">
              <a:buNone/>
            </a:pPr>
            <a:r>
              <a:rPr lang="en-US" sz="1450" dirty="0">
                <a:solidFill>
                  <a:srgbClr val="78716C"/>
                </a:solidFill>
                <a:latin typeface="Calibri" pitchFamily="34" charset="0"/>
                <a:ea typeface="Calibri" pitchFamily="34" charset="-122"/>
                <a:cs typeface="Calibri" pitchFamily="34" charset="-120"/>
              </a:rPr>
              <a:t>Cambia un precio una vez, y a partir de ahí cobran igual todos los que atienden.</a:t>
            </a:r>
            <a:endParaRPr lang="en-US" sz="1450" dirty="0"/>
          </a:p>
        </p:txBody>
      </p:sp>
      <p:sp>
        <p:nvSpPr>
          <p:cNvPr id="19" name="Shape 17"/>
          <p:cNvSpPr/>
          <p:nvPr/>
        </p:nvSpPr>
        <p:spPr>
          <a:xfrm>
            <a:off x="6199632" y="4023360"/>
            <a:ext cx="5330952" cy="1737360"/>
          </a:xfrm>
          <a:prstGeom prst="roundRect">
            <a:avLst>
              <a:gd name="adj" fmla="val 5263"/>
            </a:avLst>
          </a:prstGeom>
          <a:solidFill>
            <a:srgbClr val="FAFAF9"/>
          </a:solidFill>
          <a:ln w="12700">
            <a:solidFill>
              <a:srgbClr val="E7E5E4"/>
            </a:solidFill>
            <a:prstDash val="solid"/>
          </a:ln>
          <a:effectLst>
            <a:outerShdw sx="100000" sy="100000" kx="0" ky="0" algn="bl" rotWithShape="0" blurRad="127000" dist="25400" dir="5400000">
              <a:srgbClr val="000000">
                <a:alpha val="8000"/>
              </a:srgbClr>
            </a:outerShdw>
          </a:effectLst>
        </p:spPr>
      </p:sp>
      <p:sp>
        <p:nvSpPr>
          <p:cNvPr id="20" name="Shape 18"/>
          <p:cNvSpPr/>
          <p:nvPr/>
        </p:nvSpPr>
        <p:spPr>
          <a:xfrm>
            <a:off x="6510528" y="4297680"/>
            <a:ext cx="420624" cy="420624"/>
          </a:xfrm>
          <a:prstGeom prst="ellipse">
            <a:avLst/>
          </a:prstGeom>
          <a:solidFill>
            <a:srgbClr val="D97706"/>
          </a:solidFill>
          <a:ln w="12700">
            <a:solidFill>
              <a:srgbClr val="333333"/>
            </a:solidFill>
            <a:prstDash val="solid"/>
          </a:ln>
        </p:spPr>
      </p:sp>
      <p:sp>
        <p:nvSpPr>
          <p:cNvPr id="21" name="Text 19"/>
          <p:cNvSpPr/>
          <p:nvPr/>
        </p:nvSpPr>
        <p:spPr>
          <a:xfrm>
            <a:off x="6510528" y="4297680"/>
            <a:ext cx="420624" cy="420624"/>
          </a:xfrm>
          <a:prstGeom prst="rect">
            <a:avLst/>
          </a:prstGeom>
          <a:noFill/>
          <a:ln/>
        </p:spPr>
        <p:txBody>
          <a:bodyPr wrap="square" lIns="0" tIns="0" rIns="0" bIns="0"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4</a:t>
            </a:r>
            <a:endParaRPr lang="en-US" sz="1700" dirty="0"/>
          </a:p>
        </p:txBody>
      </p:sp>
      <p:sp>
        <p:nvSpPr>
          <p:cNvPr id="22" name="Text 20"/>
          <p:cNvSpPr/>
          <p:nvPr/>
        </p:nvSpPr>
        <p:spPr>
          <a:xfrm>
            <a:off x="7114032" y="4261104"/>
            <a:ext cx="4114800" cy="493776"/>
          </a:xfrm>
          <a:prstGeom prst="rect">
            <a:avLst/>
          </a:prstGeom>
          <a:noFill/>
          <a:ln/>
        </p:spPr>
        <p:txBody>
          <a:bodyPr wrap="square" lIns="0" tIns="0" rIns="0" bIns="0" rtlCol="0" anchor="ctr"/>
          <a:lstStyle/>
          <a:p>
            <a:pPr indent="0" marL="0">
              <a:buNone/>
            </a:pPr>
            <a:r>
              <a:rPr lang="en-US" sz="2100" b="1" dirty="0">
                <a:solidFill>
                  <a:srgbClr val="292524"/>
                </a:solidFill>
                <a:latin typeface="Cambria" pitchFamily="34" charset="0"/>
                <a:ea typeface="Cambria" pitchFamily="34" charset="-122"/>
                <a:cs typeface="Cambria" pitchFamily="34" charset="-120"/>
              </a:rPr>
              <a:t>Historial completo</a:t>
            </a:r>
            <a:endParaRPr lang="en-US" sz="2100" dirty="0"/>
          </a:p>
        </p:txBody>
      </p:sp>
      <p:sp>
        <p:nvSpPr>
          <p:cNvPr id="23" name="Text 21"/>
          <p:cNvSpPr/>
          <p:nvPr/>
        </p:nvSpPr>
        <p:spPr>
          <a:xfrm>
            <a:off x="6528816" y="4882896"/>
            <a:ext cx="4709160" cy="777240"/>
          </a:xfrm>
          <a:prstGeom prst="rect">
            <a:avLst/>
          </a:prstGeom>
          <a:noFill/>
          <a:ln/>
        </p:spPr>
        <p:txBody>
          <a:bodyPr wrap="square" lIns="0" tIns="0" rIns="0" bIns="0" rtlCol="0" anchor="t"/>
          <a:lstStyle/>
          <a:p>
            <a:pPr indent="0" marL="0">
              <a:buNone/>
            </a:pPr>
            <a:r>
              <a:rPr lang="en-US" sz="1450" dirty="0">
                <a:solidFill>
                  <a:srgbClr val="78716C"/>
                </a:solidFill>
                <a:latin typeface="Calibri" pitchFamily="34" charset="0"/>
                <a:ea typeface="Calibri" pitchFamily="34" charset="-122"/>
                <a:cs typeface="Calibri" pitchFamily="34" charset="-120"/>
              </a:rPr>
              <a:t>Qué se vendió, cuándo y cómo se pagó. Para decidir con datos y no de memoria.</a:t>
            </a:r>
            <a:endParaRPr lang="en-US" sz="14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58368" y="502920"/>
            <a:ext cx="10872216" cy="868680"/>
          </a:xfrm>
          <a:prstGeom prst="rect">
            <a:avLst/>
          </a:prstGeom>
          <a:noFill/>
          <a:ln/>
        </p:spPr>
        <p:txBody>
          <a:bodyPr wrap="square" lIns="0" tIns="0" rIns="0" bIns="0" rtlCol="0" anchor="ctr"/>
          <a:lstStyle/>
          <a:p>
            <a:pPr indent="0" marL="0">
              <a:buNone/>
            </a:pPr>
            <a:r>
              <a:rPr lang="en-US" sz="3600" b="1" dirty="0">
                <a:solidFill>
                  <a:srgbClr val="292524"/>
                </a:solidFill>
                <a:latin typeface="Cambria" pitchFamily="34" charset="0"/>
                <a:ea typeface="Cambria" pitchFamily="34" charset="-122"/>
                <a:cs typeface="Cambria" pitchFamily="34" charset="-120"/>
              </a:rPr>
              <a:t>Lo que no tiene que cambiar</a:t>
            </a:r>
            <a:endParaRPr lang="en-US" sz="3600" dirty="0"/>
          </a:p>
        </p:txBody>
      </p:sp>
      <p:sp>
        <p:nvSpPr>
          <p:cNvPr id="3" name="Text 1"/>
          <p:cNvSpPr/>
          <p:nvPr/>
        </p:nvSpPr>
        <p:spPr>
          <a:xfrm>
            <a:off x="658368" y="1389888"/>
            <a:ext cx="10872216" cy="438912"/>
          </a:xfrm>
          <a:prstGeom prst="rect">
            <a:avLst/>
          </a:prstGeom>
          <a:noFill/>
          <a:ln/>
        </p:spPr>
        <p:txBody>
          <a:bodyPr wrap="square" lIns="0" tIns="0" rIns="0" bIns="0" rtlCol="0" anchor="t"/>
          <a:lstStyle/>
          <a:p>
            <a:pPr indent="0" marL="0">
              <a:buNone/>
            </a:pPr>
            <a:r>
              <a:rPr lang="en-US" sz="1600" i="1" dirty="0">
                <a:solidFill>
                  <a:srgbClr val="78716C"/>
                </a:solidFill>
                <a:latin typeface="Calibri" pitchFamily="34" charset="0"/>
                <a:ea typeface="Calibri" pitchFamily="34" charset="-122"/>
                <a:cs typeface="Calibri" pitchFamily="34" charset="-120"/>
              </a:rPr>
              <a:t>Porque esta suele ser la verdadera pregunta.</a:t>
            </a:r>
            <a:endParaRPr lang="en-US" sz="1600" dirty="0"/>
          </a:p>
        </p:txBody>
      </p:sp>
      <p:sp>
        <p:nvSpPr>
          <p:cNvPr id="4" name="Shape 2"/>
          <p:cNvSpPr/>
          <p:nvPr/>
        </p:nvSpPr>
        <p:spPr>
          <a:xfrm>
            <a:off x="658368" y="2103120"/>
            <a:ext cx="10872216" cy="841248"/>
          </a:xfrm>
          <a:prstGeom prst="roundRect">
            <a:avLst>
              <a:gd name="adj" fmla="val 10870"/>
            </a:avLst>
          </a:prstGeom>
          <a:solidFill>
            <a:srgbClr val="FAFAF9"/>
          </a:solidFill>
          <a:ln w="12700">
            <a:solidFill>
              <a:srgbClr val="E7E5E4"/>
            </a:solidFill>
            <a:prstDash val="solid"/>
          </a:ln>
          <a:effectLst>
            <a:outerShdw sx="100000" sy="100000" kx="0" ky="0" algn="bl" rotWithShape="0" blurRad="127000" dist="25400" dir="5400000">
              <a:srgbClr val="000000">
                <a:alpha val="8000"/>
              </a:srgbClr>
            </a:outerShdw>
          </a:effectLst>
        </p:spPr>
      </p:sp>
      <p:sp>
        <p:nvSpPr>
          <p:cNvPr id="5" name="Text 3"/>
          <p:cNvSpPr/>
          <p:nvPr/>
        </p:nvSpPr>
        <p:spPr>
          <a:xfrm>
            <a:off x="932688" y="2103120"/>
            <a:ext cx="658368" cy="841248"/>
          </a:xfrm>
          <a:prstGeom prst="rect">
            <a:avLst/>
          </a:prstGeom>
          <a:noFill/>
          <a:ln/>
        </p:spPr>
        <p:txBody>
          <a:bodyPr wrap="square" lIns="0" tIns="0" rIns="0" bIns="0" rtlCol="0" anchor="ctr"/>
          <a:lstStyle/>
          <a:p>
            <a:pPr algn="ctr" indent="0" marL="0">
              <a:buNone/>
            </a:pPr>
            <a:r>
              <a:rPr lang="en-US" sz="1500" b="1" dirty="0">
                <a:solidFill>
                  <a:srgbClr val="D97706"/>
                </a:solidFill>
                <a:latin typeface="Calibri" pitchFamily="34" charset="0"/>
                <a:ea typeface="Calibri" pitchFamily="34" charset="-122"/>
                <a:cs typeface="Calibri" pitchFamily="34" charset="-120"/>
              </a:rPr>
              <a:t>NO</a:t>
            </a:r>
            <a:endParaRPr lang="en-US" sz="1500" dirty="0"/>
          </a:p>
        </p:txBody>
      </p:sp>
      <p:sp>
        <p:nvSpPr>
          <p:cNvPr id="6" name="Text 4"/>
          <p:cNvSpPr/>
          <p:nvPr/>
        </p:nvSpPr>
        <p:spPr>
          <a:xfrm>
            <a:off x="1709928" y="2103120"/>
            <a:ext cx="3017520" cy="841248"/>
          </a:xfrm>
          <a:prstGeom prst="rect">
            <a:avLst/>
          </a:prstGeom>
          <a:noFill/>
          <a:ln/>
        </p:spPr>
        <p:txBody>
          <a:bodyPr wrap="square" lIns="0" tIns="0" rIns="0" bIns="0" rtlCol="0" anchor="ctr"/>
          <a:lstStyle/>
          <a:p>
            <a:pPr indent="0" marL="0">
              <a:buNone/>
            </a:pPr>
            <a:r>
              <a:rPr lang="en-US" sz="1900" b="1" dirty="0">
                <a:solidFill>
                  <a:srgbClr val="292524"/>
                </a:solidFill>
                <a:latin typeface="Cambria" pitchFamily="34" charset="0"/>
                <a:ea typeface="Cambria" pitchFamily="34" charset="-122"/>
                <a:cs typeface="Cambria" pitchFamily="34" charset="-120"/>
              </a:rPr>
              <a:t>Su forma de atender</a:t>
            </a:r>
            <a:endParaRPr lang="en-US" sz="1900" dirty="0"/>
          </a:p>
        </p:txBody>
      </p:sp>
      <p:sp>
        <p:nvSpPr>
          <p:cNvPr id="7" name="Text 5"/>
          <p:cNvSpPr/>
          <p:nvPr/>
        </p:nvSpPr>
        <p:spPr>
          <a:xfrm>
            <a:off x="4864608" y="2103120"/>
            <a:ext cx="6355080" cy="841248"/>
          </a:xfrm>
          <a:prstGeom prst="rect">
            <a:avLst/>
          </a:prstGeom>
          <a:noFill/>
          <a:ln/>
        </p:spPr>
        <p:txBody>
          <a:bodyPr wrap="square" lIns="0" tIns="0" rIns="0" bIns="0" rtlCol="0" anchor="ctr"/>
          <a:lstStyle/>
          <a:p>
            <a:pPr indent="0" marL="0">
              <a:buNone/>
            </a:pPr>
            <a:r>
              <a:rPr lang="en-US" sz="1450" dirty="0">
                <a:solidFill>
                  <a:srgbClr val="78716C"/>
                </a:solidFill>
                <a:latin typeface="Calibri" pitchFamily="34" charset="0"/>
                <a:ea typeface="Calibri" pitchFamily="34" charset="-122"/>
                <a:cs typeface="Calibri" pitchFamily="34" charset="-120"/>
              </a:rPr>
              <a:t>Sigue tomando la orden igual. Solo la escribe en una pantalla en vez de una hoja.</a:t>
            </a:r>
            <a:endParaRPr lang="en-US" sz="1450" dirty="0"/>
          </a:p>
        </p:txBody>
      </p:sp>
      <p:sp>
        <p:nvSpPr>
          <p:cNvPr id="8" name="Shape 6"/>
          <p:cNvSpPr/>
          <p:nvPr/>
        </p:nvSpPr>
        <p:spPr>
          <a:xfrm>
            <a:off x="658368" y="3063240"/>
            <a:ext cx="10872216" cy="841248"/>
          </a:xfrm>
          <a:prstGeom prst="roundRect">
            <a:avLst>
              <a:gd name="adj" fmla="val 10870"/>
            </a:avLst>
          </a:prstGeom>
          <a:solidFill>
            <a:srgbClr val="FAFAF9"/>
          </a:solidFill>
          <a:ln w="12700">
            <a:solidFill>
              <a:srgbClr val="E7E5E4"/>
            </a:solidFill>
            <a:prstDash val="solid"/>
          </a:ln>
          <a:effectLst>
            <a:outerShdw sx="100000" sy="100000" kx="0" ky="0" algn="bl" rotWithShape="0" blurRad="127000" dist="25400" dir="5400000">
              <a:srgbClr val="000000">
                <a:alpha val="8000"/>
              </a:srgbClr>
            </a:outerShdw>
          </a:effectLst>
        </p:spPr>
      </p:sp>
      <p:sp>
        <p:nvSpPr>
          <p:cNvPr id="9" name="Text 7"/>
          <p:cNvSpPr/>
          <p:nvPr/>
        </p:nvSpPr>
        <p:spPr>
          <a:xfrm>
            <a:off x="932688" y="3063240"/>
            <a:ext cx="658368" cy="841248"/>
          </a:xfrm>
          <a:prstGeom prst="rect">
            <a:avLst/>
          </a:prstGeom>
          <a:noFill/>
          <a:ln/>
        </p:spPr>
        <p:txBody>
          <a:bodyPr wrap="square" lIns="0" tIns="0" rIns="0" bIns="0" rtlCol="0" anchor="ctr"/>
          <a:lstStyle/>
          <a:p>
            <a:pPr algn="ctr" indent="0" marL="0">
              <a:buNone/>
            </a:pPr>
            <a:r>
              <a:rPr lang="en-US" sz="1500" b="1" dirty="0">
                <a:solidFill>
                  <a:srgbClr val="D97706"/>
                </a:solidFill>
                <a:latin typeface="Calibri" pitchFamily="34" charset="0"/>
                <a:ea typeface="Calibri" pitchFamily="34" charset="-122"/>
                <a:cs typeface="Calibri" pitchFamily="34" charset="-120"/>
              </a:rPr>
              <a:t>NO</a:t>
            </a:r>
            <a:endParaRPr lang="en-US" sz="1500" dirty="0"/>
          </a:p>
        </p:txBody>
      </p:sp>
      <p:sp>
        <p:nvSpPr>
          <p:cNvPr id="10" name="Text 8"/>
          <p:cNvSpPr/>
          <p:nvPr/>
        </p:nvSpPr>
        <p:spPr>
          <a:xfrm>
            <a:off x="1709928" y="3063240"/>
            <a:ext cx="3017520" cy="841248"/>
          </a:xfrm>
          <a:prstGeom prst="rect">
            <a:avLst/>
          </a:prstGeom>
          <a:noFill/>
          <a:ln/>
        </p:spPr>
        <p:txBody>
          <a:bodyPr wrap="square" lIns="0" tIns="0" rIns="0" bIns="0" rtlCol="0" anchor="ctr"/>
          <a:lstStyle/>
          <a:p>
            <a:pPr indent="0" marL="0">
              <a:buNone/>
            </a:pPr>
            <a:r>
              <a:rPr lang="en-US" sz="1900" b="1" dirty="0">
                <a:solidFill>
                  <a:srgbClr val="292524"/>
                </a:solidFill>
                <a:latin typeface="Cambria" pitchFamily="34" charset="0"/>
                <a:ea typeface="Cambria" pitchFamily="34" charset="-122"/>
                <a:cs typeface="Cambria" pitchFamily="34" charset="-120"/>
              </a:rPr>
              <a:t>Su personal</a:t>
            </a:r>
            <a:endParaRPr lang="en-US" sz="1900" dirty="0"/>
          </a:p>
        </p:txBody>
      </p:sp>
      <p:sp>
        <p:nvSpPr>
          <p:cNvPr id="11" name="Text 9"/>
          <p:cNvSpPr/>
          <p:nvPr/>
        </p:nvSpPr>
        <p:spPr>
          <a:xfrm>
            <a:off x="4864608" y="3063240"/>
            <a:ext cx="6355080" cy="841248"/>
          </a:xfrm>
          <a:prstGeom prst="rect">
            <a:avLst/>
          </a:prstGeom>
          <a:noFill/>
          <a:ln/>
        </p:spPr>
        <p:txBody>
          <a:bodyPr wrap="square" lIns="0" tIns="0" rIns="0" bIns="0" rtlCol="0" anchor="ctr"/>
          <a:lstStyle/>
          <a:p>
            <a:pPr indent="0" marL="0">
              <a:buNone/>
            </a:pPr>
            <a:r>
              <a:rPr lang="en-US" sz="1450" dirty="0">
                <a:solidFill>
                  <a:srgbClr val="78716C"/>
                </a:solidFill>
                <a:latin typeface="Calibri" pitchFamily="34" charset="0"/>
                <a:ea typeface="Calibri" pitchFamily="34" charset="-122"/>
                <a:cs typeface="Calibri" pitchFamily="34" charset="-120"/>
              </a:rPr>
              <a:t>No hay que capacitar a nadie. Tres pantallas, quince minutos y ya está trabajando.</a:t>
            </a:r>
            <a:endParaRPr lang="en-US" sz="1450" dirty="0"/>
          </a:p>
        </p:txBody>
      </p:sp>
      <p:sp>
        <p:nvSpPr>
          <p:cNvPr id="12" name="Shape 10"/>
          <p:cNvSpPr/>
          <p:nvPr/>
        </p:nvSpPr>
        <p:spPr>
          <a:xfrm>
            <a:off x="658368" y="4023360"/>
            <a:ext cx="10872216" cy="841248"/>
          </a:xfrm>
          <a:prstGeom prst="roundRect">
            <a:avLst>
              <a:gd name="adj" fmla="val 10870"/>
            </a:avLst>
          </a:prstGeom>
          <a:solidFill>
            <a:srgbClr val="FAFAF9"/>
          </a:solidFill>
          <a:ln w="12700">
            <a:solidFill>
              <a:srgbClr val="E7E5E4"/>
            </a:solidFill>
            <a:prstDash val="solid"/>
          </a:ln>
          <a:effectLst>
            <a:outerShdw sx="100000" sy="100000" kx="0" ky="0" algn="bl" rotWithShape="0" blurRad="127000" dist="25400" dir="5400000">
              <a:srgbClr val="000000">
                <a:alpha val="8000"/>
              </a:srgbClr>
            </a:outerShdw>
          </a:effectLst>
        </p:spPr>
      </p:sp>
      <p:sp>
        <p:nvSpPr>
          <p:cNvPr id="13" name="Text 11"/>
          <p:cNvSpPr/>
          <p:nvPr/>
        </p:nvSpPr>
        <p:spPr>
          <a:xfrm>
            <a:off x="932688" y="4023360"/>
            <a:ext cx="658368" cy="841248"/>
          </a:xfrm>
          <a:prstGeom prst="rect">
            <a:avLst/>
          </a:prstGeom>
          <a:noFill/>
          <a:ln/>
        </p:spPr>
        <p:txBody>
          <a:bodyPr wrap="square" lIns="0" tIns="0" rIns="0" bIns="0" rtlCol="0" anchor="ctr"/>
          <a:lstStyle/>
          <a:p>
            <a:pPr algn="ctr" indent="0" marL="0">
              <a:buNone/>
            </a:pPr>
            <a:r>
              <a:rPr lang="en-US" sz="1500" b="1" dirty="0">
                <a:solidFill>
                  <a:srgbClr val="D97706"/>
                </a:solidFill>
                <a:latin typeface="Calibri" pitchFamily="34" charset="0"/>
                <a:ea typeface="Calibri" pitchFamily="34" charset="-122"/>
                <a:cs typeface="Calibri" pitchFamily="34" charset="-120"/>
              </a:rPr>
              <a:t>NO</a:t>
            </a:r>
            <a:endParaRPr lang="en-US" sz="1500" dirty="0"/>
          </a:p>
        </p:txBody>
      </p:sp>
      <p:sp>
        <p:nvSpPr>
          <p:cNvPr id="14" name="Text 12"/>
          <p:cNvSpPr/>
          <p:nvPr/>
        </p:nvSpPr>
        <p:spPr>
          <a:xfrm>
            <a:off x="1709928" y="4023360"/>
            <a:ext cx="3017520" cy="841248"/>
          </a:xfrm>
          <a:prstGeom prst="rect">
            <a:avLst/>
          </a:prstGeom>
          <a:noFill/>
          <a:ln/>
        </p:spPr>
        <p:txBody>
          <a:bodyPr wrap="square" lIns="0" tIns="0" rIns="0" bIns="0" rtlCol="0" anchor="ctr"/>
          <a:lstStyle/>
          <a:p>
            <a:pPr indent="0" marL="0">
              <a:buNone/>
            </a:pPr>
            <a:r>
              <a:rPr lang="en-US" sz="1900" b="1" dirty="0">
                <a:solidFill>
                  <a:srgbClr val="292524"/>
                </a:solidFill>
                <a:latin typeface="Cambria" pitchFamily="34" charset="0"/>
                <a:ea typeface="Cambria" pitchFamily="34" charset="-122"/>
                <a:cs typeface="Cambria" pitchFamily="34" charset="-120"/>
              </a:rPr>
              <a:t>Su equipo</a:t>
            </a:r>
            <a:endParaRPr lang="en-US" sz="1900" dirty="0"/>
          </a:p>
        </p:txBody>
      </p:sp>
      <p:sp>
        <p:nvSpPr>
          <p:cNvPr id="15" name="Text 13"/>
          <p:cNvSpPr/>
          <p:nvPr/>
        </p:nvSpPr>
        <p:spPr>
          <a:xfrm>
            <a:off x="4864608" y="4023360"/>
            <a:ext cx="6355080" cy="841248"/>
          </a:xfrm>
          <a:prstGeom prst="rect">
            <a:avLst/>
          </a:prstGeom>
          <a:noFill/>
          <a:ln/>
        </p:spPr>
        <p:txBody>
          <a:bodyPr wrap="square" lIns="0" tIns="0" rIns="0" bIns="0" rtlCol="0" anchor="ctr"/>
          <a:lstStyle/>
          <a:p>
            <a:pPr indent="0" marL="0">
              <a:buNone/>
            </a:pPr>
            <a:r>
              <a:rPr lang="en-US" sz="1450" dirty="0">
                <a:solidFill>
                  <a:srgbClr val="78716C"/>
                </a:solidFill>
                <a:latin typeface="Calibri" pitchFamily="34" charset="0"/>
                <a:ea typeface="Calibri" pitchFamily="34" charset="-122"/>
                <a:cs typeface="Calibri" pitchFamily="34" charset="-120"/>
              </a:rPr>
              <a:t>Funciona en la computadora que ya tiene. No hace falta comprar nada especial.</a:t>
            </a:r>
            <a:endParaRPr lang="en-US" sz="1450" dirty="0"/>
          </a:p>
        </p:txBody>
      </p:sp>
      <p:sp>
        <p:nvSpPr>
          <p:cNvPr id="16" name="Shape 14"/>
          <p:cNvSpPr/>
          <p:nvPr/>
        </p:nvSpPr>
        <p:spPr>
          <a:xfrm>
            <a:off x="658368" y="4983480"/>
            <a:ext cx="10872216" cy="841248"/>
          </a:xfrm>
          <a:prstGeom prst="roundRect">
            <a:avLst>
              <a:gd name="adj" fmla="val 10870"/>
            </a:avLst>
          </a:prstGeom>
          <a:solidFill>
            <a:srgbClr val="FAFAF9"/>
          </a:solidFill>
          <a:ln w="12700">
            <a:solidFill>
              <a:srgbClr val="E7E5E4"/>
            </a:solidFill>
            <a:prstDash val="solid"/>
          </a:ln>
          <a:effectLst>
            <a:outerShdw sx="100000" sy="100000" kx="0" ky="0" algn="bl" rotWithShape="0" blurRad="127000" dist="25400" dir="5400000">
              <a:srgbClr val="000000">
                <a:alpha val="8000"/>
              </a:srgbClr>
            </a:outerShdw>
          </a:effectLst>
        </p:spPr>
      </p:sp>
      <p:sp>
        <p:nvSpPr>
          <p:cNvPr id="17" name="Text 15"/>
          <p:cNvSpPr/>
          <p:nvPr/>
        </p:nvSpPr>
        <p:spPr>
          <a:xfrm>
            <a:off x="932688" y="4983480"/>
            <a:ext cx="658368" cy="841248"/>
          </a:xfrm>
          <a:prstGeom prst="rect">
            <a:avLst/>
          </a:prstGeom>
          <a:noFill/>
          <a:ln/>
        </p:spPr>
        <p:txBody>
          <a:bodyPr wrap="square" lIns="0" tIns="0" rIns="0" bIns="0" rtlCol="0" anchor="ctr"/>
          <a:lstStyle/>
          <a:p>
            <a:pPr algn="ctr" indent="0" marL="0">
              <a:buNone/>
            </a:pPr>
            <a:r>
              <a:rPr lang="en-US" sz="1500" b="1" dirty="0">
                <a:solidFill>
                  <a:srgbClr val="D97706"/>
                </a:solidFill>
                <a:latin typeface="Calibri" pitchFamily="34" charset="0"/>
                <a:ea typeface="Calibri" pitchFamily="34" charset="-122"/>
                <a:cs typeface="Calibri" pitchFamily="34" charset="-120"/>
              </a:rPr>
              <a:t>NO</a:t>
            </a:r>
            <a:endParaRPr lang="en-US" sz="1500" dirty="0"/>
          </a:p>
        </p:txBody>
      </p:sp>
      <p:sp>
        <p:nvSpPr>
          <p:cNvPr id="18" name="Text 16"/>
          <p:cNvSpPr/>
          <p:nvPr/>
        </p:nvSpPr>
        <p:spPr>
          <a:xfrm>
            <a:off x="1709928" y="4983480"/>
            <a:ext cx="3017520" cy="841248"/>
          </a:xfrm>
          <a:prstGeom prst="rect">
            <a:avLst/>
          </a:prstGeom>
          <a:noFill/>
          <a:ln/>
        </p:spPr>
        <p:txBody>
          <a:bodyPr wrap="square" lIns="0" tIns="0" rIns="0" bIns="0" rtlCol="0" anchor="ctr"/>
          <a:lstStyle/>
          <a:p>
            <a:pPr indent="0" marL="0">
              <a:buNone/>
            </a:pPr>
            <a:r>
              <a:rPr lang="en-US" sz="1900" b="1" dirty="0">
                <a:solidFill>
                  <a:srgbClr val="292524"/>
                </a:solidFill>
                <a:latin typeface="Cambria" pitchFamily="34" charset="0"/>
                <a:ea typeface="Cambria" pitchFamily="34" charset="-122"/>
                <a:cs typeface="Cambria" pitchFamily="34" charset="-120"/>
              </a:rPr>
              <a:t>Su menú</a:t>
            </a:r>
            <a:endParaRPr lang="en-US" sz="1900" dirty="0"/>
          </a:p>
        </p:txBody>
      </p:sp>
      <p:sp>
        <p:nvSpPr>
          <p:cNvPr id="19" name="Text 17"/>
          <p:cNvSpPr/>
          <p:nvPr/>
        </p:nvSpPr>
        <p:spPr>
          <a:xfrm>
            <a:off x="4864608" y="4983480"/>
            <a:ext cx="6355080" cy="841248"/>
          </a:xfrm>
          <a:prstGeom prst="rect">
            <a:avLst/>
          </a:prstGeom>
          <a:noFill/>
          <a:ln/>
        </p:spPr>
        <p:txBody>
          <a:bodyPr wrap="square" lIns="0" tIns="0" rIns="0" bIns="0" rtlCol="0" anchor="ctr"/>
          <a:lstStyle/>
          <a:p>
            <a:pPr indent="0" marL="0">
              <a:buNone/>
            </a:pPr>
            <a:r>
              <a:rPr lang="en-US" sz="1450" dirty="0">
                <a:solidFill>
                  <a:srgbClr val="78716C"/>
                </a:solidFill>
                <a:latin typeface="Calibri" pitchFamily="34" charset="0"/>
                <a:ea typeface="Calibri" pitchFamily="34" charset="-122"/>
                <a:cs typeface="Calibri" pitchFamily="34" charset="-120"/>
              </a:rPr>
              <a:t>El catálogo se carga una vez, con sus productos y sus precios. Después solo se ajusta.</a:t>
            </a:r>
            <a:endParaRPr lang="en-US" sz="14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2B1B12"/>
        </a:solidFill>
      </p:bgPr>
    </p:bg>
    <p:spTree>
      <p:nvGrpSpPr>
        <p:cNvPr id="1" name=""/>
        <p:cNvGrpSpPr/>
        <p:nvPr/>
      </p:nvGrpSpPr>
      <p:grpSpPr>
        <a:xfrm>
          <a:off x="0" y="0"/>
          <a:ext cx="0" cy="0"/>
          <a:chOff x="0" y="0"/>
          <a:chExt cx="0" cy="0"/>
        </a:xfrm>
      </p:grpSpPr>
      <p:sp>
        <p:nvSpPr>
          <p:cNvPr id="2" name="Text 0"/>
          <p:cNvSpPr/>
          <p:nvPr/>
        </p:nvSpPr>
        <p:spPr>
          <a:xfrm>
            <a:off x="658368" y="502920"/>
            <a:ext cx="10872216" cy="868680"/>
          </a:xfrm>
          <a:prstGeom prst="rect">
            <a:avLst/>
          </a:prstGeom>
          <a:noFill/>
          <a:ln/>
        </p:spPr>
        <p:txBody>
          <a:bodyPr wrap="square" lIns="0" tIns="0" rIns="0" bIns="0" rtlCol="0" anchor="ctr"/>
          <a:lstStyle/>
          <a:p>
            <a:pPr indent="0" marL="0">
              <a:buNone/>
            </a:pPr>
            <a:r>
              <a:rPr lang="en-US" sz="3600" b="1" dirty="0">
                <a:solidFill>
                  <a:srgbClr val="FFFFFF"/>
                </a:solidFill>
                <a:latin typeface="Cambria" pitchFamily="34" charset="0"/>
                <a:ea typeface="Cambria" pitchFamily="34" charset="-122"/>
                <a:cs typeface="Cambria" pitchFamily="34" charset="-120"/>
              </a:rPr>
              <a:t>Para empezar solo necesita esto</a:t>
            </a:r>
            <a:endParaRPr lang="en-US" sz="3600" dirty="0"/>
          </a:p>
        </p:txBody>
      </p:sp>
      <p:sp>
        <p:nvSpPr>
          <p:cNvPr id="3" name="Text 1"/>
          <p:cNvSpPr/>
          <p:nvPr/>
        </p:nvSpPr>
        <p:spPr>
          <a:xfrm>
            <a:off x="658368" y="1389888"/>
            <a:ext cx="10872216" cy="438912"/>
          </a:xfrm>
          <a:prstGeom prst="rect">
            <a:avLst/>
          </a:prstGeom>
          <a:noFill/>
          <a:ln/>
        </p:spPr>
        <p:txBody>
          <a:bodyPr wrap="square" lIns="0" tIns="0" rIns="0" bIns="0" rtlCol="0" anchor="t"/>
          <a:lstStyle/>
          <a:p>
            <a:pPr indent="0" marL="0">
              <a:buNone/>
            </a:pPr>
            <a:r>
              <a:rPr lang="en-US" sz="1600" i="1" dirty="0">
                <a:solidFill>
                  <a:srgbClr val="A89588"/>
                </a:solidFill>
                <a:latin typeface="Calibri" pitchFamily="34" charset="0"/>
                <a:ea typeface="Calibri" pitchFamily="34" charset="-122"/>
                <a:cs typeface="Calibri" pitchFamily="34" charset="-120"/>
              </a:rPr>
              <a:t>Sin contratos, sin instalaciones raras, sin esperar.</a:t>
            </a:r>
            <a:endParaRPr lang="en-US" sz="1600" dirty="0"/>
          </a:p>
        </p:txBody>
      </p:sp>
      <p:sp>
        <p:nvSpPr>
          <p:cNvPr id="4" name="Shape 2"/>
          <p:cNvSpPr/>
          <p:nvPr/>
        </p:nvSpPr>
        <p:spPr>
          <a:xfrm>
            <a:off x="658368" y="2331720"/>
            <a:ext cx="3447288" cy="2240280"/>
          </a:xfrm>
          <a:prstGeom prst="roundRect">
            <a:avLst>
              <a:gd name="adj" fmla="val 4082"/>
            </a:avLst>
          </a:prstGeom>
          <a:solidFill>
            <a:srgbClr val="3E2A1D"/>
          </a:solidFill>
          <a:ln w="12700">
            <a:solidFill>
              <a:srgbClr val="5A4032"/>
            </a:solidFill>
            <a:prstDash val="solid"/>
          </a:ln>
          <a:effectLst>
            <a:outerShdw sx="100000" sy="100000" kx="0" ky="0" algn="bl" rotWithShape="0" blurRad="127000" dist="25400" dir="5400000">
              <a:srgbClr val="000000">
                <a:alpha val="8000"/>
              </a:srgbClr>
            </a:outerShdw>
          </a:effectLst>
        </p:spPr>
      </p:sp>
      <p:sp>
        <p:nvSpPr>
          <p:cNvPr id="5" name="Shape 3"/>
          <p:cNvSpPr/>
          <p:nvPr/>
        </p:nvSpPr>
        <p:spPr>
          <a:xfrm>
            <a:off x="987552" y="2633472"/>
            <a:ext cx="475488" cy="475488"/>
          </a:xfrm>
          <a:prstGeom prst="ellipse">
            <a:avLst/>
          </a:prstGeom>
          <a:solidFill>
            <a:srgbClr val="D97706"/>
          </a:solidFill>
          <a:ln w="12700">
            <a:solidFill>
              <a:srgbClr val="333333"/>
            </a:solidFill>
            <a:prstDash val="solid"/>
          </a:ln>
        </p:spPr>
      </p:sp>
      <p:sp>
        <p:nvSpPr>
          <p:cNvPr id="6" name="Text 4"/>
          <p:cNvSpPr/>
          <p:nvPr/>
        </p:nvSpPr>
        <p:spPr>
          <a:xfrm>
            <a:off x="987552" y="2633472"/>
            <a:ext cx="475488" cy="475488"/>
          </a:xfrm>
          <a:prstGeom prst="rect">
            <a:avLst/>
          </a:prstGeom>
          <a:noFill/>
          <a:ln/>
        </p:spPr>
        <p:txBody>
          <a:bodyPr wrap="square" lIns="0" tIns="0" rIns="0" bIns="0" rtlCol="0" anchor="ctr"/>
          <a:lstStyle/>
          <a:p>
            <a:pPr algn="ctr" indent="0" marL="0">
              <a:buNone/>
            </a:pPr>
            <a:r>
              <a:rPr lang="en-US" sz="1900" b="1" dirty="0">
                <a:solidFill>
                  <a:srgbClr val="FFFFFF"/>
                </a:solidFill>
                <a:latin typeface="Calibri" pitchFamily="34" charset="0"/>
                <a:ea typeface="Calibri" pitchFamily="34" charset="-122"/>
                <a:cs typeface="Calibri" pitchFamily="34" charset="-120"/>
              </a:rPr>
              <a:t>1</a:t>
            </a:r>
            <a:endParaRPr lang="en-US" sz="1900" dirty="0"/>
          </a:p>
        </p:txBody>
      </p:sp>
      <p:sp>
        <p:nvSpPr>
          <p:cNvPr id="7" name="Text 5"/>
          <p:cNvSpPr/>
          <p:nvPr/>
        </p:nvSpPr>
        <p:spPr>
          <a:xfrm>
            <a:off x="987552" y="3291840"/>
            <a:ext cx="2834640" cy="502920"/>
          </a:xfrm>
          <a:prstGeom prst="rect">
            <a:avLst/>
          </a:prstGeom>
          <a:noFill/>
          <a:ln/>
        </p:spPr>
        <p:txBody>
          <a:bodyPr wrap="square" lIns="0" tIns="0" rIns="0" bIns="0" rtlCol="0" anchor="ctr"/>
          <a:lstStyle/>
          <a:p>
            <a:pPr indent="0" marL="0">
              <a:buNone/>
            </a:pPr>
            <a:r>
              <a:rPr lang="en-US" sz="2100" b="1" dirty="0">
                <a:solidFill>
                  <a:srgbClr val="F59E0B"/>
                </a:solidFill>
                <a:latin typeface="Cambria" pitchFamily="34" charset="0"/>
                <a:ea typeface="Cambria" pitchFamily="34" charset="-122"/>
                <a:cs typeface="Cambria" pitchFamily="34" charset="-120"/>
              </a:rPr>
              <a:t>Una computadora</a:t>
            </a:r>
            <a:endParaRPr lang="en-US" sz="2100" dirty="0"/>
          </a:p>
        </p:txBody>
      </p:sp>
      <p:sp>
        <p:nvSpPr>
          <p:cNvPr id="8" name="Text 6"/>
          <p:cNvSpPr/>
          <p:nvPr/>
        </p:nvSpPr>
        <p:spPr>
          <a:xfrm>
            <a:off x="987552" y="3822192"/>
            <a:ext cx="2834640" cy="594360"/>
          </a:xfrm>
          <a:prstGeom prst="rect">
            <a:avLst/>
          </a:prstGeom>
          <a:noFill/>
          <a:ln/>
        </p:spPr>
        <p:txBody>
          <a:bodyPr wrap="square" lIns="0" tIns="0" rIns="0" bIns="0" rtlCol="0" anchor="t"/>
          <a:lstStyle/>
          <a:p>
            <a:pPr indent="0" marL="0">
              <a:buNone/>
            </a:pPr>
            <a:r>
              <a:rPr lang="en-US" sz="1500" dirty="0">
                <a:solidFill>
                  <a:srgbClr val="E7DED8"/>
                </a:solidFill>
                <a:latin typeface="Calibri" pitchFamily="34" charset="0"/>
                <a:ea typeface="Calibri" pitchFamily="34" charset="-122"/>
                <a:cs typeface="Calibri" pitchFamily="34" charset="-120"/>
              </a:rPr>
              <a:t>La que ya tiene en la caja.</a:t>
            </a:r>
            <a:endParaRPr lang="en-US" sz="1500" dirty="0"/>
          </a:p>
        </p:txBody>
      </p:sp>
      <p:sp>
        <p:nvSpPr>
          <p:cNvPr id="9" name="Shape 7"/>
          <p:cNvSpPr/>
          <p:nvPr/>
        </p:nvSpPr>
        <p:spPr>
          <a:xfrm>
            <a:off x="4370832" y="2331720"/>
            <a:ext cx="3447288" cy="2240280"/>
          </a:xfrm>
          <a:prstGeom prst="roundRect">
            <a:avLst>
              <a:gd name="adj" fmla="val 4082"/>
            </a:avLst>
          </a:prstGeom>
          <a:solidFill>
            <a:srgbClr val="3E2A1D"/>
          </a:solidFill>
          <a:ln w="12700">
            <a:solidFill>
              <a:srgbClr val="5A4032"/>
            </a:solidFill>
            <a:prstDash val="solid"/>
          </a:ln>
          <a:effectLst>
            <a:outerShdw sx="100000" sy="100000" kx="0" ky="0" algn="bl" rotWithShape="0" blurRad="127000" dist="25400" dir="5400000">
              <a:srgbClr val="000000">
                <a:alpha val="8000"/>
              </a:srgbClr>
            </a:outerShdw>
          </a:effectLst>
        </p:spPr>
      </p:sp>
      <p:sp>
        <p:nvSpPr>
          <p:cNvPr id="10" name="Shape 8"/>
          <p:cNvSpPr/>
          <p:nvPr/>
        </p:nvSpPr>
        <p:spPr>
          <a:xfrm>
            <a:off x="4700016" y="2633472"/>
            <a:ext cx="475488" cy="475488"/>
          </a:xfrm>
          <a:prstGeom prst="ellipse">
            <a:avLst/>
          </a:prstGeom>
          <a:solidFill>
            <a:srgbClr val="D97706"/>
          </a:solidFill>
          <a:ln w="12700">
            <a:solidFill>
              <a:srgbClr val="333333"/>
            </a:solidFill>
            <a:prstDash val="solid"/>
          </a:ln>
        </p:spPr>
      </p:sp>
      <p:sp>
        <p:nvSpPr>
          <p:cNvPr id="11" name="Text 9"/>
          <p:cNvSpPr/>
          <p:nvPr/>
        </p:nvSpPr>
        <p:spPr>
          <a:xfrm>
            <a:off x="4700016" y="2633472"/>
            <a:ext cx="475488" cy="475488"/>
          </a:xfrm>
          <a:prstGeom prst="rect">
            <a:avLst/>
          </a:prstGeom>
          <a:noFill/>
          <a:ln/>
        </p:spPr>
        <p:txBody>
          <a:bodyPr wrap="square" lIns="0" tIns="0" rIns="0" bIns="0" rtlCol="0" anchor="ctr"/>
          <a:lstStyle/>
          <a:p>
            <a:pPr algn="ctr" indent="0" marL="0">
              <a:buNone/>
            </a:pPr>
            <a:r>
              <a:rPr lang="en-US" sz="1900" b="1" dirty="0">
                <a:solidFill>
                  <a:srgbClr val="FFFFFF"/>
                </a:solidFill>
                <a:latin typeface="Calibri" pitchFamily="34" charset="0"/>
                <a:ea typeface="Calibri" pitchFamily="34" charset="-122"/>
                <a:cs typeface="Calibri" pitchFamily="34" charset="-120"/>
              </a:rPr>
              <a:t>2</a:t>
            </a:r>
            <a:endParaRPr lang="en-US" sz="1900" dirty="0"/>
          </a:p>
        </p:txBody>
      </p:sp>
      <p:sp>
        <p:nvSpPr>
          <p:cNvPr id="12" name="Text 10"/>
          <p:cNvSpPr/>
          <p:nvPr/>
        </p:nvSpPr>
        <p:spPr>
          <a:xfrm>
            <a:off x="4700016" y="3291840"/>
            <a:ext cx="2834640" cy="502920"/>
          </a:xfrm>
          <a:prstGeom prst="rect">
            <a:avLst/>
          </a:prstGeom>
          <a:noFill/>
          <a:ln/>
        </p:spPr>
        <p:txBody>
          <a:bodyPr wrap="square" lIns="0" tIns="0" rIns="0" bIns="0" rtlCol="0" anchor="ctr"/>
          <a:lstStyle/>
          <a:p>
            <a:pPr indent="0" marL="0">
              <a:buNone/>
            </a:pPr>
            <a:r>
              <a:rPr lang="en-US" sz="2100" b="1" dirty="0">
                <a:solidFill>
                  <a:srgbClr val="F59E0B"/>
                </a:solidFill>
                <a:latin typeface="Cambria" pitchFamily="34" charset="0"/>
                <a:ea typeface="Cambria" pitchFamily="34" charset="-122"/>
                <a:cs typeface="Cambria" pitchFamily="34" charset="-120"/>
              </a:rPr>
              <a:t>Un navegador</a:t>
            </a:r>
            <a:endParaRPr lang="en-US" sz="2100" dirty="0"/>
          </a:p>
        </p:txBody>
      </p:sp>
      <p:sp>
        <p:nvSpPr>
          <p:cNvPr id="13" name="Text 11"/>
          <p:cNvSpPr/>
          <p:nvPr/>
        </p:nvSpPr>
        <p:spPr>
          <a:xfrm>
            <a:off x="4700016" y="3822192"/>
            <a:ext cx="2834640" cy="594360"/>
          </a:xfrm>
          <a:prstGeom prst="rect">
            <a:avLst/>
          </a:prstGeom>
          <a:noFill/>
          <a:ln/>
        </p:spPr>
        <p:txBody>
          <a:bodyPr wrap="square" lIns="0" tIns="0" rIns="0" bIns="0" rtlCol="0" anchor="t"/>
          <a:lstStyle/>
          <a:p>
            <a:pPr indent="0" marL="0">
              <a:buNone/>
            </a:pPr>
            <a:r>
              <a:rPr lang="en-US" sz="1500" dirty="0">
                <a:solidFill>
                  <a:srgbClr val="E7DED8"/>
                </a:solidFill>
                <a:latin typeface="Calibri" pitchFamily="34" charset="0"/>
                <a:ea typeface="Calibri" pitchFamily="34" charset="-122"/>
                <a:cs typeface="Calibri" pitchFamily="34" charset="-120"/>
              </a:rPr>
              <a:t>El mismo donde revisa el correo.</a:t>
            </a:r>
            <a:endParaRPr lang="en-US" sz="1500" dirty="0"/>
          </a:p>
        </p:txBody>
      </p:sp>
      <p:sp>
        <p:nvSpPr>
          <p:cNvPr id="14" name="Shape 12"/>
          <p:cNvSpPr/>
          <p:nvPr/>
        </p:nvSpPr>
        <p:spPr>
          <a:xfrm>
            <a:off x="8083296" y="2331720"/>
            <a:ext cx="3447288" cy="2240280"/>
          </a:xfrm>
          <a:prstGeom prst="roundRect">
            <a:avLst>
              <a:gd name="adj" fmla="val 4082"/>
            </a:avLst>
          </a:prstGeom>
          <a:solidFill>
            <a:srgbClr val="3E2A1D"/>
          </a:solidFill>
          <a:ln w="12700">
            <a:solidFill>
              <a:srgbClr val="5A4032"/>
            </a:solidFill>
            <a:prstDash val="solid"/>
          </a:ln>
          <a:effectLst>
            <a:outerShdw sx="100000" sy="100000" kx="0" ky="0" algn="bl" rotWithShape="0" blurRad="127000" dist="25400" dir="5400000">
              <a:srgbClr val="000000">
                <a:alpha val="8000"/>
              </a:srgbClr>
            </a:outerShdw>
          </a:effectLst>
        </p:spPr>
      </p:sp>
      <p:sp>
        <p:nvSpPr>
          <p:cNvPr id="15" name="Shape 13"/>
          <p:cNvSpPr/>
          <p:nvPr/>
        </p:nvSpPr>
        <p:spPr>
          <a:xfrm>
            <a:off x="8412480" y="2633472"/>
            <a:ext cx="475488" cy="475488"/>
          </a:xfrm>
          <a:prstGeom prst="ellipse">
            <a:avLst/>
          </a:prstGeom>
          <a:solidFill>
            <a:srgbClr val="D97706"/>
          </a:solidFill>
          <a:ln w="12700">
            <a:solidFill>
              <a:srgbClr val="333333"/>
            </a:solidFill>
            <a:prstDash val="solid"/>
          </a:ln>
        </p:spPr>
      </p:sp>
      <p:sp>
        <p:nvSpPr>
          <p:cNvPr id="16" name="Text 14"/>
          <p:cNvSpPr/>
          <p:nvPr/>
        </p:nvSpPr>
        <p:spPr>
          <a:xfrm>
            <a:off x="8412480" y="2633472"/>
            <a:ext cx="475488" cy="475488"/>
          </a:xfrm>
          <a:prstGeom prst="rect">
            <a:avLst/>
          </a:prstGeom>
          <a:noFill/>
          <a:ln/>
        </p:spPr>
        <p:txBody>
          <a:bodyPr wrap="square" lIns="0" tIns="0" rIns="0" bIns="0" rtlCol="0" anchor="ctr"/>
          <a:lstStyle/>
          <a:p>
            <a:pPr algn="ctr" indent="0" marL="0">
              <a:buNone/>
            </a:pPr>
            <a:r>
              <a:rPr lang="en-US" sz="1900" b="1" dirty="0">
                <a:solidFill>
                  <a:srgbClr val="FFFFFF"/>
                </a:solidFill>
                <a:latin typeface="Calibri" pitchFamily="34" charset="0"/>
                <a:ea typeface="Calibri" pitchFamily="34" charset="-122"/>
                <a:cs typeface="Calibri" pitchFamily="34" charset="-120"/>
              </a:rPr>
              <a:t>3</a:t>
            </a:r>
            <a:endParaRPr lang="en-US" sz="1900" dirty="0"/>
          </a:p>
        </p:txBody>
      </p:sp>
      <p:sp>
        <p:nvSpPr>
          <p:cNvPr id="17" name="Text 15"/>
          <p:cNvSpPr/>
          <p:nvPr/>
        </p:nvSpPr>
        <p:spPr>
          <a:xfrm>
            <a:off x="8412480" y="3291840"/>
            <a:ext cx="2834640" cy="502920"/>
          </a:xfrm>
          <a:prstGeom prst="rect">
            <a:avLst/>
          </a:prstGeom>
          <a:noFill/>
          <a:ln/>
        </p:spPr>
        <p:txBody>
          <a:bodyPr wrap="square" lIns="0" tIns="0" rIns="0" bIns="0" rtlCol="0" anchor="ctr"/>
          <a:lstStyle/>
          <a:p>
            <a:pPr indent="0" marL="0">
              <a:buNone/>
            </a:pPr>
            <a:r>
              <a:rPr lang="en-US" sz="2100" b="1" dirty="0">
                <a:solidFill>
                  <a:srgbClr val="F59E0B"/>
                </a:solidFill>
                <a:latin typeface="Cambria" pitchFamily="34" charset="0"/>
                <a:ea typeface="Cambria" pitchFamily="34" charset="-122"/>
                <a:cs typeface="Cambria" pitchFamily="34" charset="-120"/>
              </a:rPr>
              <a:t>Veinte minutos</a:t>
            </a:r>
            <a:endParaRPr lang="en-US" sz="2100" dirty="0"/>
          </a:p>
        </p:txBody>
      </p:sp>
      <p:sp>
        <p:nvSpPr>
          <p:cNvPr id="18" name="Text 16"/>
          <p:cNvSpPr/>
          <p:nvPr/>
        </p:nvSpPr>
        <p:spPr>
          <a:xfrm>
            <a:off x="8412480" y="3822192"/>
            <a:ext cx="2834640" cy="594360"/>
          </a:xfrm>
          <a:prstGeom prst="rect">
            <a:avLst/>
          </a:prstGeom>
          <a:noFill/>
          <a:ln/>
        </p:spPr>
        <p:txBody>
          <a:bodyPr wrap="square" lIns="0" tIns="0" rIns="0" bIns="0" rtlCol="0" anchor="t"/>
          <a:lstStyle/>
          <a:p>
            <a:pPr indent="0" marL="0">
              <a:buNone/>
            </a:pPr>
            <a:r>
              <a:rPr lang="en-US" sz="1500" dirty="0">
                <a:solidFill>
                  <a:srgbClr val="E7DED8"/>
                </a:solidFill>
                <a:latin typeface="Calibri" pitchFamily="34" charset="0"/>
                <a:ea typeface="Calibri" pitchFamily="34" charset="-122"/>
                <a:cs typeface="Calibri" pitchFamily="34" charset="-120"/>
              </a:rPr>
              <a:t>Para cargar su menú la primera vez.</a:t>
            </a:r>
            <a:endParaRPr lang="en-US" sz="1500" dirty="0"/>
          </a:p>
        </p:txBody>
      </p:sp>
      <p:sp>
        <p:nvSpPr>
          <p:cNvPr id="19" name="Text 17"/>
          <p:cNvSpPr/>
          <p:nvPr/>
        </p:nvSpPr>
        <p:spPr>
          <a:xfrm>
            <a:off x="658368" y="4983480"/>
            <a:ext cx="10872216" cy="685800"/>
          </a:xfrm>
          <a:prstGeom prst="rect">
            <a:avLst/>
          </a:prstGeom>
          <a:noFill/>
          <a:ln/>
        </p:spPr>
        <p:txBody>
          <a:bodyPr wrap="square" lIns="0" tIns="0" rIns="0" bIns="0" rtlCol="0" anchor="t"/>
          <a:lstStyle/>
          <a:p>
            <a:pPr indent="0" marL="0">
              <a:buNone/>
            </a:pPr>
            <a:r>
              <a:rPr lang="en-US" sz="1800" b="1" dirty="0">
                <a:solidFill>
                  <a:srgbClr val="FFFFFF"/>
                </a:solidFill>
                <a:latin typeface="Calibri" pitchFamily="34" charset="0"/>
                <a:ea typeface="Calibri" pitchFamily="34" charset="-122"/>
                <a:cs typeface="Calibri" pitchFamily="34" charset="-120"/>
              </a:rPr>
              <a:t>Después de eso, el primer pedido lo toma usted mismo. Conmigo al lado.</a:t>
            </a:r>
            <a:endParaRPr lang="en-US" sz="1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2B1B12"/>
        </a:solidFill>
      </p:bgPr>
    </p:bg>
    <p:spTree>
      <p:nvGrpSpPr>
        <p:cNvPr id="1" name=""/>
        <p:cNvGrpSpPr/>
        <p:nvPr/>
      </p:nvGrpSpPr>
      <p:grpSpPr>
        <a:xfrm>
          <a:off x="0" y="0"/>
          <a:ext cx="0" cy="0"/>
          <a:chOff x="0" y="0"/>
          <a:chExt cx="0" cy="0"/>
        </a:xfrm>
      </p:grpSpPr>
      <p:sp>
        <p:nvSpPr>
          <p:cNvPr id="2" name="Shape 0"/>
          <p:cNvSpPr/>
          <p:nvPr/>
        </p:nvSpPr>
        <p:spPr>
          <a:xfrm>
            <a:off x="-1645920" y="4206240"/>
            <a:ext cx="4754880" cy="4754880"/>
          </a:xfrm>
          <a:prstGeom prst="ellipse">
            <a:avLst/>
          </a:prstGeom>
          <a:solidFill>
            <a:srgbClr val="D97706">
              <a:alpha val="11000"/>
            </a:srgbClr>
          </a:solidFill>
          <a:ln w="12700">
            <a:solidFill>
              <a:srgbClr val="333333"/>
            </a:solidFill>
            <a:prstDash val="solid"/>
          </a:ln>
        </p:spPr>
      </p:sp>
      <p:sp>
        <p:nvSpPr>
          <p:cNvPr id="3" name="Text 1"/>
          <p:cNvSpPr/>
          <p:nvPr/>
        </p:nvSpPr>
        <p:spPr>
          <a:xfrm>
            <a:off x="1097280" y="1874520"/>
            <a:ext cx="10058400" cy="960120"/>
          </a:xfrm>
          <a:prstGeom prst="rect">
            <a:avLst/>
          </a:prstGeom>
          <a:noFill/>
          <a:ln/>
        </p:spPr>
        <p:txBody>
          <a:bodyPr wrap="square" lIns="0" tIns="0" rIns="0" bIns="0" rtlCol="0" anchor="ctr"/>
          <a:lstStyle/>
          <a:p>
            <a:pPr indent="0" marL="0">
              <a:buNone/>
            </a:pPr>
            <a:r>
              <a:rPr lang="en-US" sz="5200" b="1" dirty="0">
                <a:solidFill>
                  <a:srgbClr val="FFFFFF"/>
                </a:solidFill>
                <a:latin typeface="Cambria" pitchFamily="34" charset="0"/>
                <a:ea typeface="Cambria" pitchFamily="34" charset="-122"/>
                <a:cs typeface="Cambria" pitchFamily="34" charset="-120"/>
              </a:rPr>
              <a:t>La libreta</a:t>
            </a:r>
            <a:endParaRPr lang="en-US" sz="5200" dirty="0"/>
          </a:p>
        </p:txBody>
      </p:sp>
      <p:sp>
        <p:nvSpPr>
          <p:cNvPr id="4" name="Text 2"/>
          <p:cNvSpPr/>
          <p:nvPr/>
        </p:nvSpPr>
        <p:spPr>
          <a:xfrm>
            <a:off x="1097280" y="2788920"/>
            <a:ext cx="10058400" cy="960120"/>
          </a:xfrm>
          <a:prstGeom prst="rect">
            <a:avLst/>
          </a:prstGeom>
          <a:noFill/>
          <a:ln/>
        </p:spPr>
        <p:txBody>
          <a:bodyPr wrap="square" lIns="0" tIns="0" rIns="0" bIns="0" rtlCol="0" anchor="ctr"/>
          <a:lstStyle/>
          <a:p>
            <a:pPr indent="0" marL="0">
              <a:buNone/>
            </a:pPr>
            <a:r>
              <a:rPr lang="en-US" sz="5200" b="1" dirty="0">
                <a:solidFill>
                  <a:srgbClr val="F59E0B"/>
                </a:solidFill>
                <a:latin typeface="Cambria" pitchFamily="34" charset="0"/>
                <a:ea typeface="Cambria" pitchFamily="34" charset="-122"/>
                <a:cs typeface="Cambria" pitchFamily="34" charset="-120"/>
              </a:rPr>
              <a:t>ya no hace falta.</a:t>
            </a:r>
            <a:endParaRPr lang="en-US" sz="5200" dirty="0"/>
          </a:p>
        </p:txBody>
      </p:sp>
      <p:sp>
        <p:nvSpPr>
          <p:cNvPr id="5" name="Text 3"/>
          <p:cNvSpPr/>
          <p:nvPr/>
        </p:nvSpPr>
        <p:spPr>
          <a:xfrm>
            <a:off x="1097280" y="3977640"/>
            <a:ext cx="7863840" cy="777240"/>
          </a:xfrm>
          <a:prstGeom prst="rect">
            <a:avLst/>
          </a:prstGeom>
          <a:noFill/>
          <a:ln/>
        </p:spPr>
        <p:txBody>
          <a:bodyPr wrap="square" lIns="0" tIns="0" rIns="0" bIns="0" rtlCol="0" anchor="t"/>
          <a:lstStyle/>
          <a:p>
            <a:pPr indent="0" marL="0">
              <a:buNone/>
            </a:pPr>
            <a:r>
              <a:rPr lang="en-US" sz="1700" dirty="0">
                <a:solidFill>
                  <a:srgbClr val="E7DED8"/>
                </a:solidFill>
                <a:latin typeface="Calibri" pitchFamily="34" charset="0"/>
                <a:ea typeface="Calibri" pitchFamily="34" charset="-122"/>
                <a:cs typeface="Calibri" pitchFamily="34" charset="-120"/>
              </a:rPr>
              <a:t>Cuentas exactas, nada perdido, y por primera vez un historial de lo que vende.</a:t>
            </a:r>
            <a:endParaRPr lang="en-US" sz="1700" dirty="0"/>
          </a:p>
        </p:txBody>
      </p:sp>
      <p:sp>
        <p:nvSpPr>
          <p:cNvPr id="6" name="Text 4"/>
          <p:cNvSpPr/>
          <p:nvPr/>
        </p:nvSpPr>
        <p:spPr>
          <a:xfrm>
            <a:off x="1097280" y="4892040"/>
            <a:ext cx="7863840" cy="548640"/>
          </a:xfrm>
          <a:prstGeom prst="rect">
            <a:avLst/>
          </a:prstGeom>
          <a:noFill/>
          <a:ln/>
        </p:spPr>
        <p:txBody>
          <a:bodyPr wrap="square" lIns="0" tIns="0" rIns="0" bIns="0" rtlCol="0" anchor="ctr"/>
          <a:lstStyle/>
          <a:p>
            <a:pPr indent="0" marL="0">
              <a:buNone/>
            </a:pPr>
            <a:r>
              <a:rPr lang="en-US" sz="2100" b="1" dirty="0">
                <a:solidFill>
                  <a:srgbClr val="F59E0B"/>
                </a:solidFill>
                <a:latin typeface="Calibri" pitchFamily="34" charset="0"/>
                <a:ea typeface="Calibri" pitchFamily="34" charset="-122"/>
                <a:cs typeface="Calibri" pitchFamily="34" charset="-120"/>
              </a:rPr>
              <a:t>¿Le cargamos el menú esta semana?</a:t>
            </a:r>
            <a:endParaRPr lang="en-US" sz="2100" dirty="0"/>
          </a:p>
        </p:txBody>
      </p:sp>
      <p:sp>
        <p:nvSpPr>
          <p:cNvPr id="7" name="Text 5"/>
          <p:cNvSpPr/>
          <p:nvPr/>
        </p:nvSpPr>
        <p:spPr>
          <a:xfrm>
            <a:off x="1097280" y="5852160"/>
            <a:ext cx="10058400" cy="320040"/>
          </a:xfrm>
          <a:prstGeom prst="rect">
            <a:avLst/>
          </a:prstGeom>
          <a:noFill/>
          <a:ln/>
        </p:spPr>
        <p:txBody>
          <a:bodyPr wrap="square" lIns="0" tIns="0" rIns="0" bIns="0" rtlCol="0" anchor="ctr"/>
          <a:lstStyle/>
          <a:p>
            <a:pPr indent="0" marL="0">
              <a:buNone/>
            </a:pPr>
            <a:r>
              <a:rPr lang="en-US" sz="1250" dirty="0">
                <a:solidFill>
                  <a:srgbClr val="A89588"/>
                </a:solidFill>
                <a:latin typeface="Calibri" pitchFamily="34" charset="0"/>
                <a:ea typeface="Calibri" pitchFamily="34" charset="-122"/>
                <a:cs typeface="Calibri" pitchFamily="34" charset="-120"/>
              </a:rPr>
              <a:t>Anderson Tejeda</a:t>
            </a:r>
            <a:endParaRPr lang="en-US" sz="12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Gestor de Ordenes para Cafeteria - Presentacion comercial</dc:title>
  <dc:subject>PptxGenJS Presentation</dc:subject>
  <dc:creator>Anderson Tejeda</dc:creator>
  <cp:lastModifiedBy>Anderson Tejeda</cp:lastModifiedBy>
  <cp:revision>1</cp:revision>
  <dcterms:created xsi:type="dcterms:W3CDTF">2026-08-20T21:51:02Z</dcterms:created>
  <dcterms:modified xsi:type="dcterms:W3CDTF">2026-08-20T21:51:02Z</dcterms:modified>
</cp:coreProperties>
</file>